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87" r:id="rId2"/>
    <p:sldId id="288" r:id="rId3"/>
    <p:sldId id="258" r:id="rId4"/>
    <p:sldId id="259" r:id="rId5"/>
    <p:sldId id="261" r:id="rId6"/>
    <p:sldId id="289" r:id="rId7"/>
    <p:sldId id="293" r:id="rId8"/>
    <p:sldId id="294" r:id="rId9"/>
    <p:sldId id="272" r:id="rId10"/>
    <p:sldId id="273" r:id="rId11"/>
    <p:sldId id="275" r:id="rId12"/>
    <p:sldId id="295" r:id="rId13"/>
    <p:sldId id="296" r:id="rId14"/>
    <p:sldId id="279" r:id="rId15"/>
    <p:sldId id="280" r:id="rId16"/>
    <p:sldId id="281" r:id="rId17"/>
    <p:sldId id="303" r:id="rId18"/>
    <p:sldId id="267" r:id="rId19"/>
    <p:sldId id="297" r:id="rId20"/>
    <p:sldId id="298" r:id="rId21"/>
    <p:sldId id="268" r:id="rId22"/>
    <p:sldId id="291" r:id="rId23"/>
    <p:sldId id="282" r:id="rId24"/>
    <p:sldId id="292" r:id="rId25"/>
    <p:sldId id="305" r:id="rId26"/>
    <p:sldId id="304" r:id="rId27"/>
    <p:sldId id="284" r:id="rId28"/>
    <p:sldId id="285" r:id="rId29"/>
    <p:sldId id="300" r:id="rId30"/>
    <p:sldId id="302" r:id="rId31"/>
    <p:sldId id="301" r:id="rId32"/>
    <p:sldId id="286" r:id="rId3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235" autoAdjust="0"/>
  </p:normalViewPr>
  <p:slideViewPr>
    <p:cSldViewPr>
      <p:cViewPr varScale="1">
        <p:scale>
          <a:sx n="67" d="100"/>
          <a:sy n="67" d="100"/>
        </p:scale>
        <p:origin x="1267"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5FE905D-FF19-4C01-97EA-A5A812D2F318}" type="datetimeFigureOut">
              <a:rPr lang="en-IN" smtClean="0"/>
              <a:t>29-06-2026</a:t>
            </a:fld>
            <a:endParaRPr lang="en-IN" dirty="0"/>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DD2CC712-A334-41CA-B1A1-AB2736CD02DF}" type="slidenum">
              <a:rPr lang="en-IN" smtClean="0"/>
              <a:t>‹#›</a:t>
            </a:fld>
            <a:endParaRPr lang="en-IN" dirty="0"/>
          </a:p>
        </p:txBody>
      </p:sp>
    </p:spTree>
    <p:extLst>
      <p:ext uri="{BB962C8B-B14F-4D97-AF65-F5344CB8AC3E}">
        <p14:creationId xmlns:p14="http://schemas.microsoft.com/office/powerpoint/2010/main" val="983196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2CC712-A334-41CA-B1A1-AB2736CD02DF}" type="slidenum">
              <a:rPr lang="en-IN" smtClean="0"/>
              <a:t>23</a:t>
            </a:fld>
            <a:endParaRPr lang="en-IN" dirty="0"/>
          </a:p>
        </p:txBody>
      </p:sp>
    </p:spTree>
    <p:extLst>
      <p:ext uri="{BB962C8B-B14F-4D97-AF65-F5344CB8AC3E}">
        <p14:creationId xmlns:p14="http://schemas.microsoft.com/office/powerpoint/2010/main" val="91135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1" i="0">
                <a:solidFill>
                  <a:schemeClr val="bg1"/>
                </a:solidFill>
                <a:latin typeface="Constantia"/>
                <a:cs typeface="Constant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6/29/2026</a:t>
            </a:fld>
            <a:endParaRPr lang="en-US"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bg1"/>
                </a:solidFill>
                <a:latin typeface="Constantia"/>
                <a:cs typeface="Constantia"/>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6/29/2026</a:t>
            </a:fld>
            <a:endParaRPr lang="en-US"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dirty="0"/>
          </a:p>
        </p:txBody>
      </p:sp>
      <p:sp>
        <p:nvSpPr>
          <p:cNvPr id="2" name="Holder 2"/>
          <p:cNvSpPr>
            <a:spLocks noGrp="1"/>
          </p:cNvSpPr>
          <p:nvPr>
            <p:ph type="title"/>
          </p:nvPr>
        </p:nvSpPr>
        <p:spPr/>
        <p:txBody>
          <a:bodyPr lIns="0" tIns="0" rIns="0" bIns="0"/>
          <a:lstStyle>
            <a:lvl1pPr>
              <a:defRPr sz="2800" b="1" i="0">
                <a:solidFill>
                  <a:schemeClr val="bg1"/>
                </a:solidFill>
                <a:latin typeface="Constantia"/>
                <a:cs typeface="Constantia"/>
              </a:defRPr>
            </a:lvl1pPr>
          </a:lstStyle>
          <a:p>
            <a:endParaRPr/>
          </a:p>
        </p:txBody>
      </p:sp>
      <p:sp>
        <p:nvSpPr>
          <p:cNvPr id="3" name="Holder 3"/>
          <p:cNvSpPr>
            <a:spLocks noGrp="1"/>
          </p:cNvSpPr>
          <p:nvPr>
            <p:ph sz="half" idx="2"/>
          </p:nvPr>
        </p:nvSpPr>
        <p:spPr>
          <a:xfrm>
            <a:off x="612140" y="1261109"/>
            <a:ext cx="4596130" cy="398907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6/29/2026</a:t>
            </a:fld>
            <a:endParaRPr lang="en-US" dirty="0"/>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3252"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dirty="0"/>
          </a:p>
        </p:txBody>
      </p:sp>
      <p:sp>
        <p:nvSpPr>
          <p:cNvPr id="17" name="bg object 17"/>
          <p:cNvSpPr/>
          <p:nvPr/>
        </p:nvSpPr>
        <p:spPr>
          <a:xfrm>
            <a:off x="13252" y="38"/>
            <a:ext cx="7381875" cy="596900"/>
          </a:xfrm>
          <a:custGeom>
            <a:avLst/>
            <a:gdLst/>
            <a:ahLst/>
            <a:cxnLst/>
            <a:rect l="l" t="t" r="r" b="b"/>
            <a:pathLst>
              <a:path w="7381875" h="596900">
                <a:moveTo>
                  <a:pt x="0" y="596353"/>
                </a:moveTo>
                <a:lnTo>
                  <a:pt x="7381494" y="596353"/>
                </a:lnTo>
                <a:lnTo>
                  <a:pt x="7381494" y="0"/>
                </a:lnTo>
                <a:lnTo>
                  <a:pt x="0" y="0"/>
                </a:lnTo>
                <a:lnTo>
                  <a:pt x="0" y="596353"/>
                </a:lnTo>
                <a:close/>
              </a:path>
            </a:pathLst>
          </a:custGeom>
          <a:ln w="12700">
            <a:solidFill>
              <a:srgbClr val="FF0000"/>
            </a:solidFill>
          </a:ln>
        </p:spPr>
        <p:txBody>
          <a:bodyPr wrap="square" lIns="0" tIns="0" rIns="0" bIns="0" rtlCol="0"/>
          <a:lstStyle/>
          <a:p>
            <a:endParaRPr dirty="0"/>
          </a:p>
        </p:txBody>
      </p:sp>
      <p:sp>
        <p:nvSpPr>
          <p:cNvPr id="2" name="Holder 2"/>
          <p:cNvSpPr>
            <a:spLocks noGrp="1"/>
          </p:cNvSpPr>
          <p:nvPr>
            <p:ph type="title"/>
          </p:nvPr>
        </p:nvSpPr>
        <p:spPr/>
        <p:txBody>
          <a:bodyPr lIns="0" tIns="0" rIns="0" bIns="0"/>
          <a:lstStyle>
            <a:lvl1pPr>
              <a:defRPr sz="2800" b="1" i="0">
                <a:solidFill>
                  <a:schemeClr val="bg1"/>
                </a:solidFill>
                <a:latin typeface="Constantia"/>
                <a:cs typeface="Constantia"/>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6/29/2026</a:t>
            </a:fld>
            <a:endParaRPr lang="en-US" dirty="0"/>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6/29/2026</a:t>
            </a:fld>
            <a:endParaRPr lang="en-US" dirty="0"/>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08C0EF3-EA92-4FAB-9BAC-61E272665C63}" type="datetime1">
              <a:rPr lang="en-US" smtClean="0"/>
              <a:pPr/>
              <a:t>6/29/2026</a:t>
            </a:fld>
            <a:endParaRPr lang="en-US" dirty="0"/>
          </a:p>
        </p:txBody>
      </p:sp>
      <p:sp>
        <p:nvSpPr>
          <p:cNvPr id="5" name="Footer Placeholder 4"/>
          <p:cNvSpPr>
            <a:spLocks noGrp="1"/>
          </p:cNvSpPr>
          <p:nvPr>
            <p:ph type="ftr" sz="quarter" idx="11"/>
          </p:nvPr>
        </p:nvSpPr>
        <p:spPr/>
        <p:txBody>
          <a:bodyPr/>
          <a:lstStyle/>
          <a:p>
            <a:r>
              <a:rPr lang="en-US" dirty="0"/>
              <a:t>Department of Artificial Intelligence and Data Science</a:t>
            </a:r>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dirty="0"/>
          </a:p>
        </p:txBody>
      </p:sp>
    </p:spTree>
    <p:extLst>
      <p:ext uri="{BB962C8B-B14F-4D97-AF65-F5344CB8AC3E}">
        <p14:creationId xmlns:p14="http://schemas.microsoft.com/office/powerpoint/2010/main" val="8155130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683766" y="49529"/>
            <a:ext cx="4037965" cy="452120"/>
          </a:xfrm>
          <a:prstGeom prst="rect">
            <a:avLst/>
          </a:prstGeom>
        </p:spPr>
        <p:txBody>
          <a:bodyPr wrap="square" lIns="0" tIns="0" rIns="0" bIns="0">
            <a:spAutoFit/>
          </a:bodyPr>
          <a:lstStyle>
            <a:lvl1pPr>
              <a:defRPr sz="2800" b="1" i="0">
                <a:solidFill>
                  <a:schemeClr val="bg1"/>
                </a:solidFill>
                <a:latin typeface="Constantia"/>
                <a:cs typeface="Constantia"/>
              </a:defRPr>
            </a:lvl1pPr>
          </a:lstStyle>
          <a:p>
            <a:endParaRPr/>
          </a:p>
        </p:txBody>
      </p:sp>
      <p:sp>
        <p:nvSpPr>
          <p:cNvPr id="3" name="Holder 3"/>
          <p:cNvSpPr>
            <a:spLocks noGrp="1"/>
          </p:cNvSpPr>
          <p:nvPr>
            <p:ph type="body" idx="1"/>
          </p:nvPr>
        </p:nvSpPr>
        <p:spPr>
          <a:xfrm>
            <a:off x="459740" y="1593341"/>
            <a:ext cx="11272519" cy="327660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431029" y="6464680"/>
            <a:ext cx="3822065"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6/29/2026</a:t>
            </a:fld>
            <a:endParaRPr lang="en-US" dirty="0"/>
          </a:p>
        </p:txBody>
      </p:sp>
      <p:sp>
        <p:nvSpPr>
          <p:cNvPr id="6" name="Holder 6"/>
          <p:cNvSpPr>
            <a:spLocks noGrp="1"/>
          </p:cNvSpPr>
          <p:nvPr>
            <p:ph type="sldNum" sz="quarter" idx="7"/>
          </p:nvPr>
        </p:nvSpPr>
        <p:spPr>
          <a:xfrm>
            <a:off x="11068811" y="6464680"/>
            <a:ext cx="244475"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15570">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0174" y="602248"/>
            <a:ext cx="10363907" cy="596348"/>
          </a:xfrm>
        </p:spPr>
        <p:txBody>
          <a:bodyPr>
            <a:normAutofit/>
          </a:bodyPr>
          <a:lstStyle/>
          <a:p>
            <a:r>
              <a:rPr lang="en-US" sz="2800" b="1" dirty="0">
                <a:latin typeface="Cambria" panose="02040503050406030204" pitchFamily="18" charset="0"/>
                <a:ea typeface="Cambria" panose="02040503050406030204" pitchFamily="18" charset="0"/>
              </a:rPr>
              <a:t>Project Stage – II  (417527</a:t>
            </a:r>
            <a:r>
              <a:rPr lang="en-US" sz="2800" b="1" kern="50" dirty="0">
                <a:effectLst/>
                <a:latin typeface="Cambria" panose="02040503050406030204" pitchFamily="18" charset="0"/>
                <a:ea typeface="Cambria" panose="02040503050406030204" pitchFamily="18" charset="0"/>
              </a:rPr>
              <a:t>)</a:t>
            </a:r>
            <a:endParaRPr lang="en-US" sz="2800" b="1" dirty="0">
              <a:latin typeface="Cambria" panose="02040503050406030204" pitchFamily="18" charset="0"/>
              <a:ea typeface="Cambria" panose="02040503050406030204" pitchFamily="18" charset="0"/>
            </a:endParaRPr>
          </a:p>
        </p:txBody>
      </p:sp>
      <p:sp>
        <p:nvSpPr>
          <p:cNvPr id="4" name="Rectangle 3">
            <a:extLst>
              <a:ext uri="{FF2B5EF4-FFF2-40B4-BE49-F238E27FC236}">
                <a16:creationId xmlns:a16="http://schemas.microsoft.com/office/drawing/2014/main" id="{951E325C-ACB6-4FD9-9704-F03537BCE14D}"/>
              </a:ext>
            </a:extLst>
          </p:cNvPr>
          <p:cNvSpPr/>
          <p:nvPr/>
        </p:nvSpPr>
        <p:spPr>
          <a:xfrm>
            <a:off x="0" y="0"/>
            <a:ext cx="7381461" cy="59634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Constantia" panose="02030602050306030303" pitchFamily="18" charset="0"/>
                <a:ea typeface="Cambria" panose="02040503050406030204" pitchFamily="18" charset="0"/>
              </a:rPr>
              <a:t>Bhujbal Knowledge City</a:t>
            </a:r>
            <a:endParaRPr lang="en-IN" sz="2800" b="1" dirty="0">
              <a:latin typeface="Constantia" panose="02030602050306030303" pitchFamily="18" charset="0"/>
              <a:ea typeface="Cambria" panose="02040503050406030204" pitchFamily="18" charset="0"/>
            </a:endParaRPr>
          </a:p>
        </p:txBody>
      </p:sp>
      <p:sp>
        <p:nvSpPr>
          <p:cNvPr id="5" name="Right Triangle 4">
            <a:extLst>
              <a:ext uri="{FF2B5EF4-FFF2-40B4-BE49-F238E27FC236}">
                <a16:creationId xmlns:a16="http://schemas.microsoft.com/office/drawing/2014/main" id="{89404FE0-0C97-4973-AC6A-134FA789619A}"/>
              </a:ext>
            </a:extLst>
          </p:cNvPr>
          <p:cNvSpPr/>
          <p:nvPr/>
        </p:nvSpPr>
        <p:spPr>
          <a:xfrm>
            <a:off x="7381461" y="0"/>
            <a:ext cx="980661" cy="596348"/>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a:extLst>
              <a:ext uri="{FF2B5EF4-FFF2-40B4-BE49-F238E27FC236}">
                <a16:creationId xmlns:a16="http://schemas.microsoft.com/office/drawing/2014/main" id="{5F5391B2-5D66-4E06-934B-20A107BF67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69" y="60103"/>
            <a:ext cx="966705" cy="476142"/>
          </a:xfrm>
          <a:prstGeom prst="rect">
            <a:avLst/>
          </a:prstGeom>
        </p:spPr>
      </p:pic>
      <p:sp>
        <p:nvSpPr>
          <p:cNvPr id="10" name="Right Triangle 9">
            <a:extLst>
              <a:ext uri="{FF2B5EF4-FFF2-40B4-BE49-F238E27FC236}">
                <a16:creationId xmlns:a16="http://schemas.microsoft.com/office/drawing/2014/main" id="{DAA8CFFB-AD4D-485C-9CCD-D52AF896BEF2}"/>
              </a:ext>
            </a:extLst>
          </p:cNvPr>
          <p:cNvSpPr/>
          <p:nvPr/>
        </p:nvSpPr>
        <p:spPr>
          <a:xfrm rot="10800000">
            <a:off x="7507357" y="-6624"/>
            <a:ext cx="980661" cy="596348"/>
          </a:xfrm>
          <a:prstGeom prst="r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FE4FE161-B494-4DF2-8CF5-734C79EDFC5C}"/>
              </a:ext>
            </a:extLst>
          </p:cNvPr>
          <p:cNvSpPr/>
          <p:nvPr/>
        </p:nvSpPr>
        <p:spPr>
          <a:xfrm>
            <a:off x="8488018" y="-6624"/>
            <a:ext cx="3690730" cy="596348"/>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mbria" panose="02040503050406030204" pitchFamily="18" charset="0"/>
                <a:ea typeface="Cambria" panose="02040503050406030204" pitchFamily="18" charset="0"/>
              </a:rPr>
              <a:t>Institute of Engineering</a:t>
            </a:r>
            <a:endParaRPr lang="en-IN" sz="2000" b="1" dirty="0">
              <a:solidFill>
                <a:schemeClr val="tx1"/>
              </a:solidFill>
              <a:latin typeface="Cambria" panose="02040503050406030204" pitchFamily="18" charset="0"/>
              <a:ea typeface="Cambria" panose="02040503050406030204" pitchFamily="18" charset="0"/>
            </a:endParaRPr>
          </a:p>
        </p:txBody>
      </p:sp>
      <p:pic>
        <p:nvPicPr>
          <p:cNvPr id="13" name="Picture 12">
            <a:extLst>
              <a:ext uri="{FF2B5EF4-FFF2-40B4-BE49-F238E27FC236}">
                <a16:creationId xmlns:a16="http://schemas.microsoft.com/office/drawing/2014/main" id="{62B11A7F-E271-4C08-80D3-C4CF369B12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2631" y="641259"/>
            <a:ext cx="1457035" cy="1092776"/>
          </a:xfrm>
          <a:prstGeom prst="rect">
            <a:avLst/>
          </a:prstGeom>
        </p:spPr>
      </p:pic>
      <p:sp>
        <p:nvSpPr>
          <p:cNvPr id="14" name="Title 1">
            <a:extLst>
              <a:ext uri="{FF2B5EF4-FFF2-40B4-BE49-F238E27FC236}">
                <a16:creationId xmlns:a16="http://schemas.microsoft.com/office/drawing/2014/main" id="{70BD8A59-C0C2-4D95-881A-C2404A3069C1}"/>
              </a:ext>
            </a:extLst>
          </p:cNvPr>
          <p:cNvSpPr txBox="1">
            <a:spLocks/>
          </p:cNvSpPr>
          <p:nvPr/>
        </p:nvSpPr>
        <p:spPr>
          <a:xfrm>
            <a:off x="2534816" y="1489569"/>
            <a:ext cx="6904382" cy="49163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latin typeface="Cambria" panose="02040503050406030204" pitchFamily="18" charset="0"/>
                <a:ea typeface="Cambria" panose="02040503050406030204" pitchFamily="18" charset="0"/>
              </a:rPr>
              <a:t>Project Presentation For Evaluation –I </a:t>
            </a:r>
          </a:p>
        </p:txBody>
      </p:sp>
      <p:sp>
        <p:nvSpPr>
          <p:cNvPr id="15" name="Title 1">
            <a:extLst>
              <a:ext uri="{FF2B5EF4-FFF2-40B4-BE49-F238E27FC236}">
                <a16:creationId xmlns:a16="http://schemas.microsoft.com/office/drawing/2014/main" id="{6774675D-7E97-4BF2-A7D4-A1F069DA3936}"/>
              </a:ext>
            </a:extLst>
          </p:cNvPr>
          <p:cNvSpPr txBox="1">
            <a:spLocks/>
          </p:cNvSpPr>
          <p:nvPr/>
        </p:nvSpPr>
        <p:spPr>
          <a:xfrm>
            <a:off x="1166778" y="2357430"/>
            <a:ext cx="9721080" cy="136298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spcBef>
                <a:spcPts val="2090"/>
              </a:spcBef>
            </a:pPr>
            <a:endParaRPr lang="en-US" sz="2800" dirty="0">
              <a:latin typeface="Cambria"/>
              <a:cs typeface="Cambria"/>
            </a:endParaRPr>
          </a:p>
          <a:p>
            <a:pPr marL="842010" marR="408305" indent="-205740">
              <a:lnSpc>
                <a:spcPct val="70000"/>
              </a:lnSpc>
            </a:pPr>
            <a:r>
              <a:rPr lang="en-US" sz="3600" dirty="0">
                <a:latin typeface="Times New Roman"/>
                <a:cs typeface="Times New Roman"/>
              </a:rPr>
              <a:t>Smart</a:t>
            </a:r>
            <a:r>
              <a:rPr lang="en-US" sz="3600" spc="-20" dirty="0">
                <a:latin typeface="Times New Roman"/>
                <a:cs typeface="Times New Roman"/>
              </a:rPr>
              <a:t> </a:t>
            </a:r>
            <a:r>
              <a:rPr lang="en-US" sz="3600" dirty="0">
                <a:latin typeface="Times New Roman"/>
                <a:cs typeface="Times New Roman"/>
              </a:rPr>
              <a:t>Street</a:t>
            </a:r>
            <a:r>
              <a:rPr lang="en-US" sz="3600" spc="-35" dirty="0">
                <a:latin typeface="Times New Roman"/>
                <a:cs typeface="Times New Roman"/>
              </a:rPr>
              <a:t> </a:t>
            </a:r>
            <a:r>
              <a:rPr lang="en-US" sz="3600" dirty="0">
                <a:latin typeface="Times New Roman"/>
                <a:cs typeface="Times New Roman"/>
              </a:rPr>
              <a:t>Light</a:t>
            </a:r>
            <a:r>
              <a:rPr lang="en-US" sz="3600" spc="-25" dirty="0">
                <a:latin typeface="Times New Roman"/>
                <a:cs typeface="Times New Roman"/>
              </a:rPr>
              <a:t> </a:t>
            </a:r>
            <a:r>
              <a:rPr lang="en-US" sz="3600" spc="-10" dirty="0">
                <a:latin typeface="Times New Roman"/>
                <a:cs typeface="Times New Roman"/>
              </a:rPr>
              <a:t>Monitoring </a:t>
            </a:r>
            <a:r>
              <a:rPr lang="en-US" sz="3600" dirty="0">
                <a:latin typeface="Times New Roman"/>
                <a:cs typeface="Times New Roman"/>
              </a:rPr>
              <a:t>and</a:t>
            </a:r>
            <a:r>
              <a:rPr lang="en-US" sz="3600" spc="-35" dirty="0">
                <a:latin typeface="Times New Roman"/>
                <a:cs typeface="Times New Roman"/>
              </a:rPr>
              <a:t> </a:t>
            </a:r>
            <a:r>
              <a:rPr lang="en-US" sz="3600" dirty="0">
                <a:latin typeface="Times New Roman"/>
                <a:cs typeface="Times New Roman"/>
              </a:rPr>
              <a:t>Fault</a:t>
            </a:r>
            <a:r>
              <a:rPr lang="en-US" sz="3600" spc="-25" dirty="0">
                <a:latin typeface="Times New Roman"/>
                <a:cs typeface="Times New Roman"/>
              </a:rPr>
              <a:t> </a:t>
            </a:r>
            <a:r>
              <a:rPr lang="en-US" sz="3600" dirty="0">
                <a:latin typeface="Times New Roman"/>
                <a:cs typeface="Times New Roman"/>
              </a:rPr>
              <a:t>Detection</a:t>
            </a:r>
            <a:r>
              <a:rPr lang="en-US" sz="3600" spc="-10" dirty="0">
                <a:latin typeface="Times New Roman"/>
                <a:cs typeface="Times New Roman"/>
              </a:rPr>
              <a:t> System</a:t>
            </a:r>
            <a:endParaRPr lang="en-US" sz="3600" dirty="0">
              <a:latin typeface="Times New Roman"/>
              <a:cs typeface="Times New Roman"/>
            </a:endParaRPr>
          </a:p>
          <a:p>
            <a:endParaRPr lang="en-US" sz="3600" b="1" dirty="0">
              <a:solidFill>
                <a:srgbClr val="FF0000"/>
              </a:solidFill>
              <a:latin typeface="Cambria" panose="02040503050406030204" pitchFamily="18" charset="0"/>
              <a:ea typeface="Cambria" panose="02040503050406030204" pitchFamily="18" charset="0"/>
            </a:endParaRPr>
          </a:p>
        </p:txBody>
      </p:sp>
      <p:sp>
        <p:nvSpPr>
          <p:cNvPr id="16" name="Title 1">
            <a:extLst>
              <a:ext uri="{FF2B5EF4-FFF2-40B4-BE49-F238E27FC236}">
                <a16:creationId xmlns:a16="http://schemas.microsoft.com/office/drawing/2014/main" id="{9B5733D2-A84F-4819-9B99-2AB7B1B20FF9}"/>
              </a:ext>
            </a:extLst>
          </p:cNvPr>
          <p:cNvSpPr txBox="1">
            <a:spLocks/>
          </p:cNvSpPr>
          <p:nvPr/>
        </p:nvSpPr>
        <p:spPr>
          <a:xfrm>
            <a:off x="576821" y="4311181"/>
            <a:ext cx="3186607" cy="1794520"/>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b="1" dirty="0">
                <a:latin typeface="Cambria" panose="02040503050406030204" pitchFamily="18" charset="0"/>
                <a:ea typeface="Cambria" panose="02040503050406030204" pitchFamily="18" charset="0"/>
              </a:rPr>
              <a:t>:: Presented By ::</a:t>
            </a:r>
          </a:p>
          <a:p>
            <a:endParaRPr lang="en-US" sz="2000" b="1" dirty="0">
              <a:latin typeface="Cambria" panose="02040503050406030204" pitchFamily="18" charset="0"/>
              <a:ea typeface="Cambria" panose="02040503050406030204" pitchFamily="18" charset="0"/>
            </a:endParaRPr>
          </a:p>
          <a:p>
            <a:pPr marL="213360" indent="-100965">
              <a:lnSpc>
                <a:spcPct val="100000"/>
              </a:lnSpc>
              <a:spcBef>
                <a:spcPts val="765"/>
              </a:spcBef>
              <a:buSzPct val="77777"/>
              <a:buFont typeface="Arial MT"/>
              <a:buChar char="•"/>
              <a:tabLst>
                <a:tab pos="213360" algn="l"/>
              </a:tabLst>
            </a:pPr>
            <a:r>
              <a:rPr lang="en-IN" sz="2000" dirty="0">
                <a:latin typeface="Times New Roman"/>
                <a:cs typeface="Times New Roman"/>
              </a:rPr>
              <a:t>Rushikesh</a:t>
            </a:r>
            <a:r>
              <a:rPr lang="en-IN" sz="2000" spc="5" dirty="0">
                <a:latin typeface="Times New Roman"/>
                <a:cs typeface="Times New Roman"/>
              </a:rPr>
              <a:t> </a:t>
            </a:r>
            <a:r>
              <a:rPr lang="en-IN" sz="2000" spc="-10" dirty="0">
                <a:latin typeface="Times New Roman"/>
                <a:cs typeface="Times New Roman"/>
              </a:rPr>
              <a:t>Desale</a:t>
            </a:r>
            <a:endParaRPr lang="en-IN" sz="2000" dirty="0">
              <a:latin typeface="Times New Roman"/>
              <a:cs typeface="Times New Roman"/>
            </a:endParaRPr>
          </a:p>
          <a:p>
            <a:pPr marL="281305" indent="-135255">
              <a:lnSpc>
                <a:spcPct val="100000"/>
              </a:lnSpc>
              <a:spcBef>
                <a:spcPts val="870"/>
              </a:spcBef>
              <a:buFont typeface="Arial MT"/>
              <a:buChar char="•"/>
              <a:tabLst>
                <a:tab pos="281305" algn="l"/>
              </a:tabLst>
            </a:pPr>
            <a:r>
              <a:rPr lang="en-IN" sz="2000" dirty="0">
                <a:latin typeface="Times New Roman"/>
                <a:cs typeface="Times New Roman"/>
              </a:rPr>
              <a:t>Lokesh</a:t>
            </a:r>
            <a:r>
              <a:rPr lang="en-IN" sz="2000" spc="-35" dirty="0">
                <a:latin typeface="Times New Roman"/>
                <a:cs typeface="Times New Roman"/>
              </a:rPr>
              <a:t> </a:t>
            </a:r>
            <a:r>
              <a:rPr lang="en-IN" sz="2000" spc="-10" dirty="0">
                <a:latin typeface="Times New Roman"/>
                <a:cs typeface="Times New Roman"/>
              </a:rPr>
              <a:t>Bhadane</a:t>
            </a:r>
            <a:endParaRPr lang="en-IN" sz="2000" dirty="0">
              <a:latin typeface="Times New Roman"/>
              <a:cs typeface="Times New Roman"/>
            </a:endParaRPr>
          </a:p>
          <a:p>
            <a:pPr marL="299720" indent="-135255">
              <a:lnSpc>
                <a:spcPct val="100000"/>
              </a:lnSpc>
              <a:spcBef>
                <a:spcPts val="860"/>
              </a:spcBef>
              <a:buFont typeface="Arial MT"/>
              <a:buChar char="•"/>
              <a:tabLst>
                <a:tab pos="299720" algn="l"/>
              </a:tabLst>
            </a:pPr>
            <a:r>
              <a:rPr lang="en-IN" sz="2000" dirty="0">
                <a:latin typeface="Times New Roman"/>
                <a:cs typeface="Times New Roman"/>
              </a:rPr>
              <a:t>Parth</a:t>
            </a:r>
            <a:r>
              <a:rPr lang="en-IN" sz="2000" spc="-30" dirty="0">
                <a:latin typeface="Times New Roman"/>
                <a:cs typeface="Times New Roman"/>
              </a:rPr>
              <a:t> </a:t>
            </a:r>
            <a:r>
              <a:rPr lang="en-IN" sz="2000" spc="-10" dirty="0">
                <a:latin typeface="Times New Roman"/>
                <a:cs typeface="Times New Roman"/>
              </a:rPr>
              <a:t>Chaudhari</a:t>
            </a:r>
            <a:endParaRPr lang="en-IN" sz="2000" dirty="0">
              <a:latin typeface="Times New Roman"/>
              <a:cs typeface="Times New Roman"/>
            </a:endParaRPr>
          </a:p>
          <a:p>
            <a:endParaRPr lang="en-US" sz="2000" b="1" dirty="0">
              <a:latin typeface="Cambria" panose="02040503050406030204" pitchFamily="18" charset="0"/>
              <a:ea typeface="Cambria" panose="02040503050406030204" pitchFamily="18" charset="0"/>
            </a:endParaRPr>
          </a:p>
        </p:txBody>
      </p:sp>
      <p:sp>
        <p:nvSpPr>
          <p:cNvPr id="17" name="Title 1">
            <a:extLst>
              <a:ext uri="{FF2B5EF4-FFF2-40B4-BE49-F238E27FC236}">
                <a16:creationId xmlns:a16="http://schemas.microsoft.com/office/drawing/2014/main" id="{2A466C73-A7E1-4687-924B-F71C84E40161}"/>
              </a:ext>
            </a:extLst>
          </p:cNvPr>
          <p:cNvSpPr txBox="1">
            <a:spLocks/>
          </p:cNvSpPr>
          <p:nvPr/>
        </p:nvSpPr>
        <p:spPr>
          <a:xfrm>
            <a:off x="623393" y="5150764"/>
            <a:ext cx="3948607" cy="1302572"/>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50000"/>
              </a:lnSpc>
              <a:buFont typeface="Arial" pitchFamily="34" charset="0"/>
              <a:buChar char="•"/>
            </a:pPr>
            <a:endParaRPr lang="en-US" sz="1400" dirty="0">
              <a:latin typeface="Cambria" panose="02040503050406030204" pitchFamily="18" charset="0"/>
              <a:ea typeface="Cambria" panose="02040503050406030204" pitchFamily="18" charset="0"/>
            </a:endParaRPr>
          </a:p>
          <a:p>
            <a:pPr>
              <a:lnSpc>
                <a:spcPct val="150000"/>
              </a:lnSpc>
            </a:pPr>
            <a:endParaRPr lang="en-US" sz="2000" dirty="0">
              <a:latin typeface="Cambria" panose="02040503050406030204" pitchFamily="18" charset="0"/>
              <a:ea typeface="Cambria" panose="02040503050406030204" pitchFamily="18" charset="0"/>
            </a:endParaRPr>
          </a:p>
          <a:p>
            <a:pPr>
              <a:lnSpc>
                <a:spcPct val="150000"/>
              </a:lnSpc>
            </a:pPr>
            <a:endParaRPr lang="en-US" sz="2000" dirty="0">
              <a:latin typeface="Cambria" panose="02040503050406030204" pitchFamily="18" charset="0"/>
              <a:ea typeface="Cambria" panose="02040503050406030204" pitchFamily="18" charset="0"/>
            </a:endParaRPr>
          </a:p>
        </p:txBody>
      </p:sp>
      <p:sp>
        <p:nvSpPr>
          <p:cNvPr id="18" name="Title 1">
            <a:extLst>
              <a:ext uri="{FF2B5EF4-FFF2-40B4-BE49-F238E27FC236}">
                <a16:creationId xmlns:a16="http://schemas.microsoft.com/office/drawing/2014/main" id="{7EA6EA55-13B9-4240-8A12-FAFD43737A92}"/>
              </a:ext>
            </a:extLst>
          </p:cNvPr>
          <p:cNvSpPr txBox="1">
            <a:spLocks/>
          </p:cNvSpPr>
          <p:nvPr/>
        </p:nvSpPr>
        <p:spPr>
          <a:xfrm>
            <a:off x="6838833" y="4364798"/>
            <a:ext cx="4585251" cy="59634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b="1" dirty="0">
                <a:latin typeface="Cambria" panose="02040503050406030204" pitchFamily="18" charset="0"/>
                <a:ea typeface="Cambria" panose="02040503050406030204" pitchFamily="18" charset="0"/>
              </a:rPr>
              <a:t>:: Under the Guidance of ::</a:t>
            </a:r>
          </a:p>
        </p:txBody>
      </p:sp>
      <p:sp>
        <p:nvSpPr>
          <p:cNvPr id="19" name="Title 1">
            <a:extLst>
              <a:ext uri="{FF2B5EF4-FFF2-40B4-BE49-F238E27FC236}">
                <a16:creationId xmlns:a16="http://schemas.microsoft.com/office/drawing/2014/main" id="{651343B4-C215-4AFB-9911-4B87A2D7B2FC}"/>
              </a:ext>
            </a:extLst>
          </p:cNvPr>
          <p:cNvSpPr txBox="1">
            <a:spLocks/>
          </p:cNvSpPr>
          <p:nvPr/>
        </p:nvSpPr>
        <p:spPr>
          <a:xfrm>
            <a:off x="6305437" y="4957587"/>
            <a:ext cx="5652042" cy="59634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endParaRPr lang="en-US" sz="2000" dirty="0">
              <a:latin typeface="Cambria" panose="02040503050406030204" pitchFamily="18" charset="0"/>
              <a:ea typeface="Cambria" panose="02040503050406030204" pitchFamily="18" charset="0"/>
            </a:endParaRPr>
          </a:p>
        </p:txBody>
      </p:sp>
      <p:sp>
        <p:nvSpPr>
          <p:cNvPr id="20" name="Title 1">
            <a:extLst>
              <a:ext uri="{FF2B5EF4-FFF2-40B4-BE49-F238E27FC236}">
                <a16:creationId xmlns:a16="http://schemas.microsoft.com/office/drawing/2014/main" id="{0F39A011-846F-4F6E-8EFD-184347BA38B6}"/>
              </a:ext>
            </a:extLst>
          </p:cNvPr>
          <p:cNvSpPr txBox="1">
            <a:spLocks/>
          </p:cNvSpPr>
          <p:nvPr/>
        </p:nvSpPr>
        <p:spPr>
          <a:xfrm>
            <a:off x="3104331" y="1201175"/>
            <a:ext cx="5652042" cy="44056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2200" b="1" dirty="0">
                <a:latin typeface="Cambria" panose="02040503050406030204" pitchFamily="18" charset="0"/>
                <a:ea typeface="Cambria" panose="02040503050406030204" pitchFamily="18" charset="0"/>
              </a:rPr>
              <a:t>Semester-II, A.Y.-2025-26</a:t>
            </a:r>
          </a:p>
        </p:txBody>
      </p:sp>
      <p:sp>
        <p:nvSpPr>
          <p:cNvPr id="23" name="Title 1">
            <a:extLst>
              <a:ext uri="{FF2B5EF4-FFF2-40B4-BE49-F238E27FC236}">
                <a16:creationId xmlns:a16="http://schemas.microsoft.com/office/drawing/2014/main" id="{3853418D-237D-3DFB-04AA-E5FFFBE9A511}"/>
              </a:ext>
            </a:extLst>
          </p:cNvPr>
          <p:cNvSpPr txBox="1">
            <a:spLocks/>
          </p:cNvSpPr>
          <p:nvPr/>
        </p:nvSpPr>
        <p:spPr>
          <a:xfrm>
            <a:off x="3952860" y="5572140"/>
            <a:ext cx="3035459" cy="1003212"/>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sz="2000" b="1" dirty="0">
              <a:latin typeface="Cambria" panose="02040503050406030204" pitchFamily="18" charset="0"/>
              <a:ea typeface="Cambria" panose="02040503050406030204" pitchFamily="18" charset="0"/>
            </a:endParaRPr>
          </a:p>
          <a:p>
            <a:r>
              <a:rPr lang="en-US" sz="2600" b="1" dirty="0">
                <a:latin typeface="Cambria" panose="02040503050406030204" pitchFamily="18" charset="0"/>
                <a:ea typeface="Cambria" panose="02040503050406030204" pitchFamily="18" charset="0"/>
              </a:rPr>
              <a:t>:: Domain ::</a:t>
            </a:r>
          </a:p>
          <a:p>
            <a:endParaRPr lang="en-US" sz="2600" b="1" dirty="0">
              <a:latin typeface="Cambria" panose="02040503050406030204" pitchFamily="18" charset="0"/>
              <a:ea typeface="Cambria" panose="02040503050406030204" pitchFamily="18" charset="0"/>
            </a:endParaRPr>
          </a:p>
          <a:p>
            <a:r>
              <a:rPr lang="en-US" sz="2400" dirty="0">
                <a:latin typeface="Times New Roman" pitchFamily="18" charset="0"/>
                <a:ea typeface="Cambria" panose="02040503050406030204" pitchFamily="18" charset="0"/>
                <a:cs typeface="Times New Roman" pitchFamily="18" charset="0"/>
              </a:rPr>
              <a:t>IOT</a:t>
            </a:r>
          </a:p>
        </p:txBody>
      </p:sp>
      <p:sp>
        <p:nvSpPr>
          <p:cNvPr id="24" name="Title 1">
            <a:extLst>
              <a:ext uri="{FF2B5EF4-FFF2-40B4-BE49-F238E27FC236}">
                <a16:creationId xmlns:a16="http://schemas.microsoft.com/office/drawing/2014/main" id="{FD28AC6B-95C2-998E-5031-5C952833A54D}"/>
              </a:ext>
            </a:extLst>
          </p:cNvPr>
          <p:cNvSpPr txBox="1">
            <a:spLocks/>
          </p:cNvSpPr>
          <p:nvPr/>
        </p:nvSpPr>
        <p:spPr>
          <a:xfrm>
            <a:off x="3201297" y="6146724"/>
            <a:ext cx="5652042" cy="59634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endParaRPr lang="en-US" sz="2000" dirty="0">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EBBBACEF-CCEE-6074-1AC9-40327BDF852C}"/>
              </a:ext>
            </a:extLst>
          </p:cNvPr>
          <p:cNvSpPr txBox="1"/>
          <p:nvPr/>
        </p:nvSpPr>
        <p:spPr>
          <a:xfrm>
            <a:off x="7880756" y="5150765"/>
            <a:ext cx="2805173" cy="646331"/>
          </a:xfrm>
          <a:prstGeom prst="rect">
            <a:avLst/>
          </a:prstGeom>
          <a:noFill/>
        </p:spPr>
        <p:txBody>
          <a:bodyPr wrap="square">
            <a:spAutoFit/>
          </a:bodyPr>
          <a:lstStyle/>
          <a:p>
            <a:r>
              <a:rPr lang="en-IN" sz="1800" dirty="0">
                <a:latin typeface="Times New Roman"/>
                <a:cs typeface="Times New Roman"/>
              </a:rPr>
              <a:t>Prof.</a:t>
            </a:r>
            <a:r>
              <a:rPr lang="en-IN" sz="1800" spc="-15" dirty="0">
                <a:latin typeface="Times New Roman"/>
                <a:cs typeface="Times New Roman"/>
              </a:rPr>
              <a:t> </a:t>
            </a:r>
            <a:r>
              <a:rPr lang="en-IN" sz="1800" dirty="0">
                <a:latin typeface="Times New Roman"/>
                <a:cs typeface="Times New Roman"/>
              </a:rPr>
              <a:t>Nitin</a:t>
            </a:r>
            <a:r>
              <a:rPr lang="en-IN" sz="1800" spc="-20" dirty="0">
                <a:latin typeface="Times New Roman"/>
                <a:cs typeface="Times New Roman"/>
              </a:rPr>
              <a:t> </a:t>
            </a:r>
            <a:r>
              <a:rPr lang="en-IN" sz="1800" spc="-10" dirty="0">
                <a:latin typeface="Times New Roman"/>
                <a:cs typeface="Times New Roman"/>
              </a:rPr>
              <a:t>Dhamale</a:t>
            </a:r>
            <a:endParaRPr lang="en-IN" sz="1800" dirty="0">
              <a:latin typeface="Times New Roman"/>
              <a:cs typeface="Times New Roman"/>
            </a:endParaRP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07201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43809" y="615372"/>
            <a:ext cx="6904382" cy="596348"/>
          </a:xfrm>
        </p:spPr>
        <p:txBody>
          <a:bodyPr>
            <a:normAutofit/>
          </a:bodyPr>
          <a:lstStyle/>
          <a:p>
            <a:r>
              <a:rPr lang="en-US" sz="2800" b="1" dirty="0">
                <a:latin typeface="Cambria" panose="02040503050406030204" pitchFamily="18" charset="0"/>
                <a:ea typeface="Cambria" panose="02040503050406030204" pitchFamily="18" charset="0"/>
              </a:rPr>
              <a:t>Contents</a:t>
            </a:r>
          </a:p>
        </p:txBody>
      </p:sp>
      <p:sp>
        <p:nvSpPr>
          <p:cNvPr id="4" name="Rectangle 3">
            <a:extLst>
              <a:ext uri="{FF2B5EF4-FFF2-40B4-BE49-F238E27FC236}">
                <a16:creationId xmlns:a16="http://schemas.microsoft.com/office/drawing/2014/main" id="{951E325C-ACB6-4FD9-9704-F03537BCE14D}"/>
              </a:ext>
            </a:extLst>
          </p:cNvPr>
          <p:cNvSpPr/>
          <p:nvPr/>
        </p:nvSpPr>
        <p:spPr>
          <a:xfrm>
            <a:off x="0" y="0"/>
            <a:ext cx="7381461" cy="59634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Constantia" panose="02030602050306030303" pitchFamily="18" charset="0"/>
                <a:ea typeface="Cambria" panose="02040503050406030204" pitchFamily="18" charset="0"/>
              </a:rPr>
              <a:t>Bhujbal Knowledge City</a:t>
            </a:r>
            <a:endParaRPr lang="en-IN" sz="2800" b="1" dirty="0">
              <a:latin typeface="Constantia" panose="02030602050306030303" pitchFamily="18" charset="0"/>
              <a:ea typeface="Cambria" panose="02040503050406030204" pitchFamily="18" charset="0"/>
            </a:endParaRPr>
          </a:p>
        </p:txBody>
      </p:sp>
      <p:sp>
        <p:nvSpPr>
          <p:cNvPr id="5" name="Right Triangle 4">
            <a:extLst>
              <a:ext uri="{FF2B5EF4-FFF2-40B4-BE49-F238E27FC236}">
                <a16:creationId xmlns:a16="http://schemas.microsoft.com/office/drawing/2014/main" id="{89404FE0-0C97-4973-AC6A-134FA789619A}"/>
              </a:ext>
            </a:extLst>
          </p:cNvPr>
          <p:cNvSpPr/>
          <p:nvPr/>
        </p:nvSpPr>
        <p:spPr>
          <a:xfrm>
            <a:off x="7381461" y="0"/>
            <a:ext cx="980661" cy="596348"/>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a:extLst>
              <a:ext uri="{FF2B5EF4-FFF2-40B4-BE49-F238E27FC236}">
                <a16:creationId xmlns:a16="http://schemas.microsoft.com/office/drawing/2014/main" id="{5F5391B2-5D66-4E06-934B-20A107BF67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69" y="60103"/>
            <a:ext cx="966705" cy="476142"/>
          </a:xfrm>
          <a:prstGeom prst="rect">
            <a:avLst/>
          </a:prstGeom>
        </p:spPr>
      </p:pic>
      <p:sp>
        <p:nvSpPr>
          <p:cNvPr id="10" name="Right Triangle 9">
            <a:extLst>
              <a:ext uri="{FF2B5EF4-FFF2-40B4-BE49-F238E27FC236}">
                <a16:creationId xmlns:a16="http://schemas.microsoft.com/office/drawing/2014/main" id="{DAA8CFFB-AD4D-485C-9CCD-D52AF896BEF2}"/>
              </a:ext>
            </a:extLst>
          </p:cNvPr>
          <p:cNvSpPr/>
          <p:nvPr/>
        </p:nvSpPr>
        <p:spPr>
          <a:xfrm rot="10800000">
            <a:off x="7507357" y="-6624"/>
            <a:ext cx="980661" cy="596348"/>
          </a:xfrm>
          <a:prstGeom prst="r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FE4FE161-B494-4DF2-8CF5-734C79EDFC5C}"/>
              </a:ext>
            </a:extLst>
          </p:cNvPr>
          <p:cNvSpPr/>
          <p:nvPr/>
        </p:nvSpPr>
        <p:spPr>
          <a:xfrm>
            <a:off x="8488018" y="-6624"/>
            <a:ext cx="3690730" cy="596348"/>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mbria" panose="02040503050406030204" pitchFamily="18" charset="0"/>
                <a:ea typeface="Cambria" panose="02040503050406030204" pitchFamily="18" charset="0"/>
              </a:rPr>
              <a:t>Institute of Engineering</a:t>
            </a:r>
            <a:endParaRPr lang="en-IN" sz="2000" b="1" dirty="0">
              <a:solidFill>
                <a:schemeClr val="tx1"/>
              </a:solidFill>
              <a:latin typeface="Cambria" panose="02040503050406030204" pitchFamily="18" charset="0"/>
              <a:ea typeface="Cambria" panose="02040503050406030204" pitchFamily="18" charset="0"/>
            </a:endParaRPr>
          </a:p>
        </p:txBody>
      </p:sp>
      <p:sp>
        <p:nvSpPr>
          <p:cNvPr id="14" name="Title 1">
            <a:extLst>
              <a:ext uri="{FF2B5EF4-FFF2-40B4-BE49-F238E27FC236}">
                <a16:creationId xmlns:a16="http://schemas.microsoft.com/office/drawing/2014/main" id="{70BD8A59-C0C2-4D95-881A-C2404A3069C1}"/>
              </a:ext>
            </a:extLst>
          </p:cNvPr>
          <p:cNvSpPr txBox="1">
            <a:spLocks/>
          </p:cNvSpPr>
          <p:nvPr/>
        </p:nvSpPr>
        <p:spPr>
          <a:xfrm>
            <a:off x="533401" y="1244441"/>
            <a:ext cx="5029199" cy="535513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endParaRPr lang="en-US" sz="2000" dirty="0"/>
          </a:p>
        </p:txBody>
      </p:sp>
      <p:sp>
        <p:nvSpPr>
          <p:cNvPr id="20" name="Title 1">
            <a:extLst>
              <a:ext uri="{FF2B5EF4-FFF2-40B4-BE49-F238E27FC236}">
                <a16:creationId xmlns:a16="http://schemas.microsoft.com/office/drawing/2014/main" id="{37213B9F-1969-4A7D-A1EC-E2A3EC796563}"/>
              </a:ext>
            </a:extLst>
          </p:cNvPr>
          <p:cNvSpPr txBox="1">
            <a:spLocks/>
          </p:cNvSpPr>
          <p:nvPr/>
        </p:nvSpPr>
        <p:spPr>
          <a:xfrm>
            <a:off x="5410201" y="1273625"/>
            <a:ext cx="6477000" cy="535513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lnSpc>
                <a:spcPct val="160000"/>
              </a:lnSpc>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p:txBody>
      </p:sp>
      <p:sp>
        <p:nvSpPr>
          <p:cNvPr id="9" name="Footer Placeholder 8">
            <a:extLst>
              <a:ext uri="{FF2B5EF4-FFF2-40B4-BE49-F238E27FC236}">
                <a16:creationId xmlns:a16="http://schemas.microsoft.com/office/drawing/2014/main" id="{6BC245EB-1641-4F12-A1BB-A5552F728D84}"/>
              </a:ext>
            </a:extLst>
          </p:cNvPr>
          <p:cNvSpPr>
            <a:spLocks noGrp="1"/>
          </p:cNvSpPr>
          <p:nvPr>
            <p:ph type="ftr" sz="quarter" idx="11"/>
          </p:nvPr>
        </p:nvSpPr>
        <p:spPr/>
        <p:txBody>
          <a:bodyPr/>
          <a:lstStyle/>
          <a:p>
            <a:r>
              <a:rPr lang="en-US" dirty="0"/>
              <a:t>Department of Artificial Intelligence and Data Science</a:t>
            </a:r>
          </a:p>
        </p:txBody>
      </p:sp>
      <p:sp>
        <p:nvSpPr>
          <p:cNvPr id="13" name="Slide Number Placeholder 12">
            <a:extLst>
              <a:ext uri="{FF2B5EF4-FFF2-40B4-BE49-F238E27FC236}">
                <a16:creationId xmlns:a16="http://schemas.microsoft.com/office/drawing/2014/main" id="{EF81D5EC-A93A-F871-1A21-10E129033AAF}"/>
              </a:ext>
            </a:extLst>
          </p:cNvPr>
          <p:cNvSpPr>
            <a:spLocks noGrp="1"/>
          </p:cNvSpPr>
          <p:nvPr>
            <p:ph type="sldNum" sz="quarter" idx="12"/>
          </p:nvPr>
        </p:nvSpPr>
        <p:spPr/>
        <p:txBody>
          <a:bodyPr/>
          <a:lstStyle/>
          <a:p>
            <a:fld id="{9B618960-8005-486C-9A75-10CB2AAC16F9}" type="slidenum">
              <a:rPr lang="en-US" smtClean="0"/>
              <a:pPr/>
              <a:t>2</a:t>
            </a:fld>
            <a:endParaRPr lang="en-US" dirty="0"/>
          </a:p>
        </p:txBody>
      </p:sp>
      <p:sp>
        <p:nvSpPr>
          <p:cNvPr id="12" name="Rectangle 11"/>
          <p:cNvSpPr/>
          <p:nvPr/>
        </p:nvSpPr>
        <p:spPr>
          <a:xfrm>
            <a:off x="378549" y="785322"/>
            <a:ext cx="10934737" cy="6463308"/>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1.Abstract</a:t>
            </a:r>
          </a:p>
          <a:p>
            <a:r>
              <a:rPr lang="en-IN" dirty="0">
                <a:latin typeface="Times New Roman" panose="02020603050405020304" pitchFamily="18" charset="0"/>
                <a:cs typeface="Times New Roman" panose="02020603050405020304" pitchFamily="18" charset="0"/>
              </a:rPr>
              <a:t>2.Literature survey</a:t>
            </a:r>
          </a:p>
          <a:p>
            <a:r>
              <a:rPr lang="en-IN" dirty="0">
                <a:latin typeface="Times New Roman" panose="02020603050405020304" pitchFamily="18" charset="0"/>
                <a:cs typeface="Times New Roman" panose="02020603050405020304" pitchFamily="18" charset="0"/>
              </a:rPr>
              <a:t>3.Problem Statement</a:t>
            </a:r>
          </a:p>
          <a:p>
            <a:r>
              <a:rPr lang="en-IN" dirty="0">
                <a:latin typeface="Times New Roman" panose="02020603050405020304" pitchFamily="18" charset="0"/>
                <a:cs typeface="Times New Roman" panose="02020603050405020304" pitchFamily="18" charset="0"/>
              </a:rPr>
              <a:t>4.Proposed System</a:t>
            </a:r>
          </a:p>
          <a:p>
            <a:r>
              <a:rPr lang="en-IN" dirty="0">
                <a:latin typeface="Times New Roman" panose="02020603050405020304" pitchFamily="18" charset="0"/>
                <a:cs typeface="Times New Roman" panose="02020603050405020304" pitchFamily="18" charset="0"/>
              </a:rPr>
              <a:t>5.Algorithm,Technical Concept</a:t>
            </a:r>
          </a:p>
          <a:p>
            <a:r>
              <a:rPr lang="en-IN" dirty="0">
                <a:latin typeface="Times New Roman" panose="02020603050405020304" pitchFamily="18" charset="0"/>
                <a:cs typeface="Times New Roman" panose="02020603050405020304" pitchFamily="18" charset="0"/>
              </a:rPr>
              <a:t>6.Relevant mathematical model associated with the project</a:t>
            </a:r>
          </a:p>
          <a:p>
            <a:r>
              <a:rPr lang="en-IN" dirty="0">
                <a:latin typeface="Times New Roman" panose="02020603050405020304" pitchFamily="18" charset="0"/>
                <a:cs typeface="Times New Roman" panose="02020603050405020304" pitchFamily="18" charset="0"/>
              </a:rPr>
              <a:t>7.Hardware/Software Requirement</a:t>
            </a:r>
          </a:p>
          <a:p>
            <a:r>
              <a:rPr lang="en-IN" dirty="0">
                <a:latin typeface="Times New Roman" panose="02020603050405020304" pitchFamily="18" charset="0"/>
                <a:cs typeface="Times New Roman" panose="02020603050405020304" pitchFamily="18" charset="0"/>
              </a:rPr>
              <a:t>8.Risk Analysis(technical </a:t>
            </a:r>
            <a:r>
              <a:rPr lang="en-IN" dirty="0" err="1">
                <a:latin typeface="Times New Roman" panose="02020603050405020304" pitchFamily="18" charset="0"/>
                <a:cs typeface="Times New Roman" panose="02020603050405020304" pitchFamily="18" charset="0"/>
              </a:rPr>
              <a:t>risks,Operational</a:t>
            </a:r>
            <a:r>
              <a:rPr lang="en-IN" dirty="0">
                <a:latin typeface="Times New Roman" panose="02020603050405020304" pitchFamily="18" charset="0"/>
                <a:cs typeface="Times New Roman" panose="02020603050405020304" pitchFamily="18" charset="0"/>
              </a:rPr>
              <a:t> risks, schedule </a:t>
            </a:r>
            <a:r>
              <a:rPr lang="en-IN" dirty="0" err="1">
                <a:latin typeface="Times New Roman" panose="02020603050405020304" pitchFamily="18" charset="0"/>
                <a:cs typeface="Times New Roman" panose="02020603050405020304" pitchFamily="18" charset="0"/>
              </a:rPr>
              <a:t>risks,business</a:t>
            </a:r>
            <a:r>
              <a:rPr lang="en-IN" dirty="0">
                <a:latin typeface="Times New Roman" panose="02020603050405020304" pitchFamily="18" charset="0"/>
                <a:cs typeface="Times New Roman" panose="02020603050405020304" pitchFamily="18" charset="0"/>
              </a:rPr>
              <a:t> risks )</a:t>
            </a:r>
          </a:p>
          <a:p>
            <a:r>
              <a:rPr lang="en-IN" dirty="0">
                <a:latin typeface="Times New Roman" panose="02020603050405020304" pitchFamily="18" charset="0"/>
                <a:cs typeface="Times New Roman" panose="02020603050405020304" pitchFamily="18" charset="0"/>
              </a:rPr>
              <a:t>9.Project Goals</a:t>
            </a:r>
          </a:p>
          <a:p>
            <a:r>
              <a:rPr lang="en-IN" dirty="0">
                <a:latin typeface="Times New Roman" panose="02020603050405020304" pitchFamily="18" charset="0"/>
                <a:cs typeface="Times New Roman" panose="02020603050405020304" pitchFamily="18" charset="0"/>
              </a:rPr>
              <a:t>10.Project Modules</a:t>
            </a:r>
          </a:p>
          <a:p>
            <a:r>
              <a:rPr lang="en-IN" dirty="0">
                <a:latin typeface="Times New Roman" panose="02020603050405020304" pitchFamily="18" charset="0"/>
                <a:cs typeface="Times New Roman" panose="02020603050405020304" pitchFamily="18" charset="0"/>
              </a:rPr>
              <a:t>11.structural diagrams (class, Object, etc)</a:t>
            </a:r>
          </a:p>
          <a:p>
            <a:r>
              <a:rPr lang="en-IN" dirty="0">
                <a:latin typeface="Times New Roman" panose="02020603050405020304" pitchFamily="18" charset="0"/>
                <a:cs typeface="Times New Roman" panose="02020603050405020304" pitchFamily="18" charset="0"/>
              </a:rPr>
              <a:t>12.UML Diagrams</a:t>
            </a:r>
          </a:p>
          <a:p>
            <a:r>
              <a:rPr lang="en-IN" dirty="0">
                <a:latin typeface="Times New Roman" panose="02020603050405020304" pitchFamily="18" charset="0"/>
                <a:cs typeface="Times New Roman" panose="02020603050405020304" pitchFamily="18" charset="0"/>
              </a:rPr>
              <a:t>13.DFD Diagram</a:t>
            </a:r>
          </a:p>
          <a:p>
            <a:r>
              <a:rPr lang="en-IN" dirty="0">
                <a:latin typeface="Times New Roman" panose="02020603050405020304" pitchFamily="18" charset="0"/>
                <a:cs typeface="Times New Roman" panose="02020603050405020304" pitchFamily="18" charset="0"/>
              </a:rPr>
              <a:t>14.software Development Process model used</a:t>
            </a:r>
          </a:p>
          <a:p>
            <a:r>
              <a:rPr lang="en-IN" dirty="0">
                <a:latin typeface="Times New Roman" panose="02020603050405020304" pitchFamily="18" charset="0"/>
                <a:cs typeface="Times New Roman" panose="02020603050405020304" pitchFamily="18" charset="0"/>
              </a:rPr>
              <a:t>15.State transition Diagram.</a:t>
            </a:r>
          </a:p>
          <a:p>
            <a:r>
              <a:rPr lang="en-IN" dirty="0">
                <a:latin typeface="Times New Roman" panose="02020603050405020304" pitchFamily="18" charset="0"/>
                <a:cs typeface="Times New Roman" panose="02020603050405020304" pitchFamily="18" charset="0"/>
              </a:rPr>
              <a:t>16.Project </a:t>
            </a:r>
            <a:r>
              <a:rPr lang="en-IN" dirty="0" err="1">
                <a:latin typeface="Times New Roman" panose="02020603050405020304" pitchFamily="18" charset="0"/>
                <a:cs typeface="Times New Roman" panose="02020603050405020304" pitchFamily="18" charset="0"/>
              </a:rPr>
              <a:t>ModulesDesign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17.Project Module Coding</a:t>
            </a:r>
          </a:p>
          <a:p>
            <a:r>
              <a:rPr lang="en-IN" dirty="0">
                <a:latin typeface="Times New Roman" panose="02020603050405020304" pitchFamily="18" charset="0"/>
                <a:cs typeface="Times New Roman" panose="02020603050405020304" pitchFamily="18" charset="0"/>
              </a:rPr>
              <a:t>18.Test Cases</a:t>
            </a:r>
          </a:p>
          <a:p>
            <a:r>
              <a:rPr lang="en-IN" dirty="0">
                <a:latin typeface="Times New Roman" panose="02020603050405020304" pitchFamily="18" charset="0"/>
                <a:cs typeface="Times New Roman" panose="02020603050405020304" pitchFamily="18" charset="0"/>
              </a:rPr>
              <a:t>19.Results</a:t>
            </a:r>
          </a:p>
          <a:p>
            <a:r>
              <a:rPr lang="en-IN" dirty="0">
                <a:latin typeface="Times New Roman" panose="02020603050405020304" pitchFamily="18" charset="0"/>
                <a:cs typeface="Times New Roman" panose="02020603050405020304" pitchFamily="18" charset="0"/>
              </a:rPr>
              <a:t>20.Future Scope</a:t>
            </a:r>
          </a:p>
          <a:p>
            <a:r>
              <a:rPr lang="en-IN" dirty="0">
                <a:latin typeface="Times New Roman" panose="02020603050405020304" pitchFamily="18" charset="0"/>
                <a:cs typeface="Times New Roman" panose="02020603050405020304" pitchFamily="18" charset="0"/>
              </a:rPr>
              <a:t>21.Conclusion</a:t>
            </a:r>
          </a:p>
          <a:p>
            <a:r>
              <a:rPr lang="en-IN" dirty="0">
                <a:latin typeface="Times New Roman" panose="02020603050405020304" pitchFamily="18" charset="0"/>
                <a:cs typeface="Times New Roman" panose="02020603050405020304" pitchFamily="18" charset="0"/>
              </a:rPr>
              <a:t>22.References</a:t>
            </a:r>
          </a:p>
          <a:p>
            <a:endParaRPr lang="en-IN" sz="1800" dirty="0"/>
          </a:p>
        </p:txBody>
      </p:sp>
    </p:spTree>
    <p:extLst>
      <p:ext uri="{BB962C8B-B14F-4D97-AF65-F5344CB8AC3E}">
        <p14:creationId xmlns:p14="http://schemas.microsoft.com/office/powerpoint/2010/main" val="1656105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77469" y="747522"/>
            <a:ext cx="11640185" cy="3466465"/>
          </a:xfrm>
          <a:prstGeom prst="rect">
            <a:avLst/>
          </a:prstGeom>
        </p:spPr>
        <p:txBody>
          <a:bodyPr vert="horz" wrap="square" lIns="0" tIns="12065" rIns="0" bIns="0" rtlCol="0">
            <a:spAutoFit/>
          </a:bodyPr>
          <a:lstStyle/>
          <a:p>
            <a:pPr marL="36195" algn="ctr">
              <a:lnSpc>
                <a:spcPct val="100000"/>
              </a:lnSpc>
              <a:spcBef>
                <a:spcPts val="95"/>
              </a:spcBef>
            </a:pPr>
            <a:r>
              <a:rPr sz="2800" b="1" spc="-10" dirty="0">
                <a:latin typeface="Times New Roman" panose="02020603050405020304" pitchFamily="18" charset="0"/>
                <a:cs typeface="Times New Roman" panose="02020603050405020304" pitchFamily="18" charset="0"/>
              </a:rPr>
              <a:t>Abstract</a:t>
            </a:r>
            <a:endParaRPr sz="2800" b="1" dirty="0">
              <a:latin typeface="Times New Roman" panose="02020603050405020304" pitchFamily="18" charset="0"/>
              <a:cs typeface="Times New Roman" panose="02020603050405020304" pitchFamily="18" charset="0"/>
            </a:endParaRPr>
          </a:p>
          <a:p>
            <a:pPr marL="12700" marR="5080" algn="just">
              <a:lnSpc>
                <a:spcPct val="150000"/>
              </a:lnSpc>
              <a:spcBef>
                <a:spcPts val="1055"/>
              </a:spcBef>
            </a:pPr>
            <a:r>
              <a:rPr sz="1800" dirty="0">
                <a:latin typeface="Times New Roman" panose="02020603050405020304" pitchFamily="18" charset="0"/>
                <a:cs typeface="Times New Roman" panose="02020603050405020304" pitchFamily="18" charset="0"/>
              </a:rPr>
              <a:t>Street</a:t>
            </a:r>
            <a:r>
              <a:rPr sz="1800" spc="4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lights</a:t>
            </a:r>
            <a:r>
              <a:rPr sz="1800" spc="4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are</a:t>
            </a:r>
            <a:r>
              <a:rPr sz="1800" spc="4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a:t>
            </a:r>
            <a:r>
              <a:rPr sz="1800" spc="4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essential</a:t>
            </a:r>
            <a:r>
              <a:rPr sz="1800" spc="4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source</a:t>
            </a:r>
            <a:r>
              <a:rPr sz="1800" spc="4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4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light</a:t>
            </a:r>
            <a:r>
              <a:rPr sz="1800" spc="4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for</a:t>
            </a:r>
            <a:r>
              <a:rPr sz="1800" spc="4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people,</a:t>
            </a:r>
            <a:r>
              <a:rPr sz="1800" spc="4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especially</a:t>
            </a:r>
            <a:r>
              <a:rPr sz="1800" spc="459"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along</a:t>
            </a:r>
            <a:r>
              <a:rPr sz="1800" spc="4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walkways</a:t>
            </a:r>
            <a:r>
              <a:rPr sz="1800" spc="4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4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streets</a:t>
            </a:r>
            <a:r>
              <a:rPr sz="1800" spc="4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during</a:t>
            </a:r>
            <a:r>
              <a:rPr sz="1800" spc="4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dark</a:t>
            </a:r>
            <a:r>
              <a:rPr sz="1800" spc="4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hours.</a:t>
            </a:r>
            <a:r>
              <a:rPr sz="1800" spc="45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In </a:t>
            </a:r>
            <a:r>
              <a:rPr sz="1800" dirty="0">
                <a:latin typeface="Times New Roman" panose="02020603050405020304" pitchFamily="18" charset="0"/>
                <a:cs typeface="Times New Roman" panose="02020603050405020304" pitchFamily="18" charset="0"/>
              </a:rPr>
              <a:t>conventional</a:t>
            </a:r>
            <a:r>
              <a:rPr sz="1800" spc="1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systems,</a:t>
            </a:r>
            <a:r>
              <a:rPr sz="1800" spc="1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identifying</a:t>
            </a:r>
            <a:r>
              <a:rPr sz="1800" spc="1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faulty</a:t>
            </a:r>
            <a:r>
              <a:rPr sz="1800" spc="1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bulbs</a:t>
            </a:r>
            <a:r>
              <a:rPr sz="1800" spc="1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1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managing</a:t>
            </a:r>
            <a:r>
              <a:rPr sz="1800" spc="155" dirty="0">
                <a:latin typeface="Times New Roman" panose="02020603050405020304" pitchFamily="18" charset="0"/>
                <a:cs typeface="Times New Roman" panose="02020603050405020304" pitchFamily="18" charset="0"/>
              </a:rPr>
              <a:t> </a:t>
            </a:r>
            <a:r>
              <a:rPr sz="1800" spc="-20" dirty="0">
                <a:latin typeface="Times New Roman" panose="02020603050405020304" pitchFamily="18" charset="0"/>
                <a:cs typeface="Times New Roman" panose="02020603050405020304" pitchFamily="18" charset="0"/>
              </a:rPr>
              <a:t>energy-</a:t>
            </a:r>
            <a:r>
              <a:rPr sz="1800" dirty="0">
                <a:latin typeface="Times New Roman" panose="02020603050405020304" pitchFamily="18" charset="0"/>
                <a:cs typeface="Times New Roman" panose="02020603050405020304" pitchFamily="18" charset="0"/>
              </a:rPr>
              <a:t>saving</a:t>
            </a:r>
            <a:r>
              <a:rPr sz="1800" spc="1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operations</a:t>
            </a:r>
            <a:r>
              <a:rPr sz="1800" spc="1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requires</a:t>
            </a:r>
            <a:r>
              <a:rPr sz="1800" spc="1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human</a:t>
            </a:r>
            <a:r>
              <a:rPr sz="1800" spc="1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effort</a:t>
            </a:r>
            <a:r>
              <a:rPr sz="1800" spc="1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15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consumes </a:t>
            </a:r>
            <a:r>
              <a:rPr sz="1800" dirty="0">
                <a:latin typeface="Times New Roman" panose="02020603050405020304" pitchFamily="18" charset="0"/>
                <a:cs typeface="Times New Roman" panose="02020603050405020304" pitchFamily="18" charset="0"/>
              </a:rPr>
              <a:t>time.</a:t>
            </a:r>
            <a:r>
              <a:rPr sz="1800" spc="1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Moreover, </a:t>
            </a:r>
            <a:r>
              <a:rPr sz="1800" dirty="0">
                <a:latin typeface="Times New Roman" panose="02020603050405020304" pitchFamily="18" charset="0"/>
                <a:cs typeface="Times New Roman" panose="02020603050405020304" pitchFamily="18" charset="0"/>
              </a:rPr>
              <a:t>street lights</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often remain</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switched</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on at</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full brightness</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throughout</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night,</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even</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when</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vehicle</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movement</a:t>
            </a:r>
            <a:r>
              <a:rPr sz="1800" spc="10"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is </a:t>
            </a:r>
            <a:r>
              <a:rPr sz="1800" dirty="0">
                <a:latin typeface="Times New Roman" panose="02020603050405020304" pitchFamily="18" charset="0"/>
                <a:cs typeface="Times New Roman" panose="02020603050405020304" pitchFamily="18" charset="0"/>
              </a:rPr>
              <a:t>low,</a:t>
            </a:r>
            <a:r>
              <a:rPr sz="1800" spc="114"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leading</a:t>
            </a:r>
            <a:r>
              <a:rPr sz="1800" spc="1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to</a:t>
            </a:r>
            <a:r>
              <a:rPr sz="1800" spc="10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energy</a:t>
            </a:r>
            <a:r>
              <a:rPr sz="1800" spc="1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wastage.</a:t>
            </a:r>
            <a:r>
              <a:rPr sz="1800" spc="1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To</a:t>
            </a:r>
            <a:r>
              <a:rPr sz="1800" spc="10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address</a:t>
            </a:r>
            <a:r>
              <a:rPr sz="1800" spc="1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these</a:t>
            </a:r>
            <a:r>
              <a:rPr sz="1800" spc="1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issues,</a:t>
            </a:r>
            <a:r>
              <a:rPr sz="1800" spc="1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a:t>
            </a:r>
            <a:r>
              <a:rPr sz="1800" spc="1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Smart</a:t>
            </a:r>
            <a:r>
              <a:rPr sz="1800" spc="1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Streetlight</a:t>
            </a:r>
            <a:r>
              <a:rPr sz="1800" spc="114"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System</a:t>
            </a:r>
            <a:r>
              <a:rPr sz="1800" spc="1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using</a:t>
            </a:r>
            <a:r>
              <a:rPr sz="1800" spc="114"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IoT</a:t>
            </a:r>
            <a:r>
              <a:rPr sz="1800" spc="7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is</a:t>
            </a:r>
            <a:r>
              <a:rPr sz="1800" spc="1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proposed.</a:t>
            </a:r>
            <a:r>
              <a:rPr sz="1800" spc="1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This</a:t>
            </a:r>
            <a:r>
              <a:rPr sz="1800" spc="1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system</a:t>
            </a:r>
            <a:r>
              <a:rPr sz="1800" spc="110"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can </a:t>
            </a:r>
            <a:r>
              <a:rPr sz="1800" dirty="0">
                <a:latin typeface="Times New Roman" panose="02020603050405020304" pitchFamily="18" charset="0"/>
                <a:cs typeface="Times New Roman" panose="02020603050405020304" pitchFamily="18" charset="0"/>
              </a:rPr>
              <a:t>automatically</a:t>
            </a:r>
            <a:r>
              <a:rPr sz="1800" spc="1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detect</a:t>
            </a:r>
            <a:r>
              <a:rPr sz="1800" spc="10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faulty</a:t>
            </a:r>
            <a:r>
              <a:rPr sz="1800" spc="1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streetlights,</a:t>
            </a:r>
            <a:r>
              <a:rPr sz="1800" spc="1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send</a:t>
            </a:r>
            <a:r>
              <a:rPr sz="1800" spc="1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their</a:t>
            </a:r>
            <a:r>
              <a:rPr sz="1800" spc="10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location</a:t>
            </a:r>
            <a:r>
              <a:rPr sz="1800" spc="1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details</a:t>
            </a:r>
            <a:r>
              <a:rPr sz="1800" spc="9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to</a:t>
            </a:r>
            <a:r>
              <a:rPr sz="1800" spc="114"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web</a:t>
            </a:r>
            <a:r>
              <a:rPr sz="1800" spc="9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application,</a:t>
            </a:r>
            <a:r>
              <a:rPr sz="1800" spc="1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114"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enable</a:t>
            </a:r>
            <a:r>
              <a:rPr sz="1800" spc="9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systematic</a:t>
            </a:r>
            <a:r>
              <a:rPr sz="1800" spc="114"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switching</a:t>
            </a:r>
            <a:r>
              <a:rPr sz="1800" spc="114"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along </a:t>
            </a:r>
            <a:r>
              <a:rPr sz="1800" dirty="0">
                <a:latin typeface="Times New Roman" panose="02020603050405020304" pitchFamily="18" charset="0"/>
                <a:cs typeface="Times New Roman" panose="02020603050405020304" pitchFamily="18" charset="0"/>
              </a:rPr>
              <a:t>with</a:t>
            </a:r>
            <a:r>
              <a:rPr sz="1800" spc="2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progressive</a:t>
            </a:r>
            <a:r>
              <a:rPr sz="1800" spc="2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dimming</a:t>
            </a:r>
            <a:r>
              <a:rPr sz="1800" spc="2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based</a:t>
            </a:r>
            <a:r>
              <a:rPr sz="1800" spc="2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on</a:t>
            </a:r>
            <a:r>
              <a:rPr sz="1800" spc="2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vehicle</a:t>
            </a:r>
            <a:r>
              <a:rPr sz="1800" spc="254"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movement.</a:t>
            </a:r>
            <a:r>
              <a:rPr sz="1800" spc="2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2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proposed</a:t>
            </a:r>
            <a:r>
              <a:rPr sz="1800" spc="2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system</a:t>
            </a:r>
            <a:r>
              <a:rPr sz="1800" spc="2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ensures</a:t>
            </a:r>
            <a:r>
              <a:rPr sz="1800" spc="2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quick</a:t>
            </a:r>
            <a:r>
              <a:rPr sz="1800" spc="2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maintenance,</a:t>
            </a:r>
            <a:r>
              <a:rPr sz="1800" spc="254"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reduced</a:t>
            </a:r>
            <a:r>
              <a:rPr sz="1800" spc="25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human </a:t>
            </a:r>
            <a:r>
              <a:rPr sz="1800" dirty="0">
                <a:latin typeface="Times New Roman" panose="02020603050405020304" pitchFamily="18" charset="0"/>
                <a:cs typeface="Times New Roman" panose="02020603050405020304" pitchFamily="18" charset="0"/>
              </a:rPr>
              <a:t>intervention,</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significant</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energy</a:t>
            </a:r>
            <a:r>
              <a:rPr sz="1800" spc="-4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savings.</a:t>
            </a:r>
            <a:endParaRPr sz="1800" dirty="0">
              <a:latin typeface="Times New Roman" panose="02020603050405020304" pitchFamily="18" charset="0"/>
              <a:cs typeface="Times New Roman" panose="02020603050405020304" pitchFamily="18" charset="0"/>
            </a:endParaRPr>
          </a:p>
        </p:txBody>
      </p:sp>
      <p:sp>
        <p:nvSpPr>
          <p:cNvPr id="3" name="object 3"/>
          <p:cNvSpPr/>
          <p:nvPr/>
        </p:nvSpPr>
        <p:spPr>
          <a:xfrm>
            <a:off x="0"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dirty="0"/>
          </a:p>
        </p:txBody>
      </p:sp>
      <p:sp>
        <p:nvSpPr>
          <p:cNvPr id="4" name="object 4"/>
          <p:cNvSpPr txBox="1">
            <a:spLocks noGrp="1"/>
          </p:cNvSpPr>
          <p:nvPr>
            <p:ph type="title"/>
          </p:nvPr>
        </p:nvSpPr>
        <p:spPr>
          <a:xfrm>
            <a:off x="0" y="38"/>
            <a:ext cx="7381875" cy="596900"/>
          </a:xfrm>
          <a:prstGeom prst="rect">
            <a:avLst/>
          </a:prstGeom>
          <a:ln w="12700">
            <a:solidFill>
              <a:srgbClr val="FF0000"/>
            </a:solidFill>
          </a:ln>
        </p:spPr>
        <p:txBody>
          <a:bodyPr vert="horz" wrap="square" lIns="0" tIns="61594" rIns="0" bIns="0" rtlCol="0">
            <a:spAutoFit/>
          </a:bodyPr>
          <a:lstStyle/>
          <a:p>
            <a:pPr algn="ctr">
              <a:lnSpc>
                <a:spcPct val="100000"/>
              </a:lnSpc>
              <a:spcBef>
                <a:spcPts val="484"/>
              </a:spcBef>
            </a:pPr>
            <a:r>
              <a:rPr spc="-10" dirty="0"/>
              <a:t>Bhujbal</a:t>
            </a:r>
            <a:r>
              <a:rPr spc="-80" dirty="0"/>
              <a:t> </a:t>
            </a:r>
            <a:r>
              <a:rPr spc="-30" dirty="0"/>
              <a:t>Knowledge</a:t>
            </a:r>
            <a:r>
              <a:rPr spc="-114" dirty="0"/>
              <a:t> </a:t>
            </a:r>
            <a:r>
              <a:rPr spc="-20" dirty="0"/>
              <a:t>City</a:t>
            </a:r>
          </a:p>
        </p:txBody>
      </p:sp>
      <p:grpSp>
        <p:nvGrpSpPr>
          <p:cNvPr id="5" name="object 5"/>
          <p:cNvGrpSpPr/>
          <p:nvPr/>
        </p:nvGrpSpPr>
        <p:grpSpPr>
          <a:xfrm>
            <a:off x="93469" y="-6350"/>
            <a:ext cx="12091670" cy="609600"/>
            <a:chOff x="93469" y="-6350"/>
            <a:chExt cx="12091670" cy="609600"/>
          </a:xfrm>
        </p:grpSpPr>
        <p:sp>
          <p:nvSpPr>
            <p:cNvPr id="6" name="object 6"/>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dirty="0"/>
            </a:p>
          </p:txBody>
        </p:sp>
        <p:sp>
          <p:nvSpPr>
            <p:cNvPr id="7" name="object 7"/>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dirty="0"/>
            </a:p>
          </p:txBody>
        </p:sp>
        <p:pic>
          <p:nvPicPr>
            <p:cNvPr id="8" name="object 8"/>
            <p:cNvPicPr/>
            <p:nvPr/>
          </p:nvPicPr>
          <p:blipFill>
            <a:blip r:embed="rId2" cstate="print"/>
            <a:stretch>
              <a:fillRect/>
            </a:stretch>
          </p:blipFill>
          <p:spPr>
            <a:xfrm>
              <a:off x="93469" y="60058"/>
              <a:ext cx="966698" cy="476135"/>
            </a:xfrm>
            <a:prstGeom prst="rect">
              <a:avLst/>
            </a:prstGeom>
          </p:spPr>
        </p:pic>
        <p:sp>
          <p:nvSpPr>
            <p:cNvPr id="9" name="object 9"/>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dirty="0"/>
            </a:p>
          </p:txBody>
        </p:sp>
        <p:sp>
          <p:nvSpPr>
            <p:cNvPr id="10" name="object 10"/>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dirty="0"/>
            </a:p>
          </p:txBody>
        </p:sp>
        <p:sp>
          <p:nvSpPr>
            <p:cNvPr id="11" name="object 11"/>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dirty="0"/>
            </a:p>
          </p:txBody>
        </p:sp>
        <p:sp>
          <p:nvSpPr>
            <p:cNvPr id="12" name="object 12"/>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dirty="0"/>
            </a:p>
          </p:txBody>
        </p:sp>
      </p:grpSp>
      <p:sp>
        <p:nvSpPr>
          <p:cNvPr id="13" name="object 13"/>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dirty="0">
              <a:latin typeface="Cambria"/>
              <a:cs typeface="Cambria"/>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3</a:t>
            </a:fld>
            <a:endParaRPr spc="-50" dirty="0"/>
          </a:p>
        </p:txBody>
      </p:sp>
      <p:sp>
        <p:nvSpPr>
          <p:cNvPr id="14" name="object 14"/>
          <p:cNvSpPr txBox="1"/>
          <p:nvPr/>
        </p:nvSpPr>
        <p:spPr>
          <a:xfrm>
            <a:off x="277469" y="4990338"/>
            <a:ext cx="58553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pitchFamily="18" charset="0"/>
                <a:cs typeface="Times New Roman" panose="02020603050405020304" pitchFamily="18" charset="0"/>
              </a:rPr>
              <a:t>Keywords:</a:t>
            </a:r>
            <a:r>
              <a:rPr sz="1800" b="1"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Fault</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Detection,</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Smart</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Streetlight,</a:t>
            </a:r>
            <a:r>
              <a:rPr sz="1800" spc="-45" dirty="0">
                <a:latin typeface="Times New Roman" panose="02020603050405020304" pitchFamily="18" charset="0"/>
                <a:cs typeface="Times New Roman" panose="02020603050405020304" pitchFamily="18" charset="0"/>
              </a:rPr>
              <a:t> IoT,</a:t>
            </a:r>
            <a:r>
              <a:rPr sz="1800" spc="-11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Automation</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745482" y="728598"/>
            <a:ext cx="2950718" cy="443070"/>
          </a:xfrm>
          <a:prstGeom prst="rect">
            <a:avLst/>
          </a:prstGeom>
        </p:spPr>
        <p:txBody>
          <a:bodyPr vert="horz" wrap="square" lIns="0" tIns="12065" rIns="0" bIns="0" rtlCol="0">
            <a:spAutoFit/>
          </a:bodyPr>
          <a:lstStyle/>
          <a:p>
            <a:pPr marL="12700">
              <a:lnSpc>
                <a:spcPct val="100000"/>
              </a:lnSpc>
              <a:spcBef>
                <a:spcPts val="95"/>
              </a:spcBef>
            </a:pPr>
            <a:r>
              <a:rPr sz="2800" b="1" spc="-30" dirty="0">
                <a:latin typeface="Times New Roman" panose="02020603050405020304" pitchFamily="18" charset="0"/>
                <a:cs typeface="Times New Roman" panose="02020603050405020304" pitchFamily="18" charset="0"/>
              </a:rPr>
              <a:t>Problem</a:t>
            </a:r>
            <a:r>
              <a:rPr sz="2800" b="1" spc="-114" dirty="0">
                <a:latin typeface="Times New Roman" panose="02020603050405020304" pitchFamily="18" charset="0"/>
                <a:cs typeface="Times New Roman" panose="02020603050405020304" pitchFamily="18" charset="0"/>
              </a:rPr>
              <a:t> </a:t>
            </a:r>
            <a:r>
              <a:rPr sz="2800" b="1" spc="-25" dirty="0">
                <a:latin typeface="Times New Roman" panose="02020603050405020304" pitchFamily="18" charset="0"/>
                <a:cs typeface="Times New Roman" panose="02020603050405020304" pitchFamily="18" charset="0"/>
              </a:rPr>
              <a:t>Statement</a:t>
            </a:r>
            <a:endParaRPr sz="2800" b="1" dirty="0">
              <a:latin typeface="Times New Roman" panose="02020603050405020304" pitchFamily="18" charset="0"/>
              <a:cs typeface="Times New Roman" panose="02020603050405020304" pitchFamily="18" charset="0"/>
            </a:endParaRPr>
          </a:p>
        </p:txBody>
      </p:sp>
      <p:sp>
        <p:nvSpPr>
          <p:cNvPr id="3" name="object 3"/>
          <p:cNvSpPr/>
          <p:nvPr/>
        </p:nvSpPr>
        <p:spPr>
          <a:xfrm>
            <a:off x="0"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dirty="0"/>
          </a:p>
        </p:txBody>
      </p:sp>
      <p:sp>
        <p:nvSpPr>
          <p:cNvPr id="4" name="object 4"/>
          <p:cNvSpPr txBox="1">
            <a:spLocks noGrp="1"/>
          </p:cNvSpPr>
          <p:nvPr>
            <p:ph type="title"/>
          </p:nvPr>
        </p:nvSpPr>
        <p:spPr>
          <a:xfrm>
            <a:off x="0" y="38"/>
            <a:ext cx="7381875" cy="596900"/>
          </a:xfrm>
          <a:prstGeom prst="rect">
            <a:avLst/>
          </a:prstGeom>
          <a:ln w="12700">
            <a:solidFill>
              <a:srgbClr val="FF0000"/>
            </a:solidFill>
          </a:ln>
        </p:spPr>
        <p:txBody>
          <a:bodyPr vert="horz" wrap="square" lIns="0" tIns="61594" rIns="0" bIns="0" rtlCol="0">
            <a:spAutoFit/>
          </a:bodyPr>
          <a:lstStyle/>
          <a:p>
            <a:pPr algn="ctr">
              <a:lnSpc>
                <a:spcPct val="100000"/>
              </a:lnSpc>
              <a:spcBef>
                <a:spcPts val="484"/>
              </a:spcBef>
            </a:pPr>
            <a:r>
              <a:rPr spc="-10" dirty="0"/>
              <a:t>Bhujbal</a:t>
            </a:r>
            <a:r>
              <a:rPr spc="-80" dirty="0"/>
              <a:t> </a:t>
            </a:r>
            <a:r>
              <a:rPr spc="-30" dirty="0"/>
              <a:t>Knowledge</a:t>
            </a:r>
            <a:r>
              <a:rPr spc="-114" dirty="0"/>
              <a:t> </a:t>
            </a:r>
            <a:r>
              <a:rPr spc="-20" dirty="0"/>
              <a:t>City</a:t>
            </a:r>
          </a:p>
        </p:txBody>
      </p:sp>
      <p:grpSp>
        <p:nvGrpSpPr>
          <p:cNvPr id="5" name="object 5"/>
          <p:cNvGrpSpPr/>
          <p:nvPr/>
        </p:nvGrpSpPr>
        <p:grpSpPr>
          <a:xfrm>
            <a:off x="93469" y="-6350"/>
            <a:ext cx="12091670" cy="609600"/>
            <a:chOff x="93469" y="-6350"/>
            <a:chExt cx="12091670" cy="609600"/>
          </a:xfrm>
        </p:grpSpPr>
        <p:sp>
          <p:nvSpPr>
            <p:cNvPr id="6" name="object 6"/>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dirty="0"/>
            </a:p>
          </p:txBody>
        </p:sp>
        <p:sp>
          <p:nvSpPr>
            <p:cNvPr id="7" name="object 7"/>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dirty="0"/>
            </a:p>
          </p:txBody>
        </p:sp>
        <p:pic>
          <p:nvPicPr>
            <p:cNvPr id="8" name="object 8"/>
            <p:cNvPicPr/>
            <p:nvPr/>
          </p:nvPicPr>
          <p:blipFill>
            <a:blip r:embed="rId2" cstate="print"/>
            <a:stretch>
              <a:fillRect/>
            </a:stretch>
          </p:blipFill>
          <p:spPr>
            <a:xfrm>
              <a:off x="93469" y="60058"/>
              <a:ext cx="966698" cy="476135"/>
            </a:xfrm>
            <a:prstGeom prst="rect">
              <a:avLst/>
            </a:prstGeom>
          </p:spPr>
        </p:pic>
        <p:sp>
          <p:nvSpPr>
            <p:cNvPr id="9" name="object 9"/>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dirty="0"/>
            </a:p>
          </p:txBody>
        </p:sp>
        <p:sp>
          <p:nvSpPr>
            <p:cNvPr id="10" name="object 10"/>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dirty="0"/>
            </a:p>
          </p:txBody>
        </p:sp>
        <p:sp>
          <p:nvSpPr>
            <p:cNvPr id="11" name="object 11"/>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dirty="0"/>
            </a:p>
          </p:txBody>
        </p:sp>
        <p:sp>
          <p:nvSpPr>
            <p:cNvPr id="12" name="object 12"/>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dirty="0"/>
            </a:p>
          </p:txBody>
        </p:sp>
      </p:grpSp>
      <p:sp>
        <p:nvSpPr>
          <p:cNvPr id="13" name="object 13"/>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dirty="0">
              <a:latin typeface="Cambria"/>
              <a:cs typeface="Cambria"/>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4</a:t>
            </a:fld>
            <a:endParaRPr spc="-50" dirty="0"/>
          </a:p>
        </p:txBody>
      </p:sp>
      <p:sp>
        <p:nvSpPr>
          <p:cNvPr id="14" name="object 14"/>
          <p:cNvSpPr txBox="1"/>
          <p:nvPr/>
        </p:nvSpPr>
        <p:spPr>
          <a:xfrm>
            <a:off x="277469" y="1538731"/>
            <a:ext cx="11637645" cy="1259840"/>
          </a:xfrm>
          <a:prstGeom prst="rect">
            <a:avLst/>
          </a:prstGeom>
        </p:spPr>
        <p:txBody>
          <a:bodyPr vert="horz" wrap="square" lIns="0" tIns="12700" rIns="0" bIns="0" rtlCol="0">
            <a:spAutoFit/>
          </a:bodyPr>
          <a:lstStyle/>
          <a:p>
            <a:pPr marL="299085" marR="5080" indent="-287020" algn="just">
              <a:lnSpc>
                <a:spcPct val="150000"/>
              </a:lnSpc>
              <a:spcBef>
                <a:spcPts val="100"/>
              </a:spcBef>
              <a:buFont typeface="Arial MT"/>
              <a:buChar char="•"/>
              <a:tabLst>
                <a:tab pos="299085" algn="l"/>
              </a:tabLst>
            </a:pPr>
            <a:r>
              <a:rPr sz="1800" dirty="0">
                <a:latin typeface="Times New Roman"/>
                <a:cs typeface="Times New Roman"/>
              </a:rPr>
              <a:t>Conventional</a:t>
            </a:r>
            <a:r>
              <a:rPr sz="1800" spc="320" dirty="0">
                <a:latin typeface="Times New Roman"/>
                <a:cs typeface="Times New Roman"/>
              </a:rPr>
              <a:t> </a:t>
            </a:r>
            <a:r>
              <a:rPr sz="1800" dirty="0">
                <a:latin typeface="Times New Roman"/>
                <a:cs typeface="Times New Roman"/>
              </a:rPr>
              <a:t>streetlights</a:t>
            </a:r>
            <a:r>
              <a:rPr sz="1800" spc="330" dirty="0">
                <a:latin typeface="Times New Roman"/>
                <a:cs typeface="Times New Roman"/>
              </a:rPr>
              <a:t> </a:t>
            </a:r>
            <a:r>
              <a:rPr sz="1800" dirty="0">
                <a:latin typeface="Times New Roman"/>
                <a:cs typeface="Times New Roman"/>
              </a:rPr>
              <a:t>waste</a:t>
            </a:r>
            <a:r>
              <a:rPr sz="1800" spc="320" dirty="0">
                <a:latin typeface="Times New Roman"/>
                <a:cs typeface="Times New Roman"/>
              </a:rPr>
              <a:t> </a:t>
            </a:r>
            <a:r>
              <a:rPr sz="1800" dirty="0">
                <a:latin typeface="Times New Roman"/>
                <a:cs typeface="Times New Roman"/>
              </a:rPr>
              <a:t>energy</a:t>
            </a:r>
            <a:r>
              <a:rPr sz="1800" spc="345" dirty="0">
                <a:latin typeface="Times New Roman"/>
                <a:cs typeface="Times New Roman"/>
              </a:rPr>
              <a:t> </a:t>
            </a:r>
            <a:r>
              <a:rPr sz="1800" dirty="0">
                <a:latin typeface="Times New Roman"/>
                <a:cs typeface="Times New Roman"/>
              </a:rPr>
              <a:t>by</a:t>
            </a:r>
            <a:r>
              <a:rPr sz="1800" spc="330" dirty="0">
                <a:latin typeface="Times New Roman"/>
                <a:cs typeface="Times New Roman"/>
              </a:rPr>
              <a:t> </a:t>
            </a:r>
            <a:r>
              <a:rPr sz="1800" dirty="0">
                <a:latin typeface="Times New Roman"/>
                <a:cs typeface="Times New Roman"/>
              </a:rPr>
              <a:t>staying</a:t>
            </a:r>
            <a:r>
              <a:rPr sz="1800" spc="335" dirty="0">
                <a:latin typeface="Times New Roman"/>
                <a:cs typeface="Times New Roman"/>
              </a:rPr>
              <a:t> </a:t>
            </a:r>
            <a:r>
              <a:rPr sz="1800" dirty="0">
                <a:latin typeface="Times New Roman"/>
                <a:cs typeface="Times New Roman"/>
              </a:rPr>
              <a:t>ON</a:t>
            </a:r>
            <a:r>
              <a:rPr sz="1800" spc="320" dirty="0">
                <a:latin typeface="Times New Roman"/>
                <a:cs typeface="Times New Roman"/>
              </a:rPr>
              <a:t> </a:t>
            </a:r>
            <a:r>
              <a:rPr sz="1800" dirty="0">
                <a:latin typeface="Times New Roman"/>
                <a:cs typeface="Times New Roman"/>
              </a:rPr>
              <a:t>at</a:t>
            </a:r>
            <a:r>
              <a:rPr sz="1800" spc="320" dirty="0">
                <a:latin typeface="Times New Roman"/>
                <a:cs typeface="Times New Roman"/>
              </a:rPr>
              <a:t> </a:t>
            </a:r>
            <a:r>
              <a:rPr sz="1800" dirty="0">
                <a:latin typeface="Times New Roman"/>
                <a:cs typeface="Times New Roman"/>
              </a:rPr>
              <a:t>full</a:t>
            </a:r>
            <a:r>
              <a:rPr sz="1800" spc="320" dirty="0">
                <a:latin typeface="Times New Roman"/>
                <a:cs typeface="Times New Roman"/>
              </a:rPr>
              <a:t> </a:t>
            </a:r>
            <a:r>
              <a:rPr sz="1800" dirty="0">
                <a:latin typeface="Times New Roman"/>
                <a:cs typeface="Times New Roman"/>
              </a:rPr>
              <a:t>brightness</a:t>
            </a:r>
            <a:r>
              <a:rPr sz="1800" spc="325" dirty="0">
                <a:latin typeface="Times New Roman"/>
                <a:cs typeface="Times New Roman"/>
              </a:rPr>
              <a:t> </a:t>
            </a:r>
            <a:r>
              <a:rPr sz="1800" dirty="0">
                <a:latin typeface="Times New Roman"/>
                <a:cs typeface="Times New Roman"/>
              </a:rPr>
              <a:t>all</a:t>
            </a:r>
            <a:r>
              <a:rPr sz="1800" spc="340" dirty="0">
                <a:latin typeface="Times New Roman"/>
                <a:cs typeface="Times New Roman"/>
              </a:rPr>
              <a:t> </a:t>
            </a:r>
            <a:r>
              <a:rPr sz="1800" dirty="0">
                <a:latin typeface="Times New Roman"/>
                <a:cs typeface="Times New Roman"/>
              </a:rPr>
              <a:t>night</a:t>
            </a:r>
            <a:r>
              <a:rPr sz="1800" spc="335" dirty="0">
                <a:latin typeface="Times New Roman"/>
                <a:cs typeface="Times New Roman"/>
              </a:rPr>
              <a:t> </a:t>
            </a:r>
            <a:r>
              <a:rPr sz="1800" dirty="0">
                <a:latin typeface="Times New Roman"/>
                <a:cs typeface="Times New Roman"/>
              </a:rPr>
              <a:t>and</a:t>
            </a:r>
            <a:r>
              <a:rPr sz="1800" spc="325" dirty="0">
                <a:latin typeface="Times New Roman"/>
                <a:cs typeface="Times New Roman"/>
              </a:rPr>
              <a:t> </a:t>
            </a:r>
            <a:r>
              <a:rPr sz="1800" dirty="0">
                <a:latin typeface="Times New Roman"/>
                <a:cs typeface="Times New Roman"/>
              </a:rPr>
              <a:t>require</a:t>
            </a:r>
            <a:r>
              <a:rPr sz="1800" spc="325" dirty="0">
                <a:latin typeface="Times New Roman"/>
                <a:cs typeface="Times New Roman"/>
              </a:rPr>
              <a:t> </a:t>
            </a:r>
            <a:r>
              <a:rPr sz="1800" dirty="0">
                <a:latin typeface="Times New Roman"/>
                <a:cs typeface="Times New Roman"/>
              </a:rPr>
              <a:t>manual</a:t>
            </a:r>
            <a:r>
              <a:rPr sz="1800" spc="340" dirty="0">
                <a:latin typeface="Times New Roman"/>
                <a:cs typeface="Times New Roman"/>
              </a:rPr>
              <a:t> </a:t>
            </a:r>
            <a:r>
              <a:rPr sz="1800" dirty="0">
                <a:latin typeface="Times New Roman"/>
                <a:cs typeface="Times New Roman"/>
              </a:rPr>
              <a:t>fault</a:t>
            </a:r>
            <a:r>
              <a:rPr sz="1800" spc="320" dirty="0">
                <a:latin typeface="Times New Roman"/>
                <a:cs typeface="Times New Roman"/>
              </a:rPr>
              <a:t> </a:t>
            </a:r>
            <a:r>
              <a:rPr sz="1800" spc="-10" dirty="0">
                <a:latin typeface="Times New Roman"/>
                <a:cs typeface="Times New Roman"/>
              </a:rPr>
              <a:t>detection, </a:t>
            </a:r>
            <a:r>
              <a:rPr sz="1800" dirty="0">
                <a:latin typeface="Times New Roman"/>
                <a:cs typeface="Times New Roman"/>
              </a:rPr>
              <a:t>causing</a:t>
            </a:r>
            <a:r>
              <a:rPr sz="1800" spc="114" dirty="0">
                <a:latin typeface="Times New Roman"/>
                <a:cs typeface="Times New Roman"/>
              </a:rPr>
              <a:t> </a:t>
            </a:r>
            <a:r>
              <a:rPr sz="1800" dirty="0">
                <a:latin typeface="Times New Roman"/>
                <a:cs typeface="Times New Roman"/>
              </a:rPr>
              <a:t>delays</a:t>
            </a:r>
            <a:r>
              <a:rPr sz="1800" spc="120" dirty="0">
                <a:latin typeface="Times New Roman"/>
                <a:cs typeface="Times New Roman"/>
              </a:rPr>
              <a:t> </a:t>
            </a:r>
            <a:r>
              <a:rPr sz="1800" dirty="0">
                <a:latin typeface="Times New Roman"/>
                <a:cs typeface="Times New Roman"/>
              </a:rPr>
              <a:t>in</a:t>
            </a:r>
            <a:r>
              <a:rPr sz="1800" spc="120" dirty="0">
                <a:latin typeface="Times New Roman"/>
                <a:cs typeface="Times New Roman"/>
              </a:rPr>
              <a:t> </a:t>
            </a:r>
            <a:r>
              <a:rPr sz="1800" dirty="0">
                <a:latin typeface="Times New Roman"/>
                <a:cs typeface="Times New Roman"/>
              </a:rPr>
              <a:t>maintenance.</a:t>
            </a:r>
            <a:r>
              <a:rPr sz="1800" spc="105" dirty="0">
                <a:latin typeface="Times New Roman"/>
                <a:cs typeface="Times New Roman"/>
              </a:rPr>
              <a:t> </a:t>
            </a:r>
            <a:r>
              <a:rPr sz="1800" dirty="0">
                <a:latin typeface="Times New Roman"/>
                <a:cs typeface="Times New Roman"/>
              </a:rPr>
              <a:t>There</a:t>
            </a:r>
            <a:r>
              <a:rPr sz="1800" spc="114" dirty="0">
                <a:latin typeface="Times New Roman"/>
                <a:cs typeface="Times New Roman"/>
              </a:rPr>
              <a:t> </a:t>
            </a:r>
            <a:r>
              <a:rPr sz="1800" dirty="0">
                <a:latin typeface="Times New Roman"/>
                <a:cs typeface="Times New Roman"/>
              </a:rPr>
              <a:t>is</a:t>
            </a:r>
            <a:r>
              <a:rPr sz="1800" spc="120" dirty="0">
                <a:latin typeface="Times New Roman"/>
                <a:cs typeface="Times New Roman"/>
              </a:rPr>
              <a:t> </a:t>
            </a:r>
            <a:r>
              <a:rPr sz="1800" dirty="0">
                <a:latin typeface="Times New Roman"/>
                <a:cs typeface="Times New Roman"/>
              </a:rPr>
              <a:t>a</a:t>
            </a:r>
            <a:r>
              <a:rPr sz="1800" spc="125" dirty="0">
                <a:latin typeface="Times New Roman"/>
                <a:cs typeface="Times New Roman"/>
              </a:rPr>
              <a:t> </a:t>
            </a:r>
            <a:r>
              <a:rPr sz="1800" dirty="0">
                <a:latin typeface="Times New Roman"/>
                <a:cs typeface="Times New Roman"/>
              </a:rPr>
              <a:t>need</a:t>
            </a:r>
            <a:r>
              <a:rPr sz="1800" spc="114" dirty="0">
                <a:latin typeface="Times New Roman"/>
                <a:cs typeface="Times New Roman"/>
              </a:rPr>
              <a:t> </a:t>
            </a:r>
            <a:r>
              <a:rPr sz="1800" dirty="0">
                <a:latin typeface="Times New Roman"/>
                <a:cs typeface="Times New Roman"/>
              </a:rPr>
              <a:t>for</a:t>
            </a:r>
            <a:r>
              <a:rPr sz="1800" spc="125" dirty="0">
                <a:latin typeface="Times New Roman"/>
                <a:cs typeface="Times New Roman"/>
              </a:rPr>
              <a:t> </a:t>
            </a:r>
            <a:r>
              <a:rPr sz="1800" dirty="0">
                <a:latin typeface="Times New Roman"/>
                <a:cs typeface="Times New Roman"/>
              </a:rPr>
              <a:t>an</a:t>
            </a:r>
            <a:r>
              <a:rPr sz="1800" spc="114" dirty="0">
                <a:latin typeface="Times New Roman"/>
                <a:cs typeface="Times New Roman"/>
              </a:rPr>
              <a:t> </a:t>
            </a:r>
            <a:r>
              <a:rPr sz="1800" dirty="0">
                <a:latin typeface="Times New Roman"/>
                <a:cs typeface="Times New Roman"/>
              </a:rPr>
              <a:t>automated</a:t>
            </a:r>
            <a:r>
              <a:rPr sz="1800" spc="120" dirty="0">
                <a:latin typeface="Times New Roman"/>
                <a:cs typeface="Times New Roman"/>
              </a:rPr>
              <a:t> </a:t>
            </a:r>
            <a:r>
              <a:rPr sz="1800" spc="-55" dirty="0">
                <a:latin typeface="Times New Roman"/>
                <a:cs typeface="Times New Roman"/>
              </a:rPr>
              <a:t>IoT-</a:t>
            </a:r>
            <a:r>
              <a:rPr sz="1800" dirty="0">
                <a:latin typeface="Times New Roman"/>
                <a:cs typeface="Times New Roman"/>
              </a:rPr>
              <a:t>based</a:t>
            </a:r>
            <a:r>
              <a:rPr sz="1800" spc="125" dirty="0">
                <a:latin typeface="Times New Roman"/>
                <a:cs typeface="Times New Roman"/>
              </a:rPr>
              <a:t> </a:t>
            </a:r>
            <a:r>
              <a:rPr sz="1800" dirty="0">
                <a:latin typeface="Times New Roman"/>
                <a:cs typeface="Times New Roman"/>
              </a:rPr>
              <a:t>system</a:t>
            </a:r>
            <a:r>
              <a:rPr sz="1800" spc="105" dirty="0">
                <a:latin typeface="Times New Roman"/>
                <a:cs typeface="Times New Roman"/>
              </a:rPr>
              <a:t> </a:t>
            </a:r>
            <a:r>
              <a:rPr sz="1800" dirty="0">
                <a:latin typeface="Times New Roman"/>
                <a:cs typeface="Times New Roman"/>
              </a:rPr>
              <a:t>that</a:t>
            </a:r>
            <a:r>
              <a:rPr sz="1800" spc="114" dirty="0">
                <a:latin typeface="Times New Roman"/>
                <a:cs typeface="Times New Roman"/>
              </a:rPr>
              <a:t> </a:t>
            </a:r>
            <a:r>
              <a:rPr sz="1800" dirty="0">
                <a:latin typeface="Times New Roman"/>
                <a:cs typeface="Times New Roman"/>
              </a:rPr>
              <a:t>enables</a:t>
            </a:r>
            <a:r>
              <a:rPr sz="1800" spc="114" dirty="0">
                <a:latin typeface="Times New Roman"/>
                <a:cs typeface="Times New Roman"/>
              </a:rPr>
              <a:t> </a:t>
            </a:r>
            <a:r>
              <a:rPr sz="1800" spc="-10" dirty="0">
                <a:latin typeface="Times New Roman"/>
                <a:cs typeface="Times New Roman"/>
              </a:rPr>
              <a:t>real-</a:t>
            </a:r>
            <a:r>
              <a:rPr sz="1800" dirty="0">
                <a:latin typeface="Times New Roman"/>
                <a:cs typeface="Times New Roman"/>
              </a:rPr>
              <a:t>time</a:t>
            </a:r>
            <a:r>
              <a:rPr sz="1800" spc="120" dirty="0">
                <a:latin typeface="Times New Roman"/>
                <a:cs typeface="Times New Roman"/>
              </a:rPr>
              <a:t> </a:t>
            </a:r>
            <a:r>
              <a:rPr sz="1800" dirty="0">
                <a:latin typeface="Times New Roman"/>
                <a:cs typeface="Times New Roman"/>
              </a:rPr>
              <a:t>fault</a:t>
            </a:r>
            <a:r>
              <a:rPr sz="1800" spc="130" dirty="0">
                <a:latin typeface="Times New Roman"/>
                <a:cs typeface="Times New Roman"/>
              </a:rPr>
              <a:t> </a:t>
            </a:r>
            <a:r>
              <a:rPr sz="1800" spc="-10" dirty="0">
                <a:latin typeface="Times New Roman"/>
                <a:cs typeface="Times New Roman"/>
              </a:rPr>
              <a:t>detection, </a:t>
            </a:r>
            <a:r>
              <a:rPr sz="1800" dirty="0">
                <a:latin typeface="Times New Roman"/>
                <a:cs typeface="Times New Roman"/>
              </a:rPr>
              <a:t>adaptive</a:t>
            </a:r>
            <a:r>
              <a:rPr sz="1800" spc="-40" dirty="0">
                <a:latin typeface="Times New Roman"/>
                <a:cs typeface="Times New Roman"/>
              </a:rPr>
              <a:t> </a:t>
            </a:r>
            <a:r>
              <a:rPr sz="1800" dirty="0">
                <a:latin typeface="Times New Roman"/>
                <a:cs typeface="Times New Roman"/>
              </a:rPr>
              <a:t>lighting</a:t>
            </a:r>
            <a:r>
              <a:rPr sz="1800" spc="-35" dirty="0">
                <a:latin typeface="Times New Roman"/>
                <a:cs typeface="Times New Roman"/>
              </a:rPr>
              <a:t> </a:t>
            </a:r>
            <a:r>
              <a:rPr sz="1800" dirty="0">
                <a:latin typeface="Times New Roman"/>
                <a:cs typeface="Times New Roman"/>
              </a:rPr>
              <a:t>control,</a:t>
            </a:r>
            <a:r>
              <a:rPr sz="1800" spc="-30" dirty="0">
                <a:latin typeface="Times New Roman"/>
                <a:cs typeface="Times New Roman"/>
              </a:rPr>
              <a:t> </a:t>
            </a:r>
            <a:r>
              <a:rPr sz="1800" dirty="0">
                <a:latin typeface="Times New Roman"/>
                <a:cs typeface="Times New Roman"/>
              </a:rPr>
              <a:t>and</a:t>
            </a:r>
            <a:r>
              <a:rPr sz="1800" spc="-25" dirty="0">
                <a:latin typeface="Times New Roman"/>
                <a:cs typeface="Times New Roman"/>
              </a:rPr>
              <a:t> </a:t>
            </a:r>
            <a:r>
              <a:rPr sz="1800" dirty="0">
                <a:latin typeface="Times New Roman"/>
                <a:cs typeface="Times New Roman"/>
              </a:rPr>
              <a:t>centralized</a:t>
            </a:r>
            <a:r>
              <a:rPr sz="1800" spc="-45" dirty="0">
                <a:latin typeface="Times New Roman"/>
                <a:cs typeface="Times New Roman"/>
              </a:rPr>
              <a:t> </a:t>
            </a:r>
            <a:r>
              <a:rPr sz="1800" dirty="0">
                <a:latin typeface="Times New Roman"/>
                <a:cs typeface="Times New Roman"/>
              </a:rPr>
              <a:t>monitoring</a:t>
            </a:r>
            <a:r>
              <a:rPr sz="1800" spc="-20" dirty="0">
                <a:latin typeface="Times New Roman"/>
                <a:cs typeface="Times New Roman"/>
              </a:rPr>
              <a:t> </a:t>
            </a:r>
            <a:r>
              <a:rPr sz="1800" dirty="0">
                <a:latin typeface="Times New Roman"/>
                <a:cs typeface="Times New Roman"/>
              </a:rPr>
              <a:t>through</a:t>
            </a:r>
            <a:r>
              <a:rPr sz="1800" spc="-25" dirty="0">
                <a:latin typeface="Times New Roman"/>
                <a:cs typeface="Times New Roman"/>
              </a:rPr>
              <a:t> </a:t>
            </a:r>
            <a:r>
              <a:rPr sz="1800" dirty="0">
                <a:latin typeface="Times New Roman"/>
                <a:cs typeface="Times New Roman"/>
              </a:rPr>
              <a:t>a</a:t>
            </a:r>
            <a:r>
              <a:rPr sz="1800" spc="-15" dirty="0">
                <a:latin typeface="Times New Roman"/>
                <a:cs typeface="Times New Roman"/>
              </a:rPr>
              <a:t> </a:t>
            </a:r>
            <a:r>
              <a:rPr sz="1800" dirty="0">
                <a:latin typeface="Times New Roman"/>
                <a:cs typeface="Times New Roman"/>
              </a:rPr>
              <a:t>web</a:t>
            </a:r>
            <a:r>
              <a:rPr sz="1800" spc="-25" dirty="0">
                <a:latin typeface="Times New Roman"/>
                <a:cs typeface="Times New Roman"/>
              </a:rPr>
              <a:t> </a:t>
            </a:r>
            <a:r>
              <a:rPr sz="1800" spc="-10" dirty="0">
                <a:latin typeface="Times New Roman"/>
                <a:cs typeface="Times New Roman"/>
              </a:rPr>
              <a:t>application.</a:t>
            </a:r>
            <a:endParaRPr sz="18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43809" y="756603"/>
            <a:ext cx="6904382" cy="596348"/>
          </a:xfrm>
        </p:spPr>
        <p:txBody>
          <a:bodyPr>
            <a:normAutofit/>
          </a:bodyPr>
          <a:lstStyle/>
          <a:p>
            <a:r>
              <a:rPr lang="en-US" sz="2800" dirty="0">
                <a:latin typeface="Times New Roman" panose="02020603050405020304" pitchFamily="18" charset="0"/>
                <a:ea typeface="Cambria" panose="02040503050406030204" pitchFamily="18" charset="0"/>
                <a:cs typeface="Times New Roman" panose="02020603050405020304" pitchFamily="18" charset="0"/>
              </a:rPr>
              <a:t>SS</a:t>
            </a:r>
            <a:r>
              <a:rPr lang="en-US" sz="28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System Architecture</a:t>
            </a:r>
            <a:endParaRPr lang="en-US" sz="28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951E325C-ACB6-4FD9-9704-F03537BCE14D}"/>
              </a:ext>
            </a:extLst>
          </p:cNvPr>
          <p:cNvSpPr/>
          <p:nvPr/>
        </p:nvSpPr>
        <p:spPr>
          <a:xfrm>
            <a:off x="0" y="0"/>
            <a:ext cx="7381461" cy="59634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Constantia" panose="02030602050306030303" pitchFamily="18" charset="0"/>
                <a:ea typeface="Cambria" panose="02040503050406030204" pitchFamily="18" charset="0"/>
              </a:rPr>
              <a:t>Bhujbal Knowledge City</a:t>
            </a:r>
            <a:endParaRPr lang="en-IN" sz="2800" b="1" dirty="0">
              <a:latin typeface="Constantia" panose="02030602050306030303" pitchFamily="18" charset="0"/>
              <a:ea typeface="Cambria" panose="02040503050406030204" pitchFamily="18" charset="0"/>
            </a:endParaRPr>
          </a:p>
        </p:txBody>
      </p:sp>
      <p:sp>
        <p:nvSpPr>
          <p:cNvPr id="5" name="Right Triangle 4">
            <a:extLst>
              <a:ext uri="{FF2B5EF4-FFF2-40B4-BE49-F238E27FC236}">
                <a16:creationId xmlns:a16="http://schemas.microsoft.com/office/drawing/2014/main" id="{89404FE0-0C97-4973-AC6A-134FA789619A}"/>
              </a:ext>
            </a:extLst>
          </p:cNvPr>
          <p:cNvSpPr/>
          <p:nvPr/>
        </p:nvSpPr>
        <p:spPr>
          <a:xfrm>
            <a:off x="7381461" y="0"/>
            <a:ext cx="980661" cy="596348"/>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a:extLst>
              <a:ext uri="{FF2B5EF4-FFF2-40B4-BE49-F238E27FC236}">
                <a16:creationId xmlns:a16="http://schemas.microsoft.com/office/drawing/2014/main" id="{5F5391B2-5D66-4E06-934B-20A107BF67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69" y="60103"/>
            <a:ext cx="966705" cy="476142"/>
          </a:xfrm>
          <a:prstGeom prst="rect">
            <a:avLst/>
          </a:prstGeom>
        </p:spPr>
      </p:pic>
      <p:sp>
        <p:nvSpPr>
          <p:cNvPr id="10" name="Right Triangle 9">
            <a:extLst>
              <a:ext uri="{FF2B5EF4-FFF2-40B4-BE49-F238E27FC236}">
                <a16:creationId xmlns:a16="http://schemas.microsoft.com/office/drawing/2014/main" id="{DAA8CFFB-AD4D-485C-9CCD-D52AF896BEF2}"/>
              </a:ext>
            </a:extLst>
          </p:cNvPr>
          <p:cNvSpPr/>
          <p:nvPr/>
        </p:nvSpPr>
        <p:spPr>
          <a:xfrm rot="10800000">
            <a:off x="7507357" y="-6624"/>
            <a:ext cx="980661" cy="596348"/>
          </a:xfrm>
          <a:prstGeom prst="r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FE4FE161-B494-4DF2-8CF5-734C79EDFC5C}"/>
              </a:ext>
            </a:extLst>
          </p:cNvPr>
          <p:cNvSpPr/>
          <p:nvPr/>
        </p:nvSpPr>
        <p:spPr>
          <a:xfrm>
            <a:off x="8488018" y="-6624"/>
            <a:ext cx="3690730" cy="596348"/>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mbria" panose="02040503050406030204" pitchFamily="18" charset="0"/>
                <a:ea typeface="Cambria" panose="02040503050406030204" pitchFamily="18" charset="0"/>
              </a:rPr>
              <a:t>Institute of Engineering</a:t>
            </a:r>
            <a:endParaRPr lang="en-IN" sz="2000" b="1" dirty="0">
              <a:solidFill>
                <a:schemeClr val="tx1"/>
              </a:solidFill>
              <a:latin typeface="Cambria" panose="02040503050406030204" pitchFamily="18" charset="0"/>
              <a:ea typeface="Cambria" panose="02040503050406030204" pitchFamily="18" charset="0"/>
            </a:endParaRPr>
          </a:p>
        </p:txBody>
      </p:sp>
      <p:sp>
        <p:nvSpPr>
          <p:cNvPr id="14" name="Title 1">
            <a:extLst>
              <a:ext uri="{FF2B5EF4-FFF2-40B4-BE49-F238E27FC236}">
                <a16:creationId xmlns:a16="http://schemas.microsoft.com/office/drawing/2014/main" id="{70BD8A59-C0C2-4D95-881A-C2404A3069C1}"/>
              </a:ext>
            </a:extLst>
          </p:cNvPr>
          <p:cNvSpPr txBox="1">
            <a:spLocks/>
          </p:cNvSpPr>
          <p:nvPr/>
        </p:nvSpPr>
        <p:spPr>
          <a:xfrm>
            <a:off x="198782" y="1323956"/>
            <a:ext cx="11834192" cy="535513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60000"/>
              </a:lnSpc>
            </a:pPr>
            <a:r>
              <a:rPr lang="en-US" sz="2000" kern="50" dirty="0">
                <a:effectLst/>
                <a:latin typeface="Cambria" panose="02040503050406030204" pitchFamily="18" charset="0"/>
                <a:ea typeface="Cambria" panose="02040503050406030204" pitchFamily="18" charset="0"/>
              </a:rPr>
              <a:t> </a:t>
            </a:r>
            <a:endParaRPr lang="en-IN" sz="2000" kern="50" dirty="0">
              <a:effectLst/>
              <a:latin typeface="Cambria" panose="02040503050406030204" pitchFamily="18" charset="0"/>
              <a:ea typeface="Cambria" panose="02040503050406030204" pitchFamily="18" charset="0"/>
            </a:endParaRPr>
          </a:p>
        </p:txBody>
      </p:sp>
      <p:sp>
        <p:nvSpPr>
          <p:cNvPr id="12" name="Footer Placeholder 11">
            <a:extLst>
              <a:ext uri="{FF2B5EF4-FFF2-40B4-BE49-F238E27FC236}">
                <a16:creationId xmlns:a16="http://schemas.microsoft.com/office/drawing/2014/main" id="{CFE00C79-89C9-8B95-DA68-81EF6BA2D5B2}"/>
              </a:ext>
            </a:extLst>
          </p:cNvPr>
          <p:cNvSpPr>
            <a:spLocks noGrp="1"/>
          </p:cNvSpPr>
          <p:nvPr>
            <p:ph type="ftr" sz="quarter" idx="11"/>
          </p:nvPr>
        </p:nvSpPr>
        <p:spPr/>
        <p:txBody>
          <a:bodyPr/>
          <a:lstStyle/>
          <a:p>
            <a:r>
              <a:rPr lang="en-US" dirty="0"/>
              <a:t>Department of Artificial Intelligence and Data Science</a:t>
            </a:r>
          </a:p>
        </p:txBody>
      </p:sp>
      <p:sp>
        <p:nvSpPr>
          <p:cNvPr id="13" name="Slide Number Placeholder 12">
            <a:extLst>
              <a:ext uri="{FF2B5EF4-FFF2-40B4-BE49-F238E27FC236}">
                <a16:creationId xmlns:a16="http://schemas.microsoft.com/office/drawing/2014/main" id="{CA711BD8-37C6-A74F-CD5E-85DB433E81D6}"/>
              </a:ext>
            </a:extLst>
          </p:cNvPr>
          <p:cNvSpPr>
            <a:spLocks noGrp="1"/>
          </p:cNvSpPr>
          <p:nvPr>
            <p:ph type="sldNum" sz="quarter" idx="12"/>
          </p:nvPr>
        </p:nvSpPr>
        <p:spPr/>
        <p:txBody>
          <a:bodyPr/>
          <a:lstStyle/>
          <a:p>
            <a:fld id="{9B618960-8005-486C-9A75-10CB2AAC16F9}" type="slidenum">
              <a:rPr lang="en-US" smtClean="0"/>
              <a:pPr/>
              <a:t>5</a:t>
            </a:fld>
            <a:endParaRPr lang="en-US" dirty="0"/>
          </a:p>
        </p:txBody>
      </p:sp>
      <p:sp>
        <p:nvSpPr>
          <p:cNvPr id="3" name="Rectangle 1">
            <a:extLst>
              <a:ext uri="{FF2B5EF4-FFF2-40B4-BE49-F238E27FC236}">
                <a16:creationId xmlns:a16="http://schemas.microsoft.com/office/drawing/2014/main" id="{67628800-DBF8-C1AF-E2CD-A073147689BB}"/>
              </a:ext>
            </a:extLst>
          </p:cNvPr>
          <p:cNvSpPr>
            <a:spLocks noGrp="1" noChangeArrowheads="1"/>
          </p:cNvSpPr>
          <p:nvPr>
            <p:ph type="subTitle" idx="1"/>
          </p:nvPr>
        </p:nvSpPr>
        <p:spPr bwMode="auto">
          <a:xfrm>
            <a:off x="457200" y="1722232"/>
            <a:ext cx="10058400" cy="4613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Street Light Sensors (LDR, PIR, Current, Voltage, Temperature, Vibration)</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ESP8266 Microcontroller</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Sensor Data Preprocessing &amp; Threshold Checking</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Fault Detection (OFF, DIM, FLICKERING, Overheating, Pole Damage)</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Transmission (Wi-Fi / MQTT / HTTP)</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Server (Firebase / Flask)</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Data &amp; Fault Database</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Fault Classification &amp; Status Update (ON, OFF, DIM, LOW/HIGH LIGHT)</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 Dashboard (Real-Time Monitoring)</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Control (ON/OFF, Dimming)</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Maintenance Alerts (Dashboard / Telegram)</a:t>
            </a:r>
          </a:p>
        </p:txBody>
      </p:sp>
    </p:spTree>
    <p:extLst>
      <p:ext uri="{BB962C8B-B14F-4D97-AF65-F5344CB8AC3E}">
        <p14:creationId xmlns:p14="http://schemas.microsoft.com/office/powerpoint/2010/main" val="3487492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7656A-416F-A0E1-9AA7-632E435A0D0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E8D1D454-1D0C-B908-7948-4DD3D7F689DA}"/>
              </a:ext>
            </a:extLst>
          </p:cNvPr>
          <p:cNvSpPr>
            <a:spLocks noGrp="1"/>
          </p:cNvSpPr>
          <p:nvPr>
            <p:ph type="title"/>
          </p:nvPr>
        </p:nvSpPr>
        <p:spPr/>
        <p:txBody>
          <a:bodyPr/>
          <a:lstStyle/>
          <a:p>
            <a:endParaRPr lang="en-IN" dirty="0"/>
          </a:p>
        </p:txBody>
      </p:sp>
      <p:sp>
        <p:nvSpPr>
          <p:cNvPr id="12" name="Footer Placeholder 11">
            <a:extLst>
              <a:ext uri="{FF2B5EF4-FFF2-40B4-BE49-F238E27FC236}">
                <a16:creationId xmlns:a16="http://schemas.microsoft.com/office/drawing/2014/main" id="{A4612E0F-56C2-C059-D4D8-9A6762530B9B}"/>
              </a:ext>
            </a:extLst>
          </p:cNvPr>
          <p:cNvSpPr>
            <a:spLocks noGrp="1"/>
          </p:cNvSpPr>
          <p:nvPr>
            <p:ph type="ftr" sz="quarter" idx="5"/>
          </p:nvPr>
        </p:nvSpPr>
        <p:spPr/>
        <p:txBody>
          <a:bodyPr/>
          <a:lstStyle/>
          <a:p>
            <a:r>
              <a:rPr lang="en-US" dirty="0"/>
              <a:t>Department of Artificial Intelligence and Data Science</a:t>
            </a:r>
          </a:p>
        </p:txBody>
      </p:sp>
      <p:sp>
        <p:nvSpPr>
          <p:cNvPr id="13" name="Slide Number Placeholder 12">
            <a:extLst>
              <a:ext uri="{FF2B5EF4-FFF2-40B4-BE49-F238E27FC236}">
                <a16:creationId xmlns:a16="http://schemas.microsoft.com/office/drawing/2014/main" id="{2130B488-0F95-B4CE-E5F6-7FE4DC2ED6EE}"/>
              </a:ext>
            </a:extLst>
          </p:cNvPr>
          <p:cNvSpPr>
            <a:spLocks noGrp="1"/>
          </p:cNvSpPr>
          <p:nvPr>
            <p:ph type="sldNum" sz="quarter" idx="7"/>
          </p:nvPr>
        </p:nvSpPr>
        <p:spPr/>
        <p:txBody>
          <a:bodyPr/>
          <a:lstStyle/>
          <a:p>
            <a:fld id="{9B618960-8005-486C-9A75-10CB2AAC16F9}" type="slidenum">
              <a:rPr lang="en-US" smtClean="0"/>
              <a:pPr/>
              <a:t>6</a:t>
            </a:fld>
            <a:endParaRPr lang="en-US" dirty="0"/>
          </a:p>
        </p:txBody>
      </p:sp>
      <p:sp>
        <p:nvSpPr>
          <p:cNvPr id="4" name="Rectangle 3">
            <a:extLst>
              <a:ext uri="{FF2B5EF4-FFF2-40B4-BE49-F238E27FC236}">
                <a16:creationId xmlns:a16="http://schemas.microsoft.com/office/drawing/2014/main" id="{549FC355-90D1-0B32-AD5D-7692A9B3E1DC}"/>
              </a:ext>
            </a:extLst>
          </p:cNvPr>
          <p:cNvSpPr/>
          <p:nvPr/>
        </p:nvSpPr>
        <p:spPr>
          <a:xfrm>
            <a:off x="0" y="0"/>
            <a:ext cx="7381461" cy="59634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Constantia" panose="02030602050306030303" pitchFamily="18" charset="0"/>
                <a:ea typeface="Cambria" panose="02040503050406030204" pitchFamily="18" charset="0"/>
              </a:rPr>
              <a:t>Bhujbal Knowledge City</a:t>
            </a:r>
            <a:endParaRPr lang="en-IN" sz="2800" b="1" dirty="0">
              <a:latin typeface="Constantia" panose="02030602050306030303" pitchFamily="18" charset="0"/>
              <a:ea typeface="Cambria" panose="02040503050406030204" pitchFamily="18" charset="0"/>
            </a:endParaRPr>
          </a:p>
        </p:txBody>
      </p:sp>
      <p:sp>
        <p:nvSpPr>
          <p:cNvPr id="5" name="Right Triangle 4">
            <a:extLst>
              <a:ext uri="{FF2B5EF4-FFF2-40B4-BE49-F238E27FC236}">
                <a16:creationId xmlns:a16="http://schemas.microsoft.com/office/drawing/2014/main" id="{C4070E8B-63EC-1062-7E0B-5DCDF567DFEB}"/>
              </a:ext>
            </a:extLst>
          </p:cNvPr>
          <p:cNvSpPr/>
          <p:nvPr/>
        </p:nvSpPr>
        <p:spPr>
          <a:xfrm>
            <a:off x="7381461" y="0"/>
            <a:ext cx="980661" cy="596348"/>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a:extLst>
              <a:ext uri="{FF2B5EF4-FFF2-40B4-BE49-F238E27FC236}">
                <a16:creationId xmlns:a16="http://schemas.microsoft.com/office/drawing/2014/main" id="{209A0F21-5F15-FA48-7B85-D8AB24DD50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69" y="60103"/>
            <a:ext cx="966705" cy="476142"/>
          </a:xfrm>
          <a:prstGeom prst="rect">
            <a:avLst/>
          </a:prstGeom>
        </p:spPr>
      </p:pic>
      <p:sp>
        <p:nvSpPr>
          <p:cNvPr id="10" name="Right Triangle 9">
            <a:extLst>
              <a:ext uri="{FF2B5EF4-FFF2-40B4-BE49-F238E27FC236}">
                <a16:creationId xmlns:a16="http://schemas.microsoft.com/office/drawing/2014/main" id="{F4BD357B-97AE-F15D-0FEB-C3535E656839}"/>
              </a:ext>
            </a:extLst>
          </p:cNvPr>
          <p:cNvSpPr/>
          <p:nvPr/>
        </p:nvSpPr>
        <p:spPr>
          <a:xfrm rot="10800000">
            <a:off x="7507357" y="-6624"/>
            <a:ext cx="980661" cy="596348"/>
          </a:xfrm>
          <a:prstGeom prst="r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9702196A-06A5-9DF2-BBD8-328D2A60FBFB}"/>
              </a:ext>
            </a:extLst>
          </p:cNvPr>
          <p:cNvSpPr/>
          <p:nvPr/>
        </p:nvSpPr>
        <p:spPr>
          <a:xfrm>
            <a:off x="8488018" y="-6624"/>
            <a:ext cx="3690730" cy="596348"/>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mbria" panose="02040503050406030204" pitchFamily="18" charset="0"/>
                <a:ea typeface="Cambria" panose="02040503050406030204" pitchFamily="18" charset="0"/>
              </a:rPr>
              <a:t>Institute of Engineering</a:t>
            </a:r>
            <a:endParaRPr lang="en-IN" sz="2000" b="1" dirty="0">
              <a:solidFill>
                <a:schemeClr val="tx1"/>
              </a:solidFill>
              <a:latin typeface="Cambria" panose="02040503050406030204" pitchFamily="18" charset="0"/>
              <a:ea typeface="Cambria" panose="02040503050406030204" pitchFamily="18" charset="0"/>
            </a:endParaRPr>
          </a:p>
        </p:txBody>
      </p:sp>
      <p:sp>
        <p:nvSpPr>
          <p:cNvPr id="14" name="Title 1">
            <a:extLst>
              <a:ext uri="{FF2B5EF4-FFF2-40B4-BE49-F238E27FC236}">
                <a16:creationId xmlns:a16="http://schemas.microsoft.com/office/drawing/2014/main" id="{100FEEE7-8EDA-554F-3601-AB0DD905E7A0}"/>
              </a:ext>
            </a:extLst>
          </p:cNvPr>
          <p:cNvSpPr txBox="1">
            <a:spLocks/>
          </p:cNvSpPr>
          <p:nvPr/>
        </p:nvSpPr>
        <p:spPr>
          <a:xfrm>
            <a:off x="198782" y="1323956"/>
            <a:ext cx="11834192" cy="535513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60000"/>
              </a:lnSpc>
            </a:pPr>
            <a:r>
              <a:rPr lang="en-US" sz="2000" kern="50" dirty="0">
                <a:effectLst/>
                <a:latin typeface="Cambria" panose="02040503050406030204" pitchFamily="18" charset="0"/>
                <a:ea typeface="Cambria" panose="02040503050406030204" pitchFamily="18" charset="0"/>
              </a:rPr>
              <a:t> </a:t>
            </a:r>
            <a:endParaRPr lang="en-IN" sz="2000" kern="50" dirty="0">
              <a:effectLst/>
              <a:latin typeface="Cambria" panose="02040503050406030204" pitchFamily="18" charset="0"/>
              <a:ea typeface="Cambria" panose="02040503050406030204" pitchFamily="18" charset="0"/>
            </a:endParaRPr>
          </a:p>
        </p:txBody>
      </p:sp>
      <p:pic>
        <p:nvPicPr>
          <p:cNvPr id="5122" name="Picture 2">
            <a:extLst>
              <a:ext uri="{FF2B5EF4-FFF2-40B4-BE49-F238E27FC236}">
                <a16:creationId xmlns:a16="http://schemas.microsoft.com/office/drawing/2014/main" id="{B5EFE2D3-3829-F758-A20A-C061EE148C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38" y="890578"/>
            <a:ext cx="12116810" cy="5076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8407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70FC6-978F-1448-124E-50FBBF39FD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18F803-D88C-E018-D58A-9FB612A962E8}"/>
              </a:ext>
            </a:extLst>
          </p:cNvPr>
          <p:cNvSpPr>
            <a:spLocks noGrp="1"/>
          </p:cNvSpPr>
          <p:nvPr>
            <p:ph type="ctrTitle"/>
          </p:nvPr>
        </p:nvSpPr>
        <p:spPr>
          <a:xfrm>
            <a:off x="2663686" y="600506"/>
            <a:ext cx="6904382" cy="596348"/>
          </a:xfrm>
        </p:spPr>
        <p:txBody>
          <a:bodyPr>
            <a:normAutofit/>
          </a:bodyPr>
          <a:lstStyle/>
          <a:p>
            <a:r>
              <a:rPr lang="en-US" sz="2800" b="1" dirty="0">
                <a:solidFill>
                  <a:schemeClr val="tx1"/>
                </a:solidFill>
                <a:latin typeface="Times New Roman" pitchFamily="18" charset="0"/>
                <a:cs typeface="Times New Roman" pitchFamily="18" charset="0"/>
              </a:rPr>
              <a:t>Algorithm</a:t>
            </a:r>
          </a:p>
        </p:txBody>
      </p:sp>
      <p:sp>
        <p:nvSpPr>
          <p:cNvPr id="4" name="Rectangle 3">
            <a:extLst>
              <a:ext uri="{FF2B5EF4-FFF2-40B4-BE49-F238E27FC236}">
                <a16:creationId xmlns:a16="http://schemas.microsoft.com/office/drawing/2014/main" id="{A11591AC-98D7-B05E-39AA-85B9B0A0D8ED}"/>
              </a:ext>
            </a:extLst>
          </p:cNvPr>
          <p:cNvSpPr/>
          <p:nvPr/>
        </p:nvSpPr>
        <p:spPr>
          <a:xfrm>
            <a:off x="0" y="0"/>
            <a:ext cx="7381461" cy="59634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Constantia" panose="02030602050306030303" pitchFamily="18" charset="0"/>
                <a:ea typeface="Cambria" panose="02040503050406030204" pitchFamily="18" charset="0"/>
              </a:rPr>
              <a:t>Bhujbal Knowledge City</a:t>
            </a:r>
            <a:endParaRPr lang="en-IN" sz="2800" b="1" dirty="0">
              <a:latin typeface="Constantia" panose="02030602050306030303" pitchFamily="18" charset="0"/>
              <a:ea typeface="Cambria" panose="02040503050406030204" pitchFamily="18" charset="0"/>
            </a:endParaRPr>
          </a:p>
        </p:txBody>
      </p:sp>
      <p:sp>
        <p:nvSpPr>
          <p:cNvPr id="5" name="Right Triangle 4">
            <a:extLst>
              <a:ext uri="{FF2B5EF4-FFF2-40B4-BE49-F238E27FC236}">
                <a16:creationId xmlns:a16="http://schemas.microsoft.com/office/drawing/2014/main" id="{EC88E3DA-4019-C43B-E216-6151709EB8FB}"/>
              </a:ext>
            </a:extLst>
          </p:cNvPr>
          <p:cNvSpPr/>
          <p:nvPr/>
        </p:nvSpPr>
        <p:spPr>
          <a:xfrm>
            <a:off x="7381461" y="0"/>
            <a:ext cx="980661" cy="596348"/>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a:extLst>
              <a:ext uri="{FF2B5EF4-FFF2-40B4-BE49-F238E27FC236}">
                <a16:creationId xmlns:a16="http://schemas.microsoft.com/office/drawing/2014/main" id="{0D249F83-8490-607E-6F8A-0588E6AF90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69" y="60103"/>
            <a:ext cx="966705" cy="476142"/>
          </a:xfrm>
          <a:prstGeom prst="rect">
            <a:avLst/>
          </a:prstGeom>
        </p:spPr>
      </p:pic>
      <p:sp>
        <p:nvSpPr>
          <p:cNvPr id="10" name="Right Triangle 9">
            <a:extLst>
              <a:ext uri="{FF2B5EF4-FFF2-40B4-BE49-F238E27FC236}">
                <a16:creationId xmlns:a16="http://schemas.microsoft.com/office/drawing/2014/main" id="{2A00FF76-B2FA-6C04-18FC-0964B5451CA5}"/>
              </a:ext>
            </a:extLst>
          </p:cNvPr>
          <p:cNvSpPr/>
          <p:nvPr/>
        </p:nvSpPr>
        <p:spPr>
          <a:xfrm rot="10800000">
            <a:off x="7507357" y="-6624"/>
            <a:ext cx="980661" cy="596348"/>
          </a:xfrm>
          <a:prstGeom prst="r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35494F97-1B03-11CE-8AA1-D6BC67F9E088}"/>
              </a:ext>
            </a:extLst>
          </p:cNvPr>
          <p:cNvSpPr/>
          <p:nvPr/>
        </p:nvSpPr>
        <p:spPr>
          <a:xfrm>
            <a:off x="8488018" y="-6624"/>
            <a:ext cx="3690730" cy="596348"/>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mbria" panose="02040503050406030204" pitchFamily="18" charset="0"/>
                <a:ea typeface="Cambria" panose="02040503050406030204" pitchFamily="18" charset="0"/>
              </a:rPr>
              <a:t>Institute of Engineering</a:t>
            </a:r>
            <a:endParaRPr lang="en-IN" sz="2000" b="1" dirty="0">
              <a:solidFill>
                <a:schemeClr val="tx1"/>
              </a:solidFill>
              <a:latin typeface="Cambria" panose="02040503050406030204" pitchFamily="18" charset="0"/>
              <a:ea typeface="Cambria" panose="02040503050406030204" pitchFamily="18" charset="0"/>
            </a:endParaRPr>
          </a:p>
        </p:txBody>
      </p:sp>
      <p:sp>
        <p:nvSpPr>
          <p:cNvPr id="14" name="Title 1">
            <a:extLst>
              <a:ext uri="{FF2B5EF4-FFF2-40B4-BE49-F238E27FC236}">
                <a16:creationId xmlns:a16="http://schemas.microsoft.com/office/drawing/2014/main" id="{794ABCCE-4CF2-AC39-8C19-826672241001}"/>
              </a:ext>
            </a:extLst>
          </p:cNvPr>
          <p:cNvSpPr txBox="1">
            <a:spLocks/>
          </p:cNvSpPr>
          <p:nvPr/>
        </p:nvSpPr>
        <p:spPr>
          <a:xfrm>
            <a:off x="198782" y="1323956"/>
            <a:ext cx="11834192" cy="535513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60000"/>
              </a:lnSpc>
            </a:pPr>
            <a:r>
              <a:rPr lang="en-US" sz="2000" kern="50" dirty="0">
                <a:effectLst/>
                <a:latin typeface="Cambria" panose="02040503050406030204" pitchFamily="18" charset="0"/>
                <a:ea typeface="Cambria" panose="02040503050406030204" pitchFamily="18" charset="0"/>
              </a:rPr>
              <a:t> </a:t>
            </a:r>
            <a:endParaRPr lang="en-IN" sz="2000" kern="50" dirty="0">
              <a:effectLst/>
              <a:latin typeface="Cambria" panose="02040503050406030204" pitchFamily="18" charset="0"/>
              <a:ea typeface="Cambria" panose="02040503050406030204" pitchFamily="18" charset="0"/>
            </a:endParaRPr>
          </a:p>
        </p:txBody>
      </p:sp>
      <p:sp>
        <p:nvSpPr>
          <p:cNvPr id="12" name="Footer Placeholder 11">
            <a:extLst>
              <a:ext uri="{FF2B5EF4-FFF2-40B4-BE49-F238E27FC236}">
                <a16:creationId xmlns:a16="http://schemas.microsoft.com/office/drawing/2014/main" id="{4F6C5396-CA93-36EE-3A9A-866E71AB9A06}"/>
              </a:ext>
            </a:extLst>
          </p:cNvPr>
          <p:cNvSpPr>
            <a:spLocks noGrp="1"/>
          </p:cNvSpPr>
          <p:nvPr>
            <p:ph type="ftr" sz="quarter" idx="11"/>
          </p:nvPr>
        </p:nvSpPr>
        <p:spPr/>
        <p:txBody>
          <a:bodyPr/>
          <a:lstStyle/>
          <a:p>
            <a:r>
              <a:rPr lang="en-US" dirty="0"/>
              <a:t>Department of Artificial Intelligence and Data Science</a:t>
            </a:r>
          </a:p>
        </p:txBody>
      </p:sp>
      <p:sp>
        <p:nvSpPr>
          <p:cNvPr id="13" name="Slide Number Placeholder 12">
            <a:extLst>
              <a:ext uri="{FF2B5EF4-FFF2-40B4-BE49-F238E27FC236}">
                <a16:creationId xmlns:a16="http://schemas.microsoft.com/office/drawing/2014/main" id="{F463F248-CA5F-8A79-3973-564B3FD94A60}"/>
              </a:ext>
            </a:extLst>
          </p:cNvPr>
          <p:cNvSpPr>
            <a:spLocks noGrp="1"/>
          </p:cNvSpPr>
          <p:nvPr>
            <p:ph type="sldNum" sz="quarter" idx="12"/>
          </p:nvPr>
        </p:nvSpPr>
        <p:spPr>
          <a:xfrm>
            <a:off x="8610600" y="6376243"/>
            <a:ext cx="2743200" cy="365125"/>
          </a:xfrm>
        </p:spPr>
        <p:txBody>
          <a:bodyPr/>
          <a:lstStyle/>
          <a:p>
            <a:fld id="{9B618960-8005-486C-9A75-10CB2AAC16F9}" type="slidenum">
              <a:rPr lang="en-US" smtClean="0"/>
              <a:pPr/>
              <a:t>7</a:t>
            </a:fld>
            <a:endParaRPr lang="en-US" dirty="0"/>
          </a:p>
        </p:txBody>
      </p:sp>
      <p:sp>
        <p:nvSpPr>
          <p:cNvPr id="6" name="TextBox 5">
            <a:extLst>
              <a:ext uri="{FF2B5EF4-FFF2-40B4-BE49-F238E27FC236}">
                <a16:creationId xmlns:a16="http://schemas.microsoft.com/office/drawing/2014/main" id="{F0D9BB32-AB89-A432-4DF4-BEBB189DF2AE}"/>
              </a:ext>
            </a:extLst>
          </p:cNvPr>
          <p:cNvSpPr txBox="1"/>
          <p:nvPr/>
        </p:nvSpPr>
        <p:spPr>
          <a:xfrm>
            <a:off x="296025" y="1196854"/>
            <a:ext cx="11441834" cy="1631216"/>
          </a:xfrm>
          <a:prstGeom prst="rect">
            <a:avLst/>
          </a:prstGeom>
          <a:noFill/>
        </p:spPr>
        <p:txBody>
          <a:bodyPr wrap="square">
            <a:spAutoFit/>
          </a:bodyPr>
          <a:lstStyle/>
          <a:p>
            <a:pPr>
              <a:buFont typeface="Arial" pitchFamily="34" charset="0"/>
              <a:buChar char="•"/>
            </a:pPr>
            <a:r>
              <a:rPr lang="en-US" sz="2000" b="1" dirty="0">
                <a:latin typeface="Times New Roman" panose="02020603050405020304" pitchFamily="18" charset="0"/>
                <a:cs typeface="Times New Roman" panose="02020603050405020304" pitchFamily="18" charset="0"/>
              </a:rPr>
              <a:t> Algorithm Used</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Rule-Based Decision Algorithm</a:t>
            </a:r>
          </a:p>
          <a:p>
            <a:endParaRPr lang="en-US" sz="2000" dirty="0">
              <a:latin typeface="Times New Roman" panose="02020603050405020304" pitchFamily="18" charset="0"/>
              <a:cs typeface="Times New Roman" panose="02020603050405020304" pitchFamily="18" charset="0"/>
            </a:endParaRPr>
          </a:p>
          <a:p>
            <a:pPr>
              <a:buFont typeface="Arial" pitchFamily="34" charset="0"/>
              <a:buChar char="•"/>
            </a:pPr>
            <a:r>
              <a:rPr lang="en-US" sz="2000" b="1" dirty="0">
                <a:latin typeface="Times New Roman" panose="02020603050405020304" pitchFamily="18" charset="0"/>
                <a:cs typeface="Times New Roman" panose="02020603050405020304" pitchFamily="18" charset="0"/>
              </a:rPr>
              <a:t> Steps:</a:t>
            </a:r>
            <a:endParaRPr lang="en-US" sz="2000" dirty="0">
              <a:latin typeface="Times New Roman" panose="02020603050405020304" pitchFamily="18" charset="0"/>
              <a:cs typeface="Times New Roman" panose="02020603050405020304" pitchFamily="18" charset="0"/>
            </a:endParaRPr>
          </a:p>
          <a:p>
            <a:pPr>
              <a:buFont typeface="+mj-lt"/>
              <a:buAutoNum type="arabicPeriod"/>
            </a:pPr>
            <a:endParaRPr lang="en-US" sz="20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10D6F576-6E0B-37DC-97BA-79CF85B4B395}"/>
              </a:ext>
            </a:extLst>
          </p:cNvPr>
          <p:cNvSpPr>
            <a:spLocks noChangeArrowheads="1"/>
          </p:cNvSpPr>
          <p:nvPr/>
        </p:nvSpPr>
        <p:spPr bwMode="auto">
          <a:xfrm>
            <a:off x="235456" y="2452347"/>
            <a:ext cx="5814047" cy="3268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 sensor readings on the microcontroller</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Compare sensor values with predefined threshold limits</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 street light status (ON / OFF / DIM)</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fault conditions (lamp failure, overheating, power issue, pole damage)</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Update status to cloud server</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pic>
        <p:nvPicPr>
          <p:cNvPr id="3074" name="Picture 2">
            <a:extLst>
              <a:ext uri="{FF2B5EF4-FFF2-40B4-BE49-F238E27FC236}">
                <a16:creationId xmlns:a16="http://schemas.microsoft.com/office/drawing/2014/main" id="{168887F8-5996-E37D-4369-86849D75919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0" y="969234"/>
            <a:ext cx="4977102" cy="5495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619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98E10-362F-1161-46CA-7E56CA4885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63B0E2-199C-DD55-F5EE-BA790B570099}"/>
              </a:ext>
            </a:extLst>
          </p:cNvPr>
          <p:cNvSpPr>
            <a:spLocks noGrp="1"/>
          </p:cNvSpPr>
          <p:nvPr>
            <p:ph type="ctrTitle"/>
          </p:nvPr>
        </p:nvSpPr>
        <p:spPr>
          <a:xfrm>
            <a:off x="2663686" y="600506"/>
            <a:ext cx="6904382" cy="596348"/>
          </a:xfrm>
        </p:spPr>
        <p:txBody>
          <a:bodyPr>
            <a:normAutofit/>
          </a:bodyPr>
          <a:lstStyle/>
          <a:p>
            <a:r>
              <a:rPr lang="en-US" sz="2800" b="1" dirty="0">
                <a:solidFill>
                  <a:schemeClr val="tx1"/>
                </a:solidFill>
                <a:latin typeface="Times New Roman" pitchFamily="18" charset="0"/>
                <a:cs typeface="Times New Roman" pitchFamily="18" charset="0"/>
              </a:rPr>
              <a:t>Algorithm</a:t>
            </a:r>
          </a:p>
        </p:txBody>
      </p:sp>
      <p:sp>
        <p:nvSpPr>
          <p:cNvPr id="4" name="Rectangle 3">
            <a:extLst>
              <a:ext uri="{FF2B5EF4-FFF2-40B4-BE49-F238E27FC236}">
                <a16:creationId xmlns:a16="http://schemas.microsoft.com/office/drawing/2014/main" id="{88A18974-6309-8DC4-5747-F9727248278E}"/>
              </a:ext>
            </a:extLst>
          </p:cNvPr>
          <p:cNvSpPr/>
          <p:nvPr/>
        </p:nvSpPr>
        <p:spPr>
          <a:xfrm>
            <a:off x="0" y="0"/>
            <a:ext cx="7381461" cy="59634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Constantia" panose="02030602050306030303" pitchFamily="18" charset="0"/>
                <a:ea typeface="Cambria" panose="02040503050406030204" pitchFamily="18" charset="0"/>
              </a:rPr>
              <a:t>Bhujbal Knowledge City</a:t>
            </a:r>
            <a:endParaRPr lang="en-IN" sz="2800" b="1" dirty="0">
              <a:latin typeface="Constantia" panose="02030602050306030303" pitchFamily="18" charset="0"/>
              <a:ea typeface="Cambria" panose="02040503050406030204" pitchFamily="18" charset="0"/>
            </a:endParaRPr>
          </a:p>
        </p:txBody>
      </p:sp>
      <p:sp>
        <p:nvSpPr>
          <p:cNvPr id="5" name="Right Triangle 4">
            <a:extLst>
              <a:ext uri="{FF2B5EF4-FFF2-40B4-BE49-F238E27FC236}">
                <a16:creationId xmlns:a16="http://schemas.microsoft.com/office/drawing/2014/main" id="{A81797DB-0290-56C1-575C-744B596D665A}"/>
              </a:ext>
            </a:extLst>
          </p:cNvPr>
          <p:cNvSpPr/>
          <p:nvPr/>
        </p:nvSpPr>
        <p:spPr>
          <a:xfrm>
            <a:off x="7381461" y="0"/>
            <a:ext cx="980661" cy="596348"/>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a:extLst>
              <a:ext uri="{FF2B5EF4-FFF2-40B4-BE49-F238E27FC236}">
                <a16:creationId xmlns:a16="http://schemas.microsoft.com/office/drawing/2014/main" id="{621E087D-0644-7F77-1AAD-1B1A6F2B91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69" y="60103"/>
            <a:ext cx="966705" cy="476142"/>
          </a:xfrm>
          <a:prstGeom prst="rect">
            <a:avLst/>
          </a:prstGeom>
        </p:spPr>
      </p:pic>
      <p:sp>
        <p:nvSpPr>
          <p:cNvPr id="10" name="Right Triangle 9">
            <a:extLst>
              <a:ext uri="{FF2B5EF4-FFF2-40B4-BE49-F238E27FC236}">
                <a16:creationId xmlns:a16="http://schemas.microsoft.com/office/drawing/2014/main" id="{F203B373-3E6B-7622-B626-BF22EAAEE60E}"/>
              </a:ext>
            </a:extLst>
          </p:cNvPr>
          <p:cNvSpPr/>
          <p:nvPr/>
        </p:nvSpPr>
        <p:spPr>
          <a:xfrm rot="10800000">
            <a:off x="7507357" y="-6624"/>
            <a:ext cx="980661" cy="596348"/>
          </a:xfrm>
          <a:prstGeom prst="r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0F00D767-A298-7694-286B-293609E9F040}"/>
              </a:ext>
            </a:extLst>
          </p:cNvPr>
          <p:cNvSpPr/>
          <p:nvPr/>
        </p:nvSpPr>
        <p:spPr>
          <a:xfrm>
            <a:off x="8488018" y="-6624"/>
            <a:ext cx="3690730" cy="596348"/>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mbria" panose="02040503050406030204" pitchFamily="18" charset="0"/>
                <a:ea typeface="Cambria" panose="02040503050406030204" pitchFamily="18" charset="0"/>
              </a:rPr>
              <a:t>Institute of Engineering</a:t>
            </a:r>
            <a:endParaRPr lang="en-IN" sz="2000" b="1" dirty="0">
              <a:solidFill>
                <a:schemeClr val="tx1"/>
              </a:solidFill>
              <a:latin typeface="Cambria" panose="02040503050406030204" pitchFamily="18" charset="0"/>
              <a:ea typeface="Cambria" panose="02040503050406030204" pitchFamily="18" charset="0"/>
            </a:endParaRPr>
          </a:p>
        </p:txBody>
      </p:sp>
      <p:sp>
        <p:nvSpPr>
          <p:cNvPr id="14" name="Title 1">
            <a:extLst>
              <a:ext uri="{FF2B5EF4-FFF2-40B4-BE49-F238E27FC236}">
                <a16:creationId xmlns:a16="http://schemas.microsoft.com/office/drawing/2014/main" id="{15EEAF63-06D5-F333-C324-606C4F5B549D}"/>
              </a:ext>
            </a:extLst>
          </p:cNvPr>
          <p:cNvSpPr txBox="1">
            <a:spLocks/>
          </p:cNvSpPr>
          <p:nvPr/>
        </p:nvSpPr>
        <p:spPr>
          <a:xfrm>
            <a:off x="198782" y="1323956"/>
            <a:ext cx="11834192" cy="535513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60000"/>
              </a:lnSpc>
            </a:pPr>
            <a:r>
              <a:rPr lang="en-US" sz="2000" kern="50" dirty="0">
                <a:effectLst/>
                <a:latin typeface="Cambria" panose="02040503050406030204" pitchFamily="18" charset="0"/>
                <a:ea typeface="Cambria" panose="02040503050406030204" pitchFamily="18" charset="0"/>
              </a:rPr>
              <a:t> </a:t>
            </a:r>
            <a:endParaRPr lang="en-IN" sz="2000" kern="50" dirty="0">
              <a:effectLst/>
              <a:latin typeface="Cambria" panose="02040503050406030204" pitchFamily="18" charset="0"/>
              <a:ea typeface="Cambria" panose="02040503050406030204" pitchFamily="18" charset="0"/>
            </a:endParaRPr>
          </a:p>
        </p:txBody>
      </p:sp>
      <p:sp>
        <p:nvSpPr>
          <p:cNvPr id="12" name="Footer Placeholder 11">
            <a:extLst>
              <a:ext uri="{FF2B5EF4-FFF2-40B4-BE49-F238E27FC236}">
                <a16:creationId xmlns:a16="http://schemas.microsoft.com/office/drawing/2014/main" id="{4198BC67-3B44-6A32-CD6D-1EEC3EFF1DE8}"/>
              </a:ext>
            </a:extLst>
          </p:cNvPr>
          <p:cNvSpPr>
            <a:spLocks noGrp="1"/>
          </p:cNvSpPr>
          <p:nvPr>
            <p:ph type="ftr" sz="quarter" idx="11"/>
          </p:nvPr>
        </p:nvSpPr>
        <p:spPr/>
        <p:txBody>
          <a:bodyPr/>
          <a:lstStyle/>
          <a:p>
            <a:r>
              <a:rPr lang="en-US" dirty="0"/>
              <a:t>Department of Artificial Intelligence and Data Science</a:t>
            </a:r>
          </a:p>
        </p:txBody>
      </p:sp>
      <p:sp>
        <p:nvSpPr>
          <p:cNvPr id="13" name="Slide Number Placeholder 12">
            <a:extLst>
              <a:ext uri="{FF2B5EF4-FFF2-40B4-BE49-F238E27FC236}">
                <a16:creationId xmlns:a16="http://schemas.microsoft.com/office/drawing/2014/main" id="{A08D6C71-645C-EF30-A826-C04D5F2DF4F9}"/>
              </a:ext>
            </a:extLst>
          </p:cNvPr>
          <p:cNvSpPr>
            <a:spLocks noGrp="1"/>
          </p:cNvSpPr>
          <p:nvPr>
            <p:ph type="sldNum" sz="quarter" idx="12"/>
          </p:nvPr>
        </p:nvSpPr>
        <p:spPr>
          <a:xfrm>
            <a:off x="8610600" y="6376243"/>
            <a:ext cx="2743200" cy="365125"/>
          </a:xfrm>
        </p:spPr>
        <p:txBody>
          <a:bodyPr/>
          <a:lstStyle/>
          <a:p>
            <a:fld id="{9B618960-8005-486C-9A75-10CB2AAC16F9}" type="slidenum">
              <a:rPr lang="en-US" smtClean="0"/>
              <a:pPr/>
              <a:t>8</a:t>
            </a:fld>
            <a:endParaRPr lang="en-US" dirty="0"/>
          </a:p>
        </p:txBody>
      </p:sp>
      <p:sp>
        <p:nvSpPr>
          <p:cNvPr id="6" name="TextBox 5">
            <a:extLst>
              <a:ext uri="{FF2B5EF4-FFF2-40B4-BE49-F238E27FC236}">
                <a16:creationId xmlns:a16="http://schemas.microsoft.com/office/drawing/2014/main" id="{21FC3106-CA17-ACDD-31D0-90EA2062E934}"/>
              </a:ext>
            </a:extLst>
          </p:cNvPr>
          <p:cNvSpPr txBox="1"/>
          <p:nvPr/>
        </p:nvSpPr>
        <p:spPr>
          <a:xfrm>
            <a:off x="551384" y="1196854"/>
            <a:ext cx="11441834" cy="707886"/>
          </a:xfrm>
          <a:prstGeom prst="rect">
            <a:avLst/>
          </a:prstGeom>
          <a:noFill/>
        </p:spPr>
        <p:txBody>
          <a:bodyPr wrap="square">
            <a:spAutoFit/>
          </a:bodyPr>
          <a:lstStyle/>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9" name="Rectangle 4">
            <a:extLst>
              <a:ext uri="{FF2B5EF4-FFF2-40B4-BE49-F238E27FC236}">
                <a16:creationId xmlns:a16="http://schemas.microsoft.com/office/drawing/2014/main" id="{A817C01F-777B-A4BD-7B79-F81A07B2C879}"/>
              </a:ext>
            </a:extLst>
          </p:cNvPr>
          <p:cNvSpPr>
            <a:spLocks noChangeArrowheads="1"/>
          </p:cNvSpPr>
          <p:nvPr/>
        </p:nvSpPr>
        <p:spPr bwMode="auto">
          <a:xfrm>
            <a:off x="381000" y="1597742"/>
            <a:ext cx="9525000"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Update status to cloud server</a:t>
            </a:r>
          </a:p>
          <a:p>
            <a:pPr marL="0" marR="0" lvl="0" indent="0" algn="l" defTabSz="914400" rtl="0" eaLnBrk="0" fontAlgn="base" latinLnBrk="0" hangingPunct="0">
              <a:lnSpc>
                <a:spcPct val="15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 Generate alerts and notifications</a:t>
            </a:r>
          </a:p>
          <a:p>
            <a:pPr marL="0" marR="0" lvl="0" indent="0" algn="l" defTabSz="914400" rtl="0" eaLnBrk="0" fontAlgn="base" latinLnBrk="0" hangingPunct="0">
              <a:lnSpc>
                <a:spcPct val="15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 Enable remote control and monitoring</a:t>
            </a:r>
          </a:p>
          <a:p>
            <a:pPr marL="0" marR="0" lvl="0" indent="0" algn="l" defTabSz="914400" rtl="0" eaLnBrk="0" fontAlgn="base" latinLnBrk="0" hangingPunct="0">
              <a:lnSpc>
                <a:spcPct val="15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nSpc>
                <a:spcPct val="150000"/>
              </a:lnSpc>
              <a:buFont typeface="Wingdings" pitchFamily="2" charset="2"/>
              <a:buChar char="ü"/>
            </a:pPr>
            <a:r>
              <a:rPr lang="en-US" sz="1800" b="1" dirty="0">
                <a:latin typeface="Times New Roman" panose="02020603050405020304" pitchFamily="18" charset="0"/>
                <a:cs typeface="Times New Roman" panose="02020603050405020304" pitchFamily="18" charset="0"/>
              </a:rPr>
              <a:t>Reason for selection:</a:t>
            </a:r>
            <a:br>
              <a:rPr lang="en-US" sz="1800"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Simple implementation, fast decision-making, real-time operation, threshold-based fault detection, low computational resources, IoT suitability</a:t>
            </a:r>
            <a:endParaRPr 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3043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dirty="0"/>
          </a:p>
        </p:txBody>
      </p:sp>
      <p:sp>
        <p:nvSpPr>
          <p:cNvPr id="3" name="object 3"/>
          <p:cNvSpPr txBox="1">
            <a:spLocks noGrp="1"/>
          </p:cNvSpPr>
          <p:nvPr>
            <p:ph type="title"/>
          </p:nvPr>
        </p:nvSpPr>
        <p:spPr>
          <a:xfrm>
            <a:off x="0" y="38"/>
            <a:ext cx="7381875" cy="596900"/>
          </a:xfrm>
          <a:prstGeom prst="rect">
            <a:avLst/>
          </a:prstGeom>
          <a:ln w="12700">
            <a:solidFill>
              <a:srgbClr val="FF0000"/>
            </a:solidFill>
          </a:ln>
        </p:spPr>
        <p:txBody>
          <a:bodyPr vert="horz" wrap="square" lIns="0" tIns="61594" rIns="0" bIns="0" rtlCol="0">
            <a:spAutoFit/>
          </a:bodyPr>
          <a:lstStyle/>
          <a:p>
            <a:pPr algn="ctr">
              <a:lnSpc>
                <a:spcPct val="100000"/>
              </a:lnSpc>
              <a:spcBef>
                <a:spcPts val="484"/>
              </a:spcBef>
            </a:pPr>
            <a:r>
              <a:rPr spc="-10" dirty="0"/>
              <a:t>Bhujbal</a:t>
            </a:r>
            <a:r>
              <a:rPr spc="-80" dirty="0"/>
              <a:t> </a:t>
            </a:r>
            <a:r>
              <a:rPr spc="-30" dirty="0"/>
              <a:t>Knowledge</a:t>
            </a:r>
            <a:r>
              <a:rPr spc="-114" dirty="0"/>
              <a:t> </a:t>
            </a:r>
            <a:r>
              <a:rPr spc="-20" dirty="0"/>
              <a:t>City</a:t>
            </a:r>
          </a:p>
        </p:txBody>
      </p:sp>
      <p:grpSp>
        <p:nvGrpSpPr>
          <p:cNvPr id="4" name="object 4"/>
          <p:cNvGrpSpPr/>
          <p:nvPr/>
        </p:nvGrpSpPr>
        <p:grpSpPr>
          <a:xfrm>
            <a:off x="93469" y="-6350"/>
            <a:ext cx="12091670" cy="609600"/>
            <a:chOff x="93469" y="-6350"/>
            <a:chExt cx="12091670" cy="609600"/>
          </a:xfrm>
        </p:grpSpPr>
        <p:sp>
          <p:nvSpPr>
            <p:cNvPr id="5" name="object 5"/>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dirty="0"/>
            </a:p>
          </p:txBody>
        </p:sp>
        <p:sp>
          <p:nvSpPr>
            <p:cNvPr id="6" name="object 6"/>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dirty="0"/>
            </a:p>
          </p:txBody>
        </p:sp>
        <p:pic>
          <p:nvPicPr>
            <p:cNvPr id="7" name="object 7"/>
            <p:cNvPicPr/>
            <p:nvPr/>
          </p:nvPicPr>
          <p:blipFill>
            <a:blip r:embed="rId2" cstate="print"/>
            <a:stretch>
              <a:fillRect/>
            </a:stretch>
          </p:blipFill>
          <p:spPr>
            <a:xfrm>
              <a:off x="93469" y="60058"/>
              <a:ext cx="966698" cy="476135"/>
            </a:xfrm>
            <a:prstGeom prst="rect">
              <a:avLst/>
            </a:prstGeom>
          </p:spPr>
        </p:pic>
        <p:sp>
          <p:nvSpPr>
            <p:cNvPr id="8" name="object 8"/>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dirty="0"/>
            </a:p>
          </p:txBody>
        </p:sp>
        <p:sp>
          <p:nvSpPr>
            <p:cNvPr id="9" name="object 9"/>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dirty="0"/>
            </a:p>
          </p:txBody>
        </p:sp>
        <p:sp>
          <p:nvSpPr>
            <p:cNvPr id="10" name="object 10"/>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dirty="0"/>
            </a:p>
          </p:txBody>
        </p:sp>
        <p:sp>
          <p:nvSpPr>
            <p:cNvPr id="11" name="object 11"/>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dirty="0"/>
            </a:p>
          </p:txBody>
        </p:sp>
      </p:grpSp>
      <p:sp>
        <p:nvSpPr>
          <p:cNvPr id="12" name="object 12"/>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dirty="0">
              <a:latin typeface="Cambria"/>
              <a:cs typeface="Cambria"/>
            </a:endParaRPr>
          </a:p>
        </p:txBody>
      </p:sp>
      <p:sp>
        <p:nvSpPr>
          <p:cNvPr id="13" name="object 13"/>
          <p:cNvSpPr txBox="1"/>
          <p:nvPr/>
        </p:nvSpPr>
        <p:spPr>
          <a:xfrm>
            <a:off x="5119751" y="1692351"/>
            <a:ext cx="1168400" cy="300355"/>
          </a:xfrm>
          <a:prstGeom prst="rect">
            <a:avLst/>
          </a:prstGeom>
        </p:spPr>
        <p:txBody>
          <a:bodyPr vert="horz" wrap="square" lIns="0" tIns="12700" rIns="0" bIns="0" rtlCol="0">
            <a:spAutoFit/>
          </a:bodyPr>
          <a:lstStyle/>
          <a:p>
            <a:pPr marL="38100">
              <a:lnSpc>
                <a:spcPct val="100000"/>
              </a:lnSpc>
              <a:spcBef>
                <a:spcPts val="100"/>
              </a:spcBef>
            </a:pPr>
            <a:r>
              <a:rPr sz="2700" baseline="10802" dirty="0">
                <a:latin typeface="Cambria Math"/>
                <a:cs typeface="Cambria Math"/>
              </a:rPr>
              <a:t>𝑉</a:t>
            </a:r>
            <a:r>
              <a:rPr sz="1300" dirty="0">
                <a:latin typeface="Cambria Math"/>
                <a:cs typeface="Cambria Math"/>
              </a:rPr>
              <a:t>𝑜𝑢𝑡</a:t>
            </a:r>
            <a:r>
              <a:rPr sz="1300" spc="245" dirty="0">
                <a:latin typeface="Cambria Math"/>
                <a:cs typeface="Cambria Math"/>
              </a:rPr>
              <a:t> </a:t>
            </a:r>
            <a:r>
              <a:rPr sz="2700" baseline="10802" dirty="0">
                <a:latin typeface="Cambria Math"/>
                <a:cs typeface="Cambria Math"/>
              </a:rPr>
              <a:t>=</a:t>
            </a:r>
            <a:r>
              <a:rPr sz="2700" spc="75" baseline="10802" dirty="0">
                <a:latin typeface="Cambria Math"/>
                <a:cs typeface="Cambria Math"/>
              </a:rPr>
              <a:t> </a:t>
            </a:r>
            <a:r>
              <a:rPr sz="2700" spc="-67" baseline="10802" dirty="0">
                <a:latin typeface="Cambria Math"/>
                <a:cs typeface="Cambria Math"/>
              </a:rPr>
              <a:t>𝑉</a:t>
            </a:r>
            <a:r>
              <a:rPr sz="1300" spc="-45" dirty="0">
                <a:latin typeface="Cambria Math"/>
                <a:cs typeface="Cambria Math"/>
              </a:rPr>
              <a:t>𝑐𝑐</a:t>
            </a:r>
            <a:r>
              <a:rPr sz="1300" spc="155" dirty="0">
                <a:latin typeface="Cambria Math"/>
                <a:cs typeface="Cambria Math"/>
              </a:rPr>
              <a:t> </a:t>
            </a:r>
            <a:r>
              <a:rPr sz="2700" spc="-75" baseline="10802" dirty="0">
                <a:latin typeface="Cambria Math"/>
                <a:cs typeface="Cambria Math"/>
              </a:rPr>
              <a:t>⋅</a:t>
            </a:r>
            <a:endParaRPr sz="2700" baseline="10802" dirty="0">
              <a:latin typeface="Cambria Math"/>
              <a:cs typeface="Cambria Math"/>
            </a:endParaRPr>
          </a:p>
        </p:txBody>
      </p:sp>
      <p:sp>
        <p:nvSpPr>
          <p:cNvPr id="14" name="object 14"/>
          <p:cNvSpPr txBox="1"/>
          <p:nvPr/>
        </p:nvSpPr>
        <p:spPr>
          <a:xfrm>
            <a:off x="523240" y="491331"/>
            <a:ext cx="9382760" cy="1272784"/>
          </a:xfrm>
          <a:prstGeom prst="rect">
            <a:avLst/>
          </a:prstGeom>
        </p:spPr>
        <p:txBody>
          <a:bodyPr vert="horz" wrap="square" lIns="0" tIns="198755" rIns="0" bIns="0" rtlCol="0">
            <a:spAutoFit/>
          </a:bodyPr>
          <a:lstStyle/>
          <a:p>
            <a:pPr marL="778510">
              <a:lnSpc>
                <a:spcPct val="100000"/>
              </a:lnSpc>
              <a:spcBef>
                <a:spcPts val="1565"/>
              </a:spcBef>
            </a:pPr>
            <a:r>
              <a:rPr sz="2800" b="1" spc="-10" dirty="0">
                <a:latin typeface="Times New Roman" panose="02020603050405020304" pitchFamily="18" charset="0"/>
                <a:cs typeface="Times New Roman" panose="02020603050405020304" pitchFamily="18" charset="0"/>
              </a:rPr>
              <a:t>Relevant</a:t>
            </a:r>
            <a:r>
              <a:rPr sz="2800" b="1" spc="-95" dirty="0">
                <a:latin typeface="Times New Roman" panose="02020603050405020304" pitchFamily="18" charset="0"/>
                <a:cs typeface="Times New Roman" panose="02020603050405020304" pitchFamily="18" charset="0"/>
              </a:rPr>
              <a:t> </a:t>
            </a:r>
            <a:r>
              <a:rPr sz="2800" b="1" spc="-10" dirty="0">
                <a:latin typeface="Times New Roman" panose="02020603050405020304" pitchFamily="18" charset="0"/>
                <a:cs typeface="Times New Roman" panose="02020603050405020304" pitchFamily="18" charset="0"/>
              </a:rPr>
              <a:t>mathematical</a:t>
            </a:r>
            <a:r>
              <a:rPr sz="2800" b="1" spc="-95"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model</a:t>
            </a:r>
            <a:r>
              <a:rPr sz="2800" b="1" spc="-75"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associated</a:t>
            </a:r>
            <a:r>
              <a:rPr sz="2800" b="1" spc="-80"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with</a:t>
            </a:r>
            <a:r>
              <a:rPr sz="2800" b="1" spc="-75"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the</a:t>
            </a:r>
            <a:r>
              <a:rPr sz="2800" b="1" spc="-75" dirty="0">
                <a:latin typeface="Times New Roman" panose="02020603050405020304" pitchFamily="18" charset="0"/>
                <a:cs typeface="Times New Roman" panose="02020603050405020304" pitchFamily="18" charset="0"/>
              </a:rPr>
              <a:t> </a:t>
            </a:r>
            <a:r>
              <a:rPr sz="2800" b="1" spc="-10" dirty="0">
                <a:latin typeface="Times New Roman" panose="02020603050405020304" pitchFamily="18" charset="0"/>
                <a:cs typeface="Times New Roman" panose="02020603050405020304" pitchFamily="18" charset="0"/>
              </a:rPr>
              <a:t>project</a:t>
            </a:r>
            <a:endParaRPr sz="2800" b="1" dirty="0">
              <a:latin typeface="Times New Roman" panose="02020603050405020304" pitchFamily="18" charset="0"/>
              <a:cs typeface="Times New Roman" panose="02020603050405020304" pitchFamily="18" charset="0"/>
            </a:endParaRPr>
          </a:p>
          <a:p>
            <a:pPr marL="25400">
              <a:lnSpc>
                <a:spcPts val="2020"/>
              </a:lnSpc>
              <a:spcBef>
                <a:spcPts val="950"/>
              </a:spcBef>
              <a:tabLst>
                <a:tab pos="367665" algn="l"/>
              </a:tabLst>
            </a:pPr>
            <a:r>
              <a:rPr sz="1800" b="1" spc="-25" dirty="0">
                <a:latin typeface="Times New Roman" panose="02020603050405020304" pitchFamily="18" charset="0"/>
                <a:cs typeface="Times New Roman" panose="02020603050405020304" pitchFamily="18" charset="0"/>
              </a:rPr>
              <a:t>1.</a:t>
            </a:r>
            <a:r>
              <a:rPr sz="1800" b="1" dirty="0">
                <a:latin typeface="Times New Roman" panose="02020603050405020304" pitchFamily="18" charset="0"/>
                <a:cs typeface="Times New Roman" panose="02020603050405020304" pitchFamily="18" charset="0"/>
              </a:rPr>
              <a:t>	LDR</a:t>
            </a:r>
            <a:r>
              <a:rPr sz="1800" b="1" spc="-2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Sensing</a:t>
            </a:r>
            <a:r>
              <a:rPr sz="1800" b="1" spc="-15"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Model</a:t>
            </a:r>
            <a:endParaRPr sz="1800" dirty="0">
              <a:latin typeface="Times New Roman" panose="02020603050405020304" pitchFamily="18" charset="0"/>
              <a:cs typeface="Times New Roman" panose="02020603050405020304" pitchFamily="18" charset="0"/>
            </a:endParaRPr>
          </a:p>
          <a:p>
            <a:pPr marR="2598420" algn="r">
              <a:lnSpc>
                <a:spcPts val="2020"/>
              </a:lnSpc>
            </a:pPr>
            <a:r>
              <a:rPr sz="1800" spc="-25" dirty="0">
                <a:latin typeface="Cambria Math"/>
                <a:cs typeface="Cambria Math"/>
              </a:rPr>
              <a:t>𝑅</a:t>
            </a:r>
            <a:r>
              <a:rPr sz="1950" spc="-37" baseline="-14957" dirty="0">
                <a:latin typeface="Cambria Math"/>
                <a:cs typeface="Cambria Math"/>
              </a:rPr>
              <a:t>𝑓</a:t>
            </a:r>
            <a:endParaRPr sz="1950" baseline="-14957" dirty="0">
              <a:latin typeface="Cambria Math"/>
              <a:cs typeface="Cambria Math"/>
            </a:endParaRPr>
          </a:p>
        </p:txBody>
      </p:sp>
      <p:sp>
        <p:nvSpPr>
          <p:cNvPr id="15" name="object 15"/>
          <p:cNvSpPr/>
          <p:nvPr/>
        </p:nvSpPr>
        <p:spPr>
          <a:xfrm>
            <a:off x="6300215" y="1813305"/>
            <a:ext cx="990600" cy="15240"/>
          </a:xfrm>
          <a:custGeom>
            <a:avLst/>
            <a:gdLst/>
            <a:ahLst/>
            <a:cxnLst/>
            <a:rect l="l" t="t" r="r" b="b"/>
            <a:pathLst>
              <a:path w="990600" h="15239">
                <a:moveTo>
                  <a:pt x="990599" y="0"/>
                </a:moveTo>
                <a:lnTo>
                  <a:pt x="0" y="0"/>
                </a:lnTo>
                <a:lnTo>
                  <a:pt x="0" y="15239"/>
                </a:lnTo>
                <a:lnTo>
                  <a:pt x="990599" y="15239"/>
                </a:lnTo>
                <a:lnTo>
                  <a:pt x="990599" y="0"/>
                </a:lnTo>
                <a:close/>
              </a:path>
            </a:pathLst>
          </a:custGeom>
          <a:solidFill>
            <a:srgbClr val="000000"/>
          </a:solidFill>
        </p:spPr>
        <p:txBody>
          <a:bodyPr wrap="square" lIns="0" tIns="0" rIns="0" bIns="0" rtlCol="0"/>
          <a:lstStyle/>
          <a:p>
            <a:endParaRPr dirty="0"/>
          </a:p>
        </p:txBody>
      </p:sp>
      <p:sp>
        <p:nvSpPr>
          <p:cNvPr id="16" name="object 16"/>
          <p:cNvSpPr txBox="1"/>
          <p:nvPr/>
        </p:nvSpPr>
        <p:spPr>
          <a:xfrm>
            <a:off x="6288404" y="1797507"/>
            <a:ext cx="688340" cy="300355"/>
          </a:xfrm>
          <a:prstGeom prst="rect">
            <a:avLst/>
          </a:prstGeom>
        </p:spPr>
        <p:txBody>
          <a:bodyPr vert="horz" wrap="square" lIns="0" tIns="12700" rIns="0" bIns="0" rtlCol="0">
            <a:spAutoFit/>
          </a:bodyPr>
          <a:lstStyle/>
          <a:p>
            <a:pPr marL="12700">
              <a:lnSpc>
                <a:spcPct val="100000"/>
              </a:lnSpc>
              <a:spcBef>
                <a:spcPts val="100"/>
              </a:spcBef>
              <a:tabLst>
                <a:tab pos="306705" algn="l"/>
              </a:tabLst>
            </a:pPr>
            <a:r>
              <a:rPr sz="1800" spc="-50" dirty="0">
                <a:latin typeface="Cambria Math"/>
                <a:cs typeface="Cambria Math"/>
              </a:rPr>
              <a:t>𝑅</a:t>
            </a:r>
            <a:r>
              <a:rPr sz="1800" dirty="0">
                <a:latin typeface="Cambria Math"/>
                <a:cs typeface="Cambria Math"/>
              </a:rPr>
              <a:t>	+</a:t>
            </a:r>
            <a:r>
              <a:rPr sz="1800" spc="-10" dirty="0">
                <a:latin typeface="Cambria Math"/>
                <a:cs typeface="Cambria Math"/>
              </a:rPr>
              <a:t> </a:t>
            </a:r>
            <a:r>
              <a:rPr sz="1800" spc="-50" dirty="0">
                <a:latin typeface="Cambria Math"/>
                <a:cs typeface="Cambria Math"/>
              </a:rPr>
              <a:t>𝑅</a:t>
            </a:r>
            <a:endParaRPr sz="1800" dirty="0">
              <a:latin typeface="Cambria Math"/>
              <a:cs typeface="Cambria Math"/>
            </a:endParaRPr>
          </a:p>
        </p:txBody>
      </p:sp>
      <p:sp>
        <p:nvSpPr>
          <p:cNvPr id="17" name="object 17"/>
          <p:cNvSpPr txBox="1"/>
          <p:nvPr/>
        </p:nvSpPr>
        <p:spPr>
          <a:xfrm>
            <a:off x="5125846" y="2314702"/>
            <a:ext cx="1079500" cy="299720"/>
          </a:xfrm>
          <a:prstGeom prst="rect">
            <a:avLst/>
          </a:prstGeom>
        </p:spPr>
        <p:txBody>
          <a:bodyPr vert="horz" wrap="square" lIns="0" tIns="12700" rIns="0" bIns="0" rtlCol="0">
            <a:spAutoFit/>
          </a:bodyPr>
          <a:lstStyle/>
          <a:p>
            <a:pPr marL="38100">
              <a:lnSpc>
                <a:spcPct val="100000"/>
              </a:lnSpc>
              <a:spcBef>
                <a:spcPts val="100"/>
              </a:spcBef>
            </a:pPr>
            <a:r>
              <a:rPr sz="2700" baseline="10802" dirty="0">
                <a:latin typeface="Cambria Math"/>
                <a:cs typeface="Cambria Math"/>
              </a:rPr>
              <a:t>𝑅</a:t>
            </a:r>
            <a:r>
              <a:rPr sz="1300" dirty="0">
                <a:latin typeface="Cambria Math"/>
                <a:cs typeface="Cambria Math"/>
              </a:rPr>
              <a:t>𝐿𝐷𝑅</a:t>
            </a:r>
            <a:r>
              <a:rPr sz="1300" spc="335" dirty="0">
                <a:latin typeface="Cambria Math"/>
                <a:cs typeface="Cambria Math"/>
              </a:rPr>
              <a:t> </a:t>
            </a:r>
            <a:r>
              <a:rPr sz="2700" baseline="10802" dirty="0">
                <a:latin typeface="Cambria Math"/>
                <a:cs typeface="Cambria Math"/>
              </a:rPr>
              <a:t>=</a:t>
            </a:r>
            <a:r>
              <a:rPr sz="2700" spc="195" baseline="10802" dirty="0">
                <a:latin typeface="Cambria Math"/>
                <a:cs typeface="Cambria Math"/>
              </a:rPr>
              <a:t> </a:t>
            </a:r>
            <a:r>
              <a:rPr sz="2700" spc="-37" baseline="10802" dirty="0">
                <a:latin typeface="Cambria Math"/>
                <a:cs typeface="Cambria Math"/>
              </a:rPr>
              <a:t>𝑅</a:t>
            </a:r>
            <a:r>
              <a:rPr sz="1300" spc="-25" dirty="0">
                <a:latin typeface="Cambria Math"/>
                <a:cs typeface="Cambria Math"/>
              </a:rPr>
              <a:t>𝑓</a:t>
            </a:r>
            <a:endParaRPr sz="1300" dirty="0">
              <a:latin typeface="Cambria Math"/>
              <a:cs typeface="Cambria Math"/>
            </a:endParaRPr>
          </a:p>
        </p:txBody>
      </p:sp>
      <p:sp>
        <p:nvSpPr>
          <p:cNvPr id="18" name="object 18"/>
          <p:cNvSpPr/>
          <p:nvPr/>
        </p:nvSpPr>
        <p:spPr>
          <a:xfrm>
            <a:off x="6236716" y="2151379"/>
            <a:ext cx="1031240" cy="582930"/>
          </a:xfrm>
          <a:custGeom>
            <a:avLst/>
            <a:gdLst/>
            <a:ahLst/>
            <a:cxnLst/>
            <a:rect l="l" t="t" r="r" b="b"/>
            <a:pathLst>
              <a:path w="1031240" h="582930">
                <a:moveTo>
                  <a:pt x="105029" y="8382"/>
                </a:moveTo>
                <a:lnTo>
                  <a:pt x="58585" y="48945"/>
                </a:lnTo>
                <a:lnTo>
                  <a:pt x="26924" y="117221"/>
                </a:lnTo>
                <a:lnTo>
                  <a:pt x="15100" y="157302"/>
                </a:lnTo>
                <a:lnTo>
                  <a:pt x="6692" y="199631"/>
                </a:lnTo>
                <a:lnTo>
                  <a:pt x="1663" y="244221"/>
                </a:lnTo>
                <a:lnTo>
                  <a:pt x="0" y="291211"/>
                </a:lnTo>
                <a:lnTo>
                  <a:pt x="1600" y="335559"/>
                </a:lnTo>
                <a:lnTo>
                  <a:pt x="1663" y="337439"/>
                </a:lnTo>
                <a:lnTo>
                  <a:pt x="6692" y="381800"/>
                </a:lnTo>
                <a:lnTo>
                  <a:pt x="15100" y="424218"/>
                </a:lnTo>
                <a:lnTo>
                  <a:pt x="26924" y="464693"/>
                </a:lnTo>
                <a:lnTo>
                  <a:pt x="41554" y="501802"/>
                </a:lnTo>
                <a:lnTo>
                  <a:pt x="77978" y="560908"/>
                </a:lnTo>
                <a:lnTo>
                  <a:pt x="99695" y="582930"/>
                </a:lnTo>
                <a:lnTo>
                  <a:pt x="105029" y="574675"/>
                </a:lnTo>
                <a:lnTo>
                  <a:pt x="86334" y="552246"/>
                </a:lnTo>
                <a:lnTo>
                  <a:pt x="69913" y="525322"/>
                </a:lnTo>
                <a:lnTo>
                  <a:pt x="43942" y="457962"/>
                </a:lnTo>
                <a:lnTo>
                  <a:pt x="34531" y="418909"/>
                </a:lnTo>
                <a:lnTo>
                  <a:pt x="27825" y="378117"/>
                </a:lnTo>
                <a:lnTo>
                  <a:pt x="23812" y="335559"/>
                </a:lnTo>
                <a:lnTo>
                  <a:pt x="22479" y="291211"/>
                </a:lnTo>
                <a:lnTo>
                  <a:pt x="23825" y="246037"/>
                </a:lnTo>
                <a:lnTo>
                  <a:pt x="27876" y="203073"/>
                </a:lnTo>
                <a:lnTo>
                  <a:pt x="34582" y="162306"/>
                </a:lnTo>
                <a:lnTo>
                  <a:pt x="43942" y="123698"/>
                </a:lnTo>
                <a:lnTo>
                  <a:pt x="69951" y="57378"/>
                </a:lnTo>
                <a:lnTo>
                  <a:pt x="86347" y="30734"/>
                </a:lnTo>
                <a:lnTo>
                  <a:pt x="105029" y="8382"/>
                </a:lnTo>
                <a:close/>
              </a:path>
              <a:path w="1031240" h="582930">
                <a:moveTo>
                  <a:pt x="517652" y="283718"/>
                </a:moveTo>
                <a:lnTo>
                  <a:pt x="112268" y="283718"/>
                </a:lnTo>
                <a:lnTo>
                  <a:pt x="112268" y="298958"/>
                </a:lnTo>
                <a:lnTo>
                  <a:pt x="517652" y="298958"/>
                </a:lnTo>
                <a:lnTo>
                  <a:pt x="517652" y="283718"/>
                </a:lnTo>
                <a:close/>
              </a:path>
              <a:path w="1031240" h="582930">
                <a:moveTo>
                  <a:pt x="1030846" y="291211"/>
                </a:moveTo>
                <a:lnTo>
                  <a:pt x="1029233" y="246037"/>
                </a:lnTo>
                <a:lnTo>
                  <a:pt x="1029169" y="244221"/>
                </a:lnTo>
                <a:lnTo>
                  <a:pt x="1024102" y="199631"/>
                </a:lnTo>
                <a:lnTo>
                  <a:pt x="1015695" y="157302"/>
                </a:lnTo>
                <a:lnTo>
                  <a:pt x="1003935" y="117221"/>
                </a:lnTo>
                <a:lnTo>
                  <a:pt x="989228" y="80683"/>
                </a:lnTo>
                <a:lnTo>
                  <a:pt x="952792" y="22059"/>
                </a:lnTo>
                <a:lnTo>
                  <a:pt x="931037" y="0"/>
                </a:lnTo>
                <a:lnTo>
                  <a:pt x="925830" y="8382"/>
                </a:lnTo>
                <a:lnTo>
                  <a:pt x="944422" y="30734"/>
                </a:lnTo>
                <a:lnTo>
                  <a:pt x="960780" y="57378"/>
                </a:lnTo>
                <a:lnTo>
                  <a:pt x="986790" y="123698"/>
                </a:lnTo>
                <a:lnTo>
                  <a:pt x="996213" y="162306"/>
                </a:lnTo>
                <a:lnTo>
                  <a:pt x="1002957" y="203073"/>
                </a:lnTo>
                <a:lnTo>
                  <a:pt x="1007021" y="246037"/>
                </a:lnTo>
                <a:lnTo>
                  <a:pt x="1008380" y="291211"/>
                </a:lnTo>
                <a:lnTo>
                  <a:pt x="1007021" y="335559"/>
                </a:lnTo>
                <a:lnTo>
                  <a:pt x="1002982" y="378117"/>
                </a:lnTo>
                <a:lnTo>
                  <a:pt x="996264" y="418909"/>
                </a:lnTo>
                <a:lnTo>
                  <a:pt x="986917" y="457962"/>
                </a:lnTo>
                <a:lnTo>
                  <a:pt x="960894" y="525322"/>
                </a:lnTo>
                <a:lnTo>
                  <a:pt x="925830" y="574675"/>
                </a:lnTo>
                <a:lnTo>
                  <a:pt x="931037" y="582930"/>
                </a:lnTo>
                <a:lnTo>
                  <a:pt x="972197" y="533869"/>
                </a:lnTo>
                <a:lnTo>
                  <a:pt x="1003935" y="464693"/>
                </a:lnTo>
                <a:lnTo>
                  <a:pt x="1015695" y="424218"/>
                </a:lnTo>
                <a:lnTo>
                  <a:pt x="1024102" y="381800"/>
                </a:lnTo>
                <a:lnTo>
                  <a:pt x="1029169" y="337439"/>
                </a:lnTo>
                <a:lnTo>
                  <a:pt x="1030846" y="291211"/>
                </a:lnTo>
                <a:close/>
              </a:path>
            </a:pathLst>
          </a:custGeom>
          <a:solidFill>
            <a:srgbClr val="000000"/>
          </a:solidFill>
        </p:spPr>
        <p:txBody>
          <a:bodyPr wrap="square" lIns="0" tIns="0" rIns="0" bIns="0" rtlCol="0"/>
          <a:lstStyle/>
          <a:p>
            <a:endParaRPr dirty="0"/>
          </a:p>
        </p:txBody>
      </p:sp>
      <p:sp>
        <p:nvSpPr>
          <p:cNvPr id="19" name="object 19"/>
          <p:cNvSpPr txBox="1"/>
          <p:nvPr/>
        </p:nvSpPr>
        <p:spPr>
          <a:xfrm>
            <a:off x="6366128" y="1881682"/>
            <a:ext cx="952500" cy="559435"/>
          </a:xfrm>
          <a:prstGeom prst="rect">
            <a:avLst/>
          </a:prstGeom>
        </p:spPr>
        <p:txBody>
          <a:bodyPr vert="horz" wrap="square" lIns="0" tIns="39370" rIns="0" bIns="0" rtlCol="0">
            <a:spAutoFit/>
          </a:bodyPr>
          <a:lstStyle/>
          <a:p>
            <a:pPr marL="62865">
              <a:lnSpc>
                <a:spcPct val="100000"/>
              </a:lnSpc>
              <a:spcBef>
                <a:spcPts val="310"/>
              </a:spcBef>
              <a:tabLst>
                <a:tab pos="593090" algn="l"/>
              </a:tabLst>
            </a:pPr>
            <a:r>
              <a:rPr sz="1300" spc="25" dirty="0">
                <a:latin typeface="Cambria Math"/>
                <a:cs typeface="Cambria Math"/>
              </a:rPr>
              <a:t>𝑓</a:t>
            </a:r>
            <a:r>
              <a:rPr sz="1300" dirty="0">
                <a:latin typeface="Cambria Math"/>
                <a:cs typeface="Cambria Math"/>
              </a:rPr>
              <a:t>	</a:t>
            </a:r>
            <a:r>
              <a:rPr sz="1300" spc="-25" dirty="0">
                <a:latin typeface="Cambria Math"/>
                <a:cs typeface="Cambria Math"/>
              </a:rPr>
              <a:t>𝐿𝐷𝑅</a:t>
            </a:r>
            <a:endParaRPr sz="1300" dirty="0">
              <a:latin typeface="Cambria Math"/>
              <a:cs typeface="Cambria Math"/>
            </a:endParaRPr>
          </a:p>
          <a:p>
            <a:pPr marL="50800">
              <a:lnSpc>
                <a:spcPct val="100000"/>
              </a:lnSpc>
              <a:spcBef>
                <a:spcPts val="270"/>
              </a:spcBef>
            </a:pPr>
            <a:r>
              <a:rPr sz="2700" spc="-37" baseline="10802" dirty="0">
                <a:latin typeface="Cambria Math"/>
                <a:cs typeface="Cambria Math"/>
              </a:rPr>
              <a:t>𝑉</a:t>
            </a:r>
            <a:r>
              <a:rPr sz="1300" spc="-25" dirty="0">
                <a:latin typeface="Cambria Math"/>
                <a:cs typeface="Cambria Math"/>
              </a:rPr>
              <a:t>𝑐𝑐</a:t>
            </a:r>
            <a:endParaRPr sz="1300" dirty="0">
              <a:latin typeface="Cambria Math"/>
              <a:cs typeface="Cambria Math"/>
            </a:endParaRPr>
          </a:p>
        </p:txBody>
      </p:sp>
      <p:sp>
        <p:nvSpPr>
          <p:cNvPr id="23" name="object 23"/>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24" name="object 2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9</a:t>
            </a:fld>
            <a:endParaRPr spc="-25" dirty="0"/>
          </a:p>
        </p:txBody>
      </p:sp>
      <p:sp>
        <p:nvSpPr>
          <p:cNvPr id="20" name="object 20"/>
          <p:cNvSpPr txBox="1"/>
          <p:nvPr/>
        </p:nvSpPr>
        <p:spPr>
          <a:xfrm>
            <a:off x="6311772" y="2467102"/>
            <a:ext cx="470534" cy="299720"/>
          </a:xfrm>
          <a:prstGeom prst="rect">
            <a:avLst/>
          </a:prstGeom>
        </p:spPr>
        <p:txBody>
          <a:bodyPr vert="horz" wrap="square" lIns="0" tIns="12700" rIns="0" bIns="0" rtlCol="0">
            <a:spAutoFit/>
          </a:bodyPr>
          <a:lstStyle/>
          <a:p>
            <a:pPr marL="38100">
              <a:lnSpc>
                <a:spcPct val="100000"/>
              </a:lnSpc>
              <a:spcBef>
                <a:spcPts val="100"/>
              </a:spcBef>
            </a:pPr>
            <a:r>
              <a:rPr sz="2700" spc="-30" baseline="10802" dirty="0">
                <a:latin typeface="Cambria Math"/>
                <a:cs typeface="Cambria Math"/>
              </a:rPr>
              <a:t>𝑉</a:t>
            </a:r>
            <a:r>
              <a:rPr sz="1300" spc="-20" dirty="0">
                <a:latin typeface="Cambria Math"/>
                <a:cs typeface="Cambria Math"/>
              </a:rPr>
              <a:t>𝑜𝑢𝑡</a:t>
            </a:r>
            <a:endParaRPr sz="1300" dirty="0">
              <a:latin typeface="Cambria Math"/>
              <a:cs typeface="Cambria Math"/>
            </a:endParaRPr>
          </a:p>
        </p:txBody>
      </p:sp>
      <p:sp>
        <p:nvSpPr>
          <p:cNvPr id="21" name="object 21"/>
          <p:cNvSpPr txBox="1"/>
          <p:nvPr/>
        </p:nvSpPr>
        <p:spPr>
          <a:xfrm>
            <a:off x="6794372" y="2267458"/>
            <a:ext cx="37465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mbria Math"/>
                <a:cs typeface="Cambria Math"/>
              </a:rPr>
              <a:t>−</a:t>
            </a:r>
            <a:r>
              <a:rPr sz="1800" spc="-5" dirty="0">
                <a:latin typeface="Cambria Math"/>
                <a:cs typeface="Cambria Math"/>
              </a:rPr>
              <a:t> </a:t>
            </a:r>
            <a:r>
              <a:rPr sz="1800" spc="-50" dirty="0">
                <a:latin typeface="Cambria Math"/>
                <a:cs typeface="Cambria Math"/>
              </a:rPr>
              <a:t>1</a:t>
            </a:r>
            <a:endParaRPr sz="1800" dirty="0">
              <a:latin typeface="Cambria Math"/>
              <a:cs typeface="Cambria Math"/>
            </a:endParaRPr>
          </a:p>
        </p:txBody>
      </p:sp>
      <p:sp>
        <p:nvSpPr>
          <p:cNvPr id="22" name="object 22"/>
          <p:cNvSpPr txBox="1"/>
          <p:nvPr/>
        </p:nvSpPr>
        <p:spPr>
          <a:xfrm>
            <a:off x="485140" y="2713990"/>
            <a:ext cx="9904730" cy="3811904"/>
          </a:xfrm>
          <a:prstGeom prst="rect">
            <a:avLst/>
          </a:prstGeom>
        </p:spPr>
        <p:txBody>
          <a:bodyPr vert="horz" wrap="square" lIns="0" tIns="12700" rIns="0" bIns="0" rtlCol="0">
            <a:spAutoFit/>
          </a:bodyPr>
          <a:lstStyle/>
          <a:p>
            <a:pPr marL="118745">
              <a:lnSpc>
                <a:spcPct val="100000"/>
              </a:lnSpc>
              <a:spcBef>
                <a:spcPts val="100"/>
              </a:spcBef>
            </a:pPr>
            <a:r>
              <a:rPr sz="1800" dirty="0">
                <a:latin typeface="Times New Roman" panose="02020603050405020304" pitchFamily="18" charset="0"/>
                <a:cs typeface="Times New Roman" panose="02020603050405020304" pitchFamily="18" charset="0"/>
              </a:rPr>
              <a:t>→Converts</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LDR</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voltage</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into</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light</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intensity</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(lux)</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for</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automatic</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ON/OFF</a:t>
            </a:r>
            <a:r>
              <a:rPr sz="1800" spc="-1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control.</a:t>
            </a:r>
            <a:endParaRPr sz="1800" dirty="0">
              <a:latin typeface="Times New Roman" panose="02020603050405020304" pitchFamily="18" charset="0"/>
              <a:cs typeface="Times New Roman" panose="02020603050405020304" pitchFamily="18" charset="0"/>
            </a:endParaRPr>
          </a:p>
          <a:p>
            <a:pPr>
              <a:lnSpc>
                <a:spcPct val="100000"/>
              </a:lnSpc>
              <a:spcBef>
                <a:spcPts val="90"/>
              </a:spcBef>
            </a:pPr>
            <a:endParaRPr sz="1800" dirty="0">
              <a:latin typeface="Times New Roman" panose="02020603050405020304" pitchFamily="18" charset="0"/>
              <a:cs typeface="Times New Roman" panose="02020603050405020304" pitchFamily="18" charset="0"/>
            </a:endParaRPr>
          </a:p>
          <a:p>
            <a:pPr marL="63500">
              <a:lnSpc>
                <a:spcPct val="100000"/>
              </a:lnSpc>
              <a:tabLst>
                <a:tab pos="463550" algn="l"/>
              </a:tabLst>
            </a:pPr>
            <a:r>
              <a:rPr sz="1800" b="1" spc="-25" dirty="0">
                <a:latin typeface="Times New Roman" panose="02020603050405020304" pitchFamily="18" charset="0"/>
                <a:cs typeface="Times New Roman" panose="02020603050405020304" pitchFamily="18" charset="0"/>
              </a:rPr>
              <a:t>2.</a:t>
            </a:r>
            <a:r>
              <a:rPr sz="1800" b="1" dirty="0">
                <a:latin typeface="Times New Roman" panose="02020603050405020304" pitchFamily="18" charset="0"/>
                <a:cs typeface="Times New Roman" panose="02020603050405020304" pitchFamily="18" charset="0"/>
              </a:rPr>
              <a:t>	Fault</a:t>
            </a:r>
            <a:r>
              <a:rPr sz="1800" b="1" spc="-1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detection</a:t>
            </a:r>
            <a:r>
              <a:rPr sz="1800" b="1" spc="-2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logic</a:t>
            </a:r>
            <a:r>
              <a:rPr sz="1800" b="1" spc="-2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(two-LDR</a:t>
            </a:r>
            <a:r>
              <a:rPr sz="1800" b="1" spc="-20"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scheme)</a:t>
            </a:r>
            <a:endParaRPr sz="1800" dirty="0">
              <a:latin typeface="Times New Roman" panose="02020603050405020304" pitchFamily="18" charset="0"/>
              <a:cs typeface="Times New Roman" panose="02020603050405020304" pitchFamily="18" charset="0"/>
            </a:endParaRPr>
          </a:p>
          <a:p>
            <a:pPr marL="63500">
              <a:lnSpc>
                <a:spcPct val="100000"/>
              </a:lnSpc>
              <a:spcBef>
                <a:spcPts val="840"/>
              </a:spcBef>
            </a:pPr>
            <a:r>
              <a:rPr sz="1800" dirty="0">
                <a:latin typeface="Times New Roman" panose="02020603050405020304" pitchFamily="18" charset="0"/>
                <a:cs typeface="Times New Roman" panose="02020603050405020304" pitchFamily="18" charset="0"/>
              </a:rPr>
              <a:t>Let</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𝑆</a:t>
            </a:r>
            <a:r>
              <a:rPr sz="1950" baseline="-14957" dirty="0">
                <a:latin typeface="Times New Roman" panose="02020603050405020304" pitchFamily="18" charset="0"/>
                <a:cs typeface="Times New Roman" panose="02020603050405020304" pitchFamily="18" charset="0"/>
              </a:rPr>
              <a:t>𝑎</a:t>
            </a:r>
            <a:r>
              <a:rPr sz="1950" spc="337" baseline="-14957"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=ambient</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LDR</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reading,</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𝑆</a:t>
            </a:r>
            <a:r>
              <a:rPr sz="1950" baseline="-14957" dirty="0">
                <a:latin typeface="Times New Roman" panose="02020603050405020304" pitchFamily="18" charset="0"/>
                <a:cs typeface="Times New Roman" panose="02020603050405020304" pitchFamily="18" charset="0"/>
              </a:rPr>
              <a:t>𝓁</a:t>
            </a:r>
            <a:r>
              <a:rPr sz="1950" spc="284" baseline="-14957"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=lamp-</a:t>
            </a:r>
            <a:r>
              <a:rPr sz="1800" dirty="0">
                <a:latin typeface="Times New Roman" panose="02020603050405020304" pitchFamily="18" charset="0"/>
                <a:cs typeface="Times New Roman" panose="02020603050405020304" pitchFamily="18" charset="0"/>
              </a:rPr>
              <a:t>facing</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LDR</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reading</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(measures</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lamp</a:t>
            </a:r>
            <a:r>
              <a:rPr sz="1800" spc="-3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output).</a:t>
            </a:r>
            <a:endParaRPr sz="1800" dirty="0">
              <a:latin typeface="Times New Roman" panose="02020603050405020304" pitchFamily="18" charset="0"/>
              <a:cs typeface="Times New Roman" panose="02020603050405020304" pitchFamily="18" charset="0"/>
            </a:endParaRPr>
          </a:p>
          <a:p>
            <a:pPr marL="406400" marR="6031230" indent="-342900">
              <a:lnSpc>
                <a:spcPct val="152800"/>
              </a:lnSpc>
              <a:spcBef>
                <a:spcPts val="145"/>
              </a:spcBef>
            </a:pPr>
            <a:r>
              <a:rPr sz="1800" dirty="0">
                <a:latin typeface="Times New Roman" panose="02020603050405020304" pitchFamily="18" charset="0"/>
                <a:cs typeface="Times New Roman" panose="02020603050405020304" pitchFamily="18" charset="0"/>
              </a:rPr>
              <a:t>Use</a:t>
            </a:r>
            <a:r>
              <a:rPr sz="1800" spc="-7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thresholds</a:t>
            </a:r>
            <a:r>
              <a:rPr sz="1800" spc="-8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𝑇</a:t>
            </a:r>
            <a:r>
              <a:rPr sz="1950" baseline="-14957" dirty="0">
                <a:latin typeface="Times New Roman" panose="02020603050405020304" pitchFamily="18" charset="0"/>
                <a:cs typeface="Times New Roman" panose="02020603050405020304" pitchFamily="18" charset="0"/>
              </a:rPr>
              <a:t>𝑎</a:t>
            </a:r>
            <a:r>
              <a:rPr sz="1950" spc="209" baseline="-14957"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ambient,</a:t>
            </a:r>
            <a:r>
              <a:rPr sz="1800" spc="-70" dirty="0">
                <a:latin typeface="Times New Roman" panose="02020603050405020304" pitchFamily="18" charset="0"/>
                <a:cs typeface="Times New Roman" panose="02020603050405020304" pitchFamily="18" charset="0"/>
              </a:rPr>
              <a:t> </a:t>
            </a:r>
            <a:r>
              <a:rPr sz="1800" spc="-20" dirty="0">
                <a:latin typeface="Times New Roman" panose="02020603050405020304" pitchFamily="18" charset="0"/>
                <a:cs typeface="Times New Roman" panose="02020603050405020304" pitchFamily="18" charset="0"/>
              </a:rPr>
              <a:t>𝑇</a:t>
            </a:r>
            <a:r>
              <a:rPr sz="1950" spc="-30" baseline="-14957" dirty="0">
                <a:latin typeface="Times New Roman" panose="02020603050405020304" pitchFamily="18" charset="0"/>
                <a:cs typeface="Times New Roman" panose="02020603050405020304" pitchFamily="18" charset="0"/>
              </a:rPr>
              <a:t>𝓁</a:t>
            </a:r>
            <a:r>
              <a:rPr sz="1950" spc="232" baseline="-14957"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lamp</a:t>
            </a:r>
            <a:r>
              <a:rPr sz="1800" spc="-8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light, </a:t>
            </a:r>
            <a:r>
              <a:rPr sz="1800" dirty="0">
                <a:latin typeface="Times New Roman" panose="02020603050405020304" pitchFamily="18" charset="0"/>
                <a:cs typeface="Times New Roman" panose="02020603050405020304" pitchFamily="18" charset="0"/>
              </a:rPr>
              <a:t>Fault</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detection</a:t>
            </a:r>
            <a:r>
              <a:rPr sz="1800" spc="-3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rule:</a:t>
            </a:r>
            <a:endParaRPr sz="1800" dirty="0">
              <a:latin typeface="Times New Roman" panose="02020603050405020304" pitchFamily="18" charset="0"/>
              <a:cs typeface="Times New Roman" panose="02020603050405020304" pitchFamily="18" charset="0"/>
            </a:endParaRPr>
          </a:p>
          <a:p>
            <a:pPr marL="1576705" algn="ctr">
              <a:lnSpc>
                <a:spcPct val="100000"/>
              </a:lnSpc>
              <a:spcBef>
                <a:spcPts val="1225"/>
              </a:spcBef>
              <a:tabLst>
                <a:tab pos="2461895" algn="l"/>
                <a:tab pos="2879725" algn="l"/>
              </a:tabLst>
            </a:pPr>
            <a:r>
              <a:rPr sz="1800" spc="-10" dirty="0">
                <a:latin typeface="Times New Roman" panose="02020603050405020304" pitchFamily="18" charset="0"/>
                <a:cs typeface="Times New Roman" panose="02020603050405020304" pitchFamily="18" charset="0"/>
              </a:rPr>
              <a:t>FAULT</a:t>
            </a:r>
            <a:r>
              <a:rPr sz="1800" dirty="0">
                <a:latin typeface="Times New Roman" panose="02020603050405020304" pitchFamily="18" charset="0"/>
                <a:cs typeface="Times New Roman" panose="02020603050405020304" pitchFamily="18" charset="0"/>
              </a:rPr>
              <a:t>	</a:t>
            </a:r>
            <a:r>
              <a:rPr sz="1800" spc="-50" dirty="0">
                <a:latin typeface="Times New Roman" panose="02020603050405020304" pitchFamily="18" charset="0"/>
                <a:cs typeface="Times New Roman" panose="02020603050405020304" pitchFamily="18" charset="0"/>
              </a:rPr>
              <a:t>⟺</a:t>
            </a:r>
            <a:r>
              <a:rPr sz="1800" dirty="0">
                <a:latin typeface="Times New Roman" panose="02020603050405020304" pitchFamily="18" charset="0"/>
                <a:cs typeface="Times New Roman" panose="02020603050405020304" pitchFamily="18" charset="0"/>
              </a:rPr>
              <a:t>	(𝑆</a:t>
            </a:r>
            <a:r>
              <a:rPr sz="1950" baseline="-14957" dirty="0">
                <a:latin typeface="Times New Roman" panose="02020603050405020304" pitchFamily="18" charset="0"/>
                <a:cs typeface="Times New Roman" panose="02020603050405020304" pitchFamily="18" charset="0"/>
              </a:rPr>
              <a:t>𝑎</a:t>
            </a:r>
            <a:r>
              <a:rPr sz="1950" spc="442" baseline="-14957"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&lt;</a:t>
            </a:r>
            <a:r>
              <a:rPr sz="1800" spc="7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𝑇</a:t>
            </a:r>
            <a:r>
              <a:rPr sz="1950" baseline="-14957" dirty="0">
                <a:latin typeface="Times New Roman" panose="02020603050405020304" pitchFamily="18" charset="0"/>
                <a:cs typeface="Times New Roman" panose="02020603050405020304" pitchFamily="18" charset="0"/>
              </a:rPr>
              <a:t>𝑎</a:t>
            </a:r>
            <a:r>
              <a:rPr sz="1800" dirty="0">
                <a:latin typeface="Times New Roman" panose="02020603050405020304" pitchFamily="18" charset="0"/>
                <a:cs typeface="Times New Roman" panose="02020603050405020304" pitchFamily="18" charset="0"/>
              </a:rPr>
              <a:t>)</a:t>
            </a:r>
            <a:r>
              <a:rPr sz="1800" spc="409"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4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(𝑆</a:t>
            </a:r>
            <a:r>
              <a:rPr sz="1950" baseline="-14957" dirty="0">
                <a:latin typeface="Times New Roman" panose="02020603050405020304" pitchFamily="18" charset="0"/>
                <a:cs typeface="Times New Roman" panose="02020603050405020304" pitchFamily="18" charset="0"/>
              </a:rPr>
              <a:t>𝓁</a:t>
            </a:r>
            <a:r>
              <a:rPr sz="1950" spc="390" baseline="-14957"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&lt;</a:t>
            </a:r>
            <a:r>
              <a:rPr sz="1800" spc="7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𝑇</a:t>
            </a:r>
            <a:r>
              <a:rPr sz="1950" spc="-37" baseline="-14957" dirty="0">
                <a:latin typeface="Times New Roman" panose="02020603050405020304" pitchFamily="18" charset="0"/>
                <a:cs typeface="Times New Roman" panose="02020603050405020304" pitchFamily="18" charset="0"/>
              </a:rPr>
              <a:t>𝓁</a:t>
            </a:r>
            <a:r>
              <a:rPr sz="1800" spc="-25"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p>
            <a:pPr marL="63500">
              <a:lnSpc>
                <a:spcPct val="100000"/>
              </a:lnSpc>
              <a:spcBef>
                <a:spcPts val="1140"/>
              </a:spcBef>
            </a:pPr>
            <a:r>
              <a:rPr sz="1800" dirty="0">
                <a:latin typeface="Times New Roman" panose="02020603050405020304" pitchFamily="18" charset="0"/>
                <a:cs typeface="Times New Roman" panose="02020603050405020304" pitchFamily="18" charset="0"/>
              </a:rPr>
              <a:t>Interpretation:</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it</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is</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night,</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but</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lamp</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output</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is</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below</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expected</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level</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likely</a:t>
            </a:r>
            <a:r>
              <a:rPr sz="1800" spc="-3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fault.</a:t>
            </a:r>
            <a:endParaRPr sz="1800" dirty="0">
              <a:latin typeface="Times New Roman" panose="02020603050405020304" pitchFamily="18" charset="0"/>
              <a:cs typeface="Times New Roman" panose="02020603050405020304" pitchFamily="18" charset="0"/>
            </a:endParaRPr>
          </a:p>
          <a:p>
            <a:pPr marL="63500">
              <a:lnSpc>
                <a:spcPct val="100000"/>
              </a:lnSpc>
              <a:spcBef>
                <a:spcPts val="1250"/>
              </a:spcBef>
            </a:pPr>
            <a:r>
              <a:rPr sz="1800" spc="10" dirty="0">
                <a:latin typeface="Times New Roman" panose="02020603050405020304" pitchFamily="18" charset="0"/>
                <a:cs typeface="Times New Roman" panose="02020603050405020304" pitchFamily="18" charset="0"/>
              </a:rPr>
              <a:t>Add</a:t>
            </a:r>
            <a:r>
              <a:rPr sz="1800" spc="-2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time</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confirmation</a:t>
            </a:r>
            <a:r>
              <a:rPr sz="1800" spc="-20" dirty="0">
                <a:latin typeface="Times New Roman" panose="02020603050405020304" pitchFamily="18" charset="0"/>
                <a:cs typeface="Times New Roman" panose="02020603050405020304" pitchFamily="18" charset="0"/>
              </a:rPr>
              <a:t> </a:t>
            </a:r>
            <a:r>
              <a:rPr sz="1800" spc="65" dirty="0">
                <a:latin typeface="Times New Roman" panose="02020603050405020304" pitchFamily="18" charset="0"/>
                <a:cs typeface="Times New Roman" panose="02020603050405020304" pitchFamily="18" charset="0"/>
              </a:rPr>
              <a:t>𝑡</a:t>
            </a:r>
            <a:r>
              <a:rPr sz="1950" spc="97" baseline="-14957" dirty="0">
                <a:latin typeface="Times New Roman" panose="02020603050405020304" pitchFamily="18" charset="0"/>
                <a:cs typeface="Times New Roman" panose="02020603050405020304" pitchFamily="18" charset="0"/>
              </a:rPr>
              <a:t>𝑐𝑜𝑛𝑓𝑖𝑟𝑚</a:t>
            </a:r>
            <a:r>
              <a:rPr sz="1950" spc="322" baseline="-14957"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:require</a:t>
            </a:r>
            <a:r>
              <a:rPr sz="1800" spc="-2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the</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condition</a:t>
            </a:r>
            <a:r>
              <a:rPr sz="1800" spc="-3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to</a:t>
            </a:r>
            <a:r>
              <a:rPr sz="1800" spc="-2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persist</a:t>
            </a:r>
            <a:r>
              <a:rPr sz="1800" spc="-1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for</a:t>
            </a:r>
            <a:r>
              <a:rPr sz="1800" spc="-2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𝑡</a:t>
            </a:r>
            <a:r>
              <a:rPr sz="1950" spc="15" baseline="-14957" dirty="0">
                <a:latin typeface="Times New Roman" panose="02020603050405020304" pitchFamily="18" charset="0"/>
                <a:cs typeface="Times New Roman" panose="02020603050405020304" pitchFamily="18" charset="0"/>
              </a:rPr>
              <a:t>𝑐𝑜𝑛𝑓𝑖𝑟𝑚</a:t>
            </a:r>
            <a:r>
              <a:rPr sz="1800" spc="10" dirty="0">
                <a:latin typeface="Times New Roman" panose="02020603050405020304" pitchFamily="18" charset="0"/>
                <a:cs typeface="Times New Roman" panose="02020603050405020304" pitchFamily="18" charset="0"/>
              </a:rPr>
              <a:t>seconds</a:t>
            </a:r>
            <a:r>
              <a:rPr sz="1800" spc="-1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to</a:t>
            </a:r>
            <a:r>
              <a:rPr sz="1800" spc="-2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avoid</a:t>
            </a:r>
            <a:r>
              <a:rPr sz="1800" spc="-2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false</a:t>
            </a:r>
            <a:r>
              <a:rPr sz="1800" spc="-3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alarms:</a:t>
            </a:r>
            <a:endParaRPr sz="1800" dirty="0">
              <a:latin typeface="Times New Roman" panose="02020603050405020304" pitchFamily="18" charset="0"/>
              <a:cs typeface="Times New Roman" panose="02020603050405020304" pitchFamily="18" charset="0"/>
            </a:endParaRPr>
          </a:p>
          <a:p>
            <a:pPr marL="1577340" algn="ctr">
              <a:lnSpc>
                <a:spcPct val="100000"/>
              </a:lnSpc>
              <a:spcBef>
                <a:spcPts val="1330"/>
              </a:spcBef>
            </a:pPr>
            <a:r>
              <a:rPr sz="1800" dirty="0">
                <a:latin typeface="Times New Roman" panose="02020603050405020304" pitchFamily="18" charset="0"/>
                <a:cs typeface="Times New Roman" panose="02020603050405020304" pitchFamily="18" charset="0"/>
              </a:rPr>
              <a:t>FAULT</a:t>
            </a:r>
            <a:r>
              <a:rPr sz="1800" spc="-10" dirty="0">
                <a:latin typeface="Times New Roman" panose="02020603050405020304" pitchFamily="18" charset="0"/>
                <a:cs typeface="Times New Roman" panose="02020603050405020304" pitchFamily="18" charset="0"/>
              </a:rPr>
              <a:t> </a:t>
            </a:r>
            <a:r>
              <a:rPr sz="1800" i="1" dirty="0">
                <a:latin typeface="Times New Roman" panose="02020603050405020304" pitchFamily="18" charset="0"/>
                <a:cs typeface="Times New Roman" panose="02020603050405020304" pitchFamily="18" charset="0"/>
              </a:rPr>
              <a:t>if</a:t>
            </a:r>
            <a:r>
              <a:rPr sz="1800" i="1" spc="-25" dirty="0">
                <a:latin typeface="Times New Roman" panose="02020603050405020304" pitchFamily="18" charset="0"/>
                <a:cs typeface="Times New Roman" panose="02020603050405020304" pitchFamily="18" charset="0"/>
              </a:rPr>
              <a:t> </a:t>
            </a:r>
            <a:r>
              <a:rPr sz="1800" i="1" dirty="0">
                <a:latin typeface="Times New Roman" panose="02020603050405020304" pitchFamily="18" charset="0"/>
                <a:cs typeface="Times New Roman" panose="02020603050405020304" pitchFamily="18" charset="0"/>
              </a:rPr>
              <a:t>condition</a:t>
            </a:r>
            <a:r>
              <a:rPr sz="1800" i="1" spc="-10" dirty="0">
                <a:latin typeface="Times New Roman" panose="02020603050405020304" pitchFamily="18" charset="0"/>
                <a:cs typeface="Times New Roman" panose="02020603050405020304" pitchFamily="18" charset="0"/>
              </a:rPr>
              <a:t> </a:t>
            </a:r>
            <a:r>
              <a:rPr sz="1800" i="1" dirty="0">
                <a:latin typeface="Times New Roman" panose="02020603050405020304" pitchFamily="18" charset="0"/>
                <a:cs typeface="Times New Roman" panose="02020603050405020304" pitchFamily="18" charset="0"/>
              </a:rPr>
              <a:t>holds</a:t>
            </a:r>
            <a:r>
              <a:rPr sz="1800" i="1" spc="-20" dirty="0">
                <a:latin typeface="Times New Roman" panose="02020603050405020304" pitchFamily="18" charset="0"/>
                <a:cs typeface="Times New Roman" panose="02020603050405020304" pitchFamily="18" charset="0"/>
              </a:rPr>
              <a:t> </a:t>
            </a:r>
            <a:r>
              <a:rPr sz="1800" i="1" dirty="0">
                <a:latin typeface="Times New Roman" panose="02020603050405020304" pitchFamily="18" charset="0"/>
                <a:cs typeface="Times New Roman" panose="02020603050405020304" pitchFamily="18" charset="0"/>
              </a:rPr>
              <a:t>for</a:t>
            </a:r>
            <a:r>
              <a:rPr sz="1800" i="1"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𝑡</a:t>
            </a:r>
            <a:r>
              <a:rPr sz="1800" spc="10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75" dirty="0">
                <a:latin typeface="Times New Roman" panose="02020603050405020304" pitchFamily="18" charset="0"/>
                <a:cs typeface="Times New Roman" panose="02020603050405020304" pitchFamily="18" charset="0"/>
              </a:rPr>
              <a:t> </a:t>
            </a:r>
            <a:r>
              <a:rPr sz="1800" spc="55" dirty="0">
                <a:latin typeface="Times New Roman" panose="02020603050405020304" pitchFamily="18" charset="0"/>
                <a:cs typeface="Times New Roman" panose="02020603050405020304" pitchFamily="18" charset="0"/>
              </a:rPr>
              <a:t>𝑡</a:t>
            </a:r>
            <a:r>
              <a:rPr sz="1950" spc="82" baseline="-14957" dirty="0">
                <a:latin typeface="Times New Roman" panose="02020603050405020304" pitchFamily="18" charset="0"/>
                <a:cs typeface="Times New Roman" panose="02020603050405020304" pitchFamily="18" charset="0"/>
              </a:rPr>
              <a:t>𝑐𝑜𝑛𝑓𝑖𝑟𝑚</a:t>
            </a:r>
            <a:r>
              <a:rPr sz="1800" spc="55"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719828" y="697433"/>
            <a:ext cx="5347971" cy="443070"/>
          </a:xfrm>
          <a:prstGeom prst="rect">
            <a:avLst/>
          </a:prstGeom>
        </p:spPr>
        <p:txBody>
          <a:bodyPr vert="horz" wrap="square" lIns="0" tIns="12065" rIns="0" bIns="0" rtlCol="0">
            <a:spAutoFit/>
          </a:bodyPr>
          <a:lstStyle/>
          <a:p>
            <a:pPr marL="12700">
              <a:lnSpc>
                <a:spcPct val="100000"/>
              </a:lnSpc>
              <a:spcBef>
                <a:spcPts val="95"/>
              </a:spcBef>
            </a:pPr>
            <a:r>
              <a:rPr sz="2800" b="1" spc="-10" dirty="0">
                <a:latin typeface="Times New Roman" panose="02020603050405020304" pitchFamily="18" charset="0"/>
                <a:cs typeface="Times New Roman" panose="02020603050405020304" pitchFamily="18" charset="0"/>
              </a:rPr>
              <a:t>Hardware/Software</a:t>
            </a:r>
            <a:r>
              <a:rPr sz="2800" b="1" spc="-130" dirty="0">
                <a:latin typeface="Times New Roman" panose="02020603050405020304" pitchFamily="18" charset="0"/>
                <a:cs typeface="Times New Roman" panose="02020603050405020304" pitchFamily="18" charset="0"/>
              </a:rPr>
              <a:t> </a:t>
            </a:r>
            <a:r>
              <a:rPr sz="2800" b="1" spc="-10" dirty="0">
                <a:latin typeface="Times New Roman" panose="02020603050405020304" pitchFamily="18" charset="0"/>
                <a:cs typeface="Times New Roman" panose="02020603050405020304" pitchFamily="18" charset="0"/>
              </a:rPr>
              <a:t>Requirement</a:t>
            </a:r>
            <a:endParaRPr sz="2800" b="1" dirty="0">
              <a:latin typeface="Times New Roman" panose="02020603050405020304" pitchFamily="18" charset="0"/>
              <a:cs typeface="Times New Roman" panose="02020603050405020304" pitchFamily="18" charset="0"/>
            </a:endParaRPr>
          </a:p>
        </p:txBody>
      </p:sp>
      <p:sp>
        <p:nvSpPr>
          <p:cNvPr id="3" name="object 3"/>
          <p:cNvSpPr/>
          <p:nvPr/>
        </p:nvSpPr>
        <p:spPr>
          <a:xfrm>
            <a:off x="0"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dirty="0"/>
          </a:p>
        </p:txBody>
      </p:sp>
      <p:sp>
        <p:nvSpPr>
          <p:cNvPr id="4" name="object 4"/>
          <p:cNvSpPr txBox="1">
            <a:spLocks noGrp="1"/>
          </p:cNvSpPr>
          <p:nvPr>
            <p:ph type="title"/>
          </p:nvPr>
        </p:nvSpPr>
        <p:spPr>
          <a:xfrm>
            <a:off x="0" y="38"/>
            <a:ext cx="7381875" cy="596900"/>
          </a:xfrm>
          <a:prstGeom prst="rect">
            <a:avLst/>
          </a:prstGeom>
          <a:ln w="12700">
            <a:solidFill>
              <a:srgbClr val="FF0000"/>
            </a:solidFill>
          </a:ln>
        </p:spPr>
        <p:txBody>
          <a:bodyPr vert="horz" wrap="square" lIns="0" tIns="61594" rIns="0" bIns="0" rtlCol="0">
            <a:spAutoFit/>
          </a:bodyPr>
          <a:lstStyle/>
          <a:p>
            <a:pPr algn="ctr">
              <a:lnSpc>
                <a:spcPct val="100000"/>
              </a:lnSpc>
              <a:spcBef>
                <a:spcPts val="484"/>
              </a:spcBef>
            </a:pPr>
            <a:r>
              <a:rPr spc="-10" dirty="0"/>
              <a:t>Bhujbal</a:t>
            </a:r>
            <a:r>
              <a:rPr spc="-80" dirty="0"/>
              <a:t> </a:t>
            </a:r>
            <a:r>
              <a:rPr spc="-30" dirty="0"/>
              <a:t>Knowledge</a:t>
            </a:r>
            <a:r>
              <a:rPr spc="-114" dirty="0"/>
              <a:t> </a:t>
            </a:r>
            <a:r>
              <a:rPr spc="-20" dirty="0"/>
              <a:t>City</a:t>
            </a:r>
          </a:p>
        </p:txBody>
      </p:sp>
      <p:grpSp>
        <p:nvGrpSpPr>
          <p:cNvPr id="5" name="object 5"/>
          <p:cNvGrpSpPr/>
          <p:nvPr/>
        </p:nvGrpSpPr>
        <p:grpSpPr>
          <a:xfrm>
            <a:off x="93469" y="-6350"/>
            <a:ext cx="12091670" cy="609600"/>
            <a:chOff x="93469" y="-6350"/>
            <a:chExt cx="12091670" cy="609600"/>
          </a:xfrm>
        </p:grpSpPr>
        <p:sp>
          <p:nvSpPr>
            <p:cNvPr id="6" name="object 6"/>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dirty="0"/>
            </a:p>
          </p:txBody>
        </p:sp>
        <p:sp>
          <p:nvSpPr>
            <p:cNvPr id="7" name="object 7"/>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dirty="0"/>
            </a:p>
          </p:txBody>
        </p:sp>
        <p:pic>
          <p:nvPicPr>
            <p:cNvPr id="8" name="object 8"/>
            <p:cNvPicPr/>
            <p:nvPr/>
          </p:nvPicPr>
          <p:blipFill>
            <a:blip r:embed="rId2" cstate="print"/>
            <a:stretch>
              <a:fillRect/>
            </a:stretch>
          </p:blipFill>
          <p:spPr>
            <a:xfrm>
              <a:off x="93469" y="60058"/>
              <a:ext cx="966698" cy="476135"/>
            </a:xfrm>
            <a:prstGeom prst="rect">
              <a:avLst/>
            </a:prstGeom>
          </p:spPr>
        </p:pic>
        <p:sp>
          <p:nvSpPr>
            <p:cNvPr id="9" name="object 9"/>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dirty="0"/>
            </a:p>
          </p:txBody>
        </p:sp>
        <p:sp>
          <p:nvSpPr>
            <p:cNvPr id="10" name="object 10"/>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dirty="0"/>
            </a:p>
          </p:txBody>
        </p:sp>
        <p:sp>
          <p:nvSpPr>
            <p:cNvPr id="11" name="object 11"/>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dirty="0"/>
            </a:p>
          </p:txBody>
        </p:sp>
        <p:sp>
          <p:nvSpPr>
            <p:cNvPr id="12" name="object 12"/>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dirty="0"/>
            </a:p>
          </p:txBody>
        </p:sp>
      </p:grpSp>
      <p:sp>
        <p:nvSpPr>
          <p:cNvPr id="13" name="object 13"/>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dirty="0">
              <a:latin typeface="Cambria"/>
              <a:cs typeface="Cambria"/>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10</a:t>
            </a:fld>
            <a:endParaRPr spc="-25" dirty="0"/>
          </a:p>
        </p:txBody>
      </p:sp>
      <p:sp>
        <p:nvSpPr>
          <p:cNvPr id="14" name="object 14"/>
          <p:cNvSpPr txBox="1"/>
          <p:nvPr/>
        </p:nvSpPr>
        <p:spPr>
          <a:xfrm>
            <a:off x="459740" y="1402841"/>
            <a:ext cx="8227060" cy="3412794"/>
          </a:xfrm>
          <a:prstGeom prst="rect">
            <a:avLst/>
          </a:prstGeom>
        </p:spPr>
        <p:txBody>
          <a:bodyPr vert="horz" wrap="square" lIns="0" tIns="119380" rIns="0" bIns="0" rtlCol="0">
            <a:spAutoFit/>
          </a:bodyPr>
          <a:lstStyle/>
          <a:p>
            <a:pPr marL="214629" indent="-204470">
              <a:lnSpc>
                <a:spcPct val="100000"/>
              </a:lnSpc>
              <a:spcBef>
                <a:spcPts val="940"/>
              </a:spcBef>
              <a:buSzPct val="94444"/>
              <a:buFont typeface="Wingdings"/>
              <a:buChar char=""/>
              <a:tabLst>
                <a:tab pos="214629" algn="l"/>
              </a:tabLst>
            </a:pPr>
            <a:r>
              <a:rPr sz="1800" b="1" dirty="0">
                <a:latin typeface="Times New Roman"/>
                <a:cs typeface="Times New Roman"/>
              </a:rPr>
              <a:t>Hardware</a:t>
            </a:r>
            <a:r>
              <a:rPr sz="1800" b="1" spc="-110" dirty="0">
                <a:latin typeface="Times New Roman"/>
                <a:cs typeface="Times New Roman"/>
              </a:rPr>
              <a:t> </a:t>
            </a:r>
            <a:r>
              <a:rPr sz="1800" b="1" spc="-10" dirty="0">
                <a:latin typeface="Times New Roman"/>
                <a:cs typeface="Times New Roman"/>
              </a:rPr>
              <a:t>Requirements</a:t>
            </a:r>
            <a:endParaRPr sz="1800" dirty="0">
              <a:latin typeface="Times New Roman"/>
              <a:cs typeface="Times New Roman"/>
            </a:endParaRPr>
          </a:p>
          <a:p>
            <a:pPr marL="437515" lvl="1" indent="-228600">
              <a:lnSpc>
                <a:spcPct val="100000"/>
              </a:lnSpc>
              <a:spcBef>
                <a:spcPts val="840"/>
              </a:spcBef>
              <a:buAutoNum type="arabicPeriod"/>
              <a:tabLst>
                <a:tab pos="437515" algn="l"/>
              </a:tabLst>
            </a:pPr>
            <a:r>
              <a:rPr sz="1800" b="1" dirty="0">
                <a:latin typeface="Times New Roman"/>
                <a:cs typeface="Times New Roman"/>
              </a:rPr>
              <a:t>Control</a:t>
            </a:r>
            <a:r>
              <a:rPr sz="1800" b="1" spc="-60" dirty="0">
                <a:latin typeface="Times New Roman"/>
                <a:cs typeface="Times New Roman"/>
              </a:rPr>
              <a:t> </a:t>
            </a:r>
            <a:r>
              <a:rPr sz="1800" b="1" spc="-20" dirty="0">
                <a:latin typeface="Times New Roman"/>
                <a:cs typeface="Times New Roman"/>
              </a:rPr>
              <a:t>Units</a:t>
            </a:r>
            <a:endParaRPr sz="1800" dirty="0">
              <a:latin typeface="Times New Roman"/>
              <a:cs typeface="Times New Roman"/>
            </a:endParaRPr>
          </a:p>
          <a:p>
            <a:pPr marL="837565" marR="5080" indent="-285750">
              <a:lnSpc>
                <a:spcPts val="3450"/>
              </a:lnSpc>
              <a:spcBef>
                <a:spcPts val="325"/>
              </a:spcBef>
              <a:buFont typeface="Wingdings" panose="05000000000000000000" pitchFamily="2" charset="2"/>
              <a:buChar char="q"/>
            </a:pPr>
            <a:r>
              <a:rPr sz="1800" dirty="0">
                <a:latin typeface="Times New Roman"/>
                <a:cs typeface="Times New Roman"/>
              </a:rPr>
              <a:t>ESP</a:t>
            </a:r>
            <a:r>
              <a:rPr lang="en-IN" sz="1800" dirty="0">
                <a:latin typeface="Times New Roman"/>
                <a:cs typeface="Times New Roman"/>
              </a:rPr>
              <a:t>8266</a:t>
            </a:r>
            <a:r>
              <a:rPr sz="1800" spc="-50" dirty="0">
                <a:latin typeface="Times New Roman"/>
                <a:cs typeface="Times New Roman"/>
              </a:rPr>
              <a:t> </a:t>
            </a:r>
            <a:r>
              <a:rPr sz="1800" dirty="0">
                <a:latin typeface="Times New Roman"/>
                <a:cs typeface="Times New Roman"/>
              </a:rPr>
              <a:t>Development</a:t>
            </a:r>
            <a:r>
              <a:rPr sz="1800" spc="-30" dirty="0">
                <a:latin typeface="Times New Roman"/>
                <a:cs typeface="Times New Roman"/>
              </a:rPr>
              <a:t> </a:t>
            </a:r>
            <a:r>
              <a:rPr sz="1800" dirty="0">
                <a:latin typeface="Times New Roman"/>
                <a:cs typeface="Times New Roman"/>
              </a:rPr>
              <a:t>Board</a:t>
            </a:r>
            <a:r>
              <a:rPr sz="1800" spc="-20" dirty="0">
                <a:latin typeface="Times New Roman"/>
                <a:cs typeface="Times New Roman"/>
              </a:rPr>
              <a:t> </a:t>
            </a:r>
            <a:endParaRPr lang="en-US" sz="1800" spc="-10" dirty="0">
              <a:latin typeface="Times New Roman"/>
              <a:cs typeface="Times New Roman"/>
            </a:endParaRPr>
          </a:p>
          <a:p>
            <a:pPr marL="551815" marR="5080">
              <a:lnSpc>
                <a:spcPts val="3450"/>
              </a:lnSpc>
              <a:spcBef>
                <a:spcPts val="325"/>
              </a:spcBef>
            </a:pPr>
            <a:r>
              <a:rPr lang="en-US" sz="1800" spc="-10" dirty="0">
                <a:latin typeface="Times New Roman"/>
                <a:cs typeface="Times New Roman"/>
              </a:rPr>
              <a:t> </a:t>
            </a:r>
          </a:p>
          <a:p>
            <a:pPr marL="437515" lvl="1" indent="-228600">
              <a:lnSpc>
                <a:spcPct val="100000"/>
              </a:lnSpc>
              <a:spcBef>
                <a:spcPts val="935"/>
              </a:spcBef>
              <a:buAutoNum type="arabicPeriod" startAt="2"/>
              <a:tabLst>
                <a:tab pos="437515" algn="l"/>
              </a:tabLst>
            </a:pPr>
            <a:r>
              <a:rPr lang="en-US" sz="1800" b="1" spc="-10" dirty="0">
                <a:latin typeface="Times New Roman"/>
                <a:cs typeface="Times New Roman"/>
              </a:rPr>
              <a:t>Sensors</a:t>
            </a:r>
            <a:endParaRPr lang="en-US" sz="1800" dirty="0">
              <a:latin typeface="Times New Roman"/>
              <a:cs typeface="Times New Roman"/>
            </a:endParaRPr>
          </a:p>
          <a:p>
            <a:pPr marL="837565" indent="-285750">
              <a:lnSpc>
                <a:spcPct val="100000"/>
              </a:lnSpc>
              <a:spcBef>
                <a:spcPts val="1285"/>
              </a:spcBef>
              <a:buFont typeface="Wingdings" panose="05000000000000000000" pitchFamily="2" charset="2"/>
              <a:buChar char="q"/>
            </a:pPr>
            <a:r>
              <a:rPr sz="1800" dirty="0">
                <a:latin typeface="Times New Roman"/>
                <a:cs typeface="Times New Roman"/>
              </a:rPr>
              <a:t>PIR</a:t>
            </a:r>
            <a:r>
              <a:rPr sz="1800" spc="-15" dirty="0">
                <a:latin typeface="Times New Roman"/>
                <a:cs typeface="Times New Roman"/>
              </a:rPr>
              <a:t> </a:t>
            </a:r>
            <a:r>
              <a:rPr sz="1800" dirty="0">
                <a:latin typeface="Times New Roman"/>
                <a:cs typeface="Times New Roman"/>
              </a:rPr>
              <a:t>sensor</a:t>
            </a:r>
            <a:r>
              <a:rPr sz="1800" spc="-15"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dirty="0">
                <a:latin typeface="Times New Roman"/>
                <a:cs typeface="Times New Roman"/>
              </a:rPr>
              <a:t>motion</a:t>
            </a:r>
            <a:r>
              <a:rPr sz="1800" spc="-10" dirty="0">
                <a:latin typeface="Times New Roman"/>
                <a:cs typeface="Times New Roman"/>
              </a:rPr>
              <a:t> detection</a:t>
            </a:r>
            <a:endParaRPr sz="1800" dirty="0">
              <a:latin typeface="Times New Roman"/>
              <a:cs typeface="Times New Roman"/>
            </a:endParaRPr>
          </a:p>
          <a:p>
            <a:pPr marL="837565" marR="1579245" indent="-285750">
              <a:lnSpc>
                <a:spcPct val="159200"/>
              </a:lnSpc>
              <a:spcBef>
                <a:spcPts val="5"/>
              </a:spcBef>
              <a:buFont typeface="Wingdings" panose="05000000000000000000" pitchFamily="2" charset="2"/>
              <a:buChar char="q"/>
            </a:pPr>
            <a:r>
              <a:rPr sz="1800" dirty="0">
                <a:latin typeface="Times New Roman"/>
                <a:cs typeface="Times New Roman"/>
              </a:rPr>
              <a:t>LDR</a:t>
            </a:r>
            <a:r>
              <a:rPr sz="1800" spc="-15" dirty="0">
                <a:latin typeface="Times New Roman"/>
                <a:cs typeface="Times New Roman"/>
              </a:rPr>
              <a:t> </a:t>
            </a:r>
            <a:r>
              <a:rPr sz="1800" dirty="0">
                <a:latin typeface="Times New Roman"/>
                <a:cs typeface="Times New Roman"/>
              </a:rPr>
              <a:t>– ambient</a:t>
            </a:r>
            <a:r>
              <a:rPr sz="1800" spc="-5" dirty="0">
                <a:latin typeface="Times New Roman"/>
                <a:cs typeface="Times New Roman"/>
              </a:rPr>
              <a:t> </a:t>
            </a:r>
            <a:r>
              <a:rPr sz="1800" dirty="0">
                <a:latin typeface="Times New Roman"/>
                <a:cs typeface="Times New Roman"/>
              </a:rPr>
              <a:t>light</a:t>
            </a:r>
            <a:r>
              <a:rPr sz="1800" spc="-25" dirty="0">
                <a:latin typeface="Times New Roman"/>
                <a:cs typeface="Times New Roman"/>
              </a:rPr>
              <a:t> </a:t>
            </a:r>
            <a:r>
              <a:rPr sz="1800" dirty="0">
                <a:latin typeface="Times New Roman"/>
                <a:cs typeface="Times New Roman"/>
              </a:rPr>
              <a:t>and</a:t>
            </a:r>
            <a:r>
              <a:rPr sz="1800" spc="5" dirty="0">
                <a:latin typeface="Times New Roman"/>
                <a:cs typeface="Times New Roman"/>
              </a:rPr>
              <a:t> </a:t>
            </a:r>
            <a:r>
              <a:rPr sz="1800" dirty="0">
                <a:latin typeface="Times New Roman"/>
                <a:cs typeface="Times New Roman"/>
              </a:rPr>
              <a:t>faulty</a:t>
            </a:r>
            <a:r>
              <a:rPr sz="1800" spc="-25" dirty="0">
                <a:latin typeface="Times New Roman"/>
                <a:cs typeface="Times New Roman"/>
              </a:rPr>
              <a:t> </a:t>
            </a:r>
            <a:r>
              <a:rPr sz="1800" dirty="0">
                <a:latin typeface="Times New Roman"/>
                <a:cs typeface="Times New Roman"/>
              </a:rPr>
              <a:t>lamp</a:t>
            </a:r>
            <a:r>
              <a:rPr sz="1800" spc="5" dirty="0">
                <a:latin typeface="Times New Roman"/>
                <a:cs typeface="Times New Roman"/>
              </a:rPr>
              <a:t> </a:t>
            </a:r>
            <a:r>
              <a:rPr sz="1800" spc="-10" dirty="0">
                <a:latin typeface="Times New Roman"/>
                <a:cs typeface="Times New Roman"/>
              </a:rPr>
              <a:t>detection </a:t>
            </a:r>
            <a:endParaRPr lang="en-IN" sz="1800" spc="-10" dirty="0">
              <a:latin typeface="Times New Roman"/>
              <a:cs typeface="Times New Roman"/>
            </a:endParaRPr>
          </a:p>
          <a:p>
            <a:pPr marL="837565" marR="1579245" indent="-285750">
              <a:lnSpc>
                <a:spcPct val="159200"/>
              </a:lnSpc>
              <a:spcBef>
                <a:spcPts val="5"/>
              </a:spcBef>
              <a:buFont typeface="Wingdings" panose="05000000000000000000" pitchFamily="2" charset="2"/>
              <a:buChar char="q"/>
            </a:pPr>
            <a:r>
              <a:rPr lang="en-IN" spc="-10" dirty="0">
                <a:latin typeface="Times New Roman"/>
                <a:cs typeface="Times New Roman"/>
              </a:rPr>
              <a:t>RELAY – 3 Modules</a:t>
            </a:r>
            <a:endParaRPr lang="en-IN" sz="1800" spc="-10"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974339" y="678306"/>
            <a:ext cx="6931661" cy="443070"/>
          </a:xfrm>
          <a:prstGeom prst="rect">
            <a:avLst/>
          </a:prstGeom>
        </p:spPr>
        <p:txBody>
          <a:bodyPr vert="horz" wrap="square" lIns="0" tIns="12065" rIns="0" bIns="0" rtlCol="0">
            <a:spAutoFit/>
          </a:bodyPr>
          <a:lstStyle/>
          <a:p>
            <a:pPr marL="12700">
              <a:lnSpc>
                <a:spcPct val="100000"/>
              </a:lnSpc>
              <a:spcBef>
                <a:spcPts val="95"/>
              </a:spcBef>
            </a:pPr>
            <a:r>
              <a:rPr sz="2800" b="1" dirty="0">
                <a:latin typeface="Times New Roman" panose="02020603050405020304" pitchFamily="18" charset="0"/>
                <a:cs typeface="Times New Roman" panose="02020603050405020304" pitchFamily="18" charset="0"/>
              </a:rPr>
              <a:t>Software</a:t>
            </a:r>
            <a:r>
              <a:rPr sz="2800" b="1" spc="-95" dirty="0">
                <a:latin typeface="Times New Roman" panose="02020603050405020304" pitchFamily="18" charset="0"/>
                <a:cs typeface="Times New Roman" panose="02020603050405020304" pitchFamily="18" charset="0"/>
              </a:rPr>
              <a:t> </a:t>
            </a:r>
            <a:r>
              <a:rPr sz="2800" b="1" spc="-10" dirty="0">
                <a:latin typeface="Times New Roman" panose="02020603050405020304" pitchFamily="18" charset="0"/>
                <a:cs typeface="Times New Roman" panose="02020603050405020304" pitchFamily="18" charset="0"/>
              </a:rPr>
              <a:t>Requirement</a:t>
            </a:r>
            <a:r>
              <a:rPr sz="2800" b="1" spc="-75"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&amp;</a:t>
            </a:r>
            <a:r>
              <a:rPr sz="2800" b="1" spc="-105"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Specification</a:t>
            </a:r>
            <a:r>
              <a:rPr sz="2800" b="1" spc="-100" dirty="0">
                <a:latin typeface="Times New Roman" panose="02020603050405020304" pitchFamily="18" charset="0"/>
                <a:cs typeface="Times New Roman" panose="02020603050405020304" pitchFamily="18" charset="0"/>
              </a:rPr>
              <a:t> </a:t>
            </a:r>
            <a:r>
              <a:rPr sz="2800" b="1" spc="-10" dirty="0">
                <a:latin typeface="Times New Roman" panose="02020603050405020304" pitchFamily="18" charset="0"/>
                <a:cs typeface="Times New Roman" panose="02020603050405020304" pitchFamily="18" charset="0"/>
              </a:rPr>
              <a:t>(SRS)</a:t>
            </a:r>
            <a:endParaRPr sz="2800" b="1" dirty="0">
              <a:latin typeface="Times New Roman" panose="02020603050405020304" pitchFamily="18" charset="0"/>
              <a:cs typeface="Times New Roman" panose="02020603050405020304" pitchFamily="18" charset="0"/>
            </a:endParaRPr>
          </a:p>
        </p:txBody>
      </p:sp>
      <p:sp>
        <p:nvSpPr>
          <p:cNvPr id="3" name="object 3"/>
          <p:cNvSpPr/>
          <p:nvPr/>
        </p:nvSpPr>
        <p:spPr>
          <a:xfrm>
            <a:off x="0"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dirty="0"/>
          </a:p>
        </p:txBody>
      </p:sp>
      <p:sp>
        <p:nvSpPr>
          <p:cNvPr id="4" name="object 4"/>
          <p:cNvSpPr txBox="1">
            <a:spLocks noGrp="1"/>
          </p:cNvSpPr>
          <p:nvPr>
            <p:ph type="title"/>
          </p:nvPr>
        </p:nvSpPr>
        <p:spPr>
          <a:xfrm>
            <a:off x="0" y="38"/>
            <a:ext cx="7381875" cy="596900"/>
          </a:xfrm>
          <a:prstGeom prst="rect">
            <a:avLst/>
          </a:prstGeom>
          <a:ln w="12700">
            <a:solidFill>
              <a:srgbClr val="FF0000"/>
            </a:solidFill>
          </a:ln>
        </p:spPr>
        <p:txBody>
          <a:bodyPr vert="horz" wrap="square" lIns="0" tIns="61594" rIns="0" bIns="0" rtlCol="0">
            <a:spAutoFit/>
          </a:bodyPr>
          <a:lstStyle/>
          <a:p>
            <a:pPr algn="ctr">
              <a:lnSpc>
                <a:spcPct val="100000"/>
              </a:lnSpc>
              <a:spcBef>
                <a:spcPts val="484"/>
              </a:spcBef>
            </a:pPr>
            <a:r>
              <a:rPr spc="-10" dirty="0"/>
              <a:t>Bhujbal</a:t>
            </a:r>
            <a:r>
              <a:rPr spc="-80" dirty="0"/>
              <a:t> </a:t>
            </a:r>
            <a:r>
              <a:rPr spc="-30" dirty="0"/>
              <a:t>Knowledge</a:t>
            </a:r>
            <a:r>
              <a:rPr spc="-114" dirty="0"/>
              <a:t> </a:t>
            </a:r>
            <a:r>
              <a:rPr spc="-20" dirty="0"/>
              <a:t>City</a:t>
            </a:r>
          </a:p>
        </p:txBody>
      </p:sp>
      <p:grpSp>
        <p:nvGrpSpPr>
          <p:cNvPr id="5" name="object 5"/>
          <p:cNvGrpSpPr/>
          <p:nvPr/>
        </p:nvGrpSpPr>
        <p:grpSpPr>
          <a:xfrm>
            <a:off x="93469" y="-6350"/>
            <a:ext cx="12091670" cy="609600"/>
            <a:chOff x="93469" y="-6350"/>
            <a:chExt cx="12091670" cy="609600"/>
          </a:xfrm>
        </p:grpSpPr>
        <p:sp>
          <p:nvSpPr>
            <p:cNvPr id="6" name="object 6"/>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dirty="0"/>
            </a:p>
          </p:txBody>
        </p:sp>
        <p:sp>
          <p:nvSpPr>
            <p:cNvPr id="7" name="object 7"/>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dirty="0"/>
            </a:p>
          </p:txBody>
        </p:sp>
        <p:pic>
          <p:nvPicPr>
            <p:cNvPr id="8" name="object 8"/>
            <p:cNvPicPr/>
            <p:nvPr/>
          </p:nvPicPr>
          <p:blipFill>
            <a:blip r:embed="rId2" cstate="print"/>
            <a:stretch>
              <a:fillRect/>
            </a:stretch>
          </p:blipFill>
          <p:spPr>
            <a:xfrm>
              <a:off x="93469" y="60058"/>
              <a:ext cx="966698" cy="476135"/>
            </a:xfrm>
            <a:prstGeom prst="rect">
              <a:avLst/>
            </a:prstGeom>
          </p:spPr>
        </p:pic>
        <p:sp>
          <p:nvSpPr>
            <p:cNvPr id="9" name="object 9"/>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dirty="0"/>
            </a:p>
          </p:txBody>
        </p:sp>
        <p:sp>
          <p:nvSpPr>
            <p:cNvPr id="10" name="object 10"/>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dirty="0"/>
            </a:p>
          </p:txBody>
        </p:sp>
        <p:sp>
          <p:nvSpPr>
            <p:cNvPr id="11" name="object 11"/>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dirty="0"/>
            </a:p>
          </p:txBody>
        </p:sp>
        <p:sp>
          <p:nvSpPr>
            <p:cNvPr id="12" name="object 12"/>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dirty="0"/>
            </a:p>
          </p:txBody>
        </p:sp>
      </p:grpSp>
      <p:sp>
        <p:nvSpPr>
          <p:cNvPr id="13" name="object 13"/>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dirty="0">
              <a:latin typeface="Cambria"/>
              <a:cs typeface="Cambria"/>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11</a:t>
            </a:fld>
            <a:endParaRPr spc="-25" dirty="0"/>
          </a:p>
        </p:txBody>
      </p:sp>
      <p:sp>
        <p:nvSpPr>
          <p:cNvPr id="14" name="object 14"/>
          <p:cNvSpPr txBox="1"/>
          <p:nvPr/>
        </p:nvSpPr>
        <p:spPr>
          <a:xfrm>
            <a:off x="459740" y="1593341"/>
            <a:ext cx="9701530" cy="2841419"/>
          </a:xfrm>
          <a:prstGeom prst="rect">
            <a:avLst/>
          </a:prstGeom>
        </p:spPr>
        <p:txBody>
          <a:bodyPr vert="horz" wrap="square" lIns="0" tIns="12700" rIns="0" bIns="0" rtlCol="0">
            <a:spAutoFit/>
          </a:bodyPr>
          <a:lstStyle/>
          <a:p>
            <a:pPr marL="214629" indent="-204470">
              <a:lnSpc>
                <a:spcPct val="100000"/>
              </a:lnSpc>
              <a:spcBef>
                <a:spcPts val="100"/>
              </a:spcBef>
              <a:buSzPct val="94444"/>
              <a:buFont typeface="Wingdings"/>
              <a:buChar char=""/>
              <a:tabLst>
                <a:tab pos="214629" algn="l"/>
              </a:tabLst>
            </a:pPr>
            <a:r>
              <a:rPr sz="1800" b="1" spc="-10" dirty="0">
                <a:latin typeface="Times New Roman"/>
                <a:cs typeface="Times New Roman"/>
              </a:rPr>
              <a:t>Software</a:t>
            </a:r>
            <a:r>
              <a:rPr sz="1800" b="1" spc="-45" dirty="0">
                <a:latin typeface="Times New Roman"/>
                <a:cs typeface="Times New Roman"/>
              </a:rPr>
              <a:t> </a:t>
            </a:r>
            <a:r>
              <a:rPr sz="1800" b="1" spc="-10" dirty="0">
                <a:latin typeface="Times New Roman"/>
                <a:cs typeface="Times New Roman"/>
              </a:rPr>
              <a:t>Requirements</a:t>
            </a:r>
            <a:endParaRPr sz="1800" dirty="0">
              <a:latin typeface="Times New Roman"/>
              <a:cs typeface="Times New Roman"/>
            </a:endParaRPr>
          </a:p>
          <a:p>
            <a:pPr>
              <a:lnSpc>
                <a:spcPct val="100000"/>
              </a:lnSpc>
              <a:spcBef>
                <a:spcPts val="5"/>
              </a:spcBef>
            </a:pPr>
            <a:endParaRPr sz="1800" dirty="0">
              <a:latin typeface="Times New Roman"/>
              <a:cs typeface="Times New Roman"/>
            </a:endParaRPr>
          </a:p>
          <a:p>
            <a:pPr marL="240029" indent="-227329">
              <a:lnSpc>
                <a:spcPct val="100000"/>
              </a:lnSpc>
              <a:buAutoNum type="arabicPeriod"/>
              <a:tabLst>
                <a:tab pos="240029" algn="l"/>
              </a:tabLst>
            </a:pPr>
            <a:r>
              <a:rPr sz="1800" b="1" dirty="0">
                <a:latin typeface="Times New Roman"/>
                <a:cs typeface="Times New Roman"/>
              </a:rPr>
              <a:t>Embedded</a:t>
            </a:r>
            <a:r>
              <a:rPr sz="1800" b="1" spc="-40" dirty="0">
                <a:latin typeface="Times New Roman"/>
                <a:cs typeface="Times New Roman"/>
              </a:rPr>
              <a:t> </a:t>
            </a:r>
            <a:r>
              <a:rPr sz="1800" b="1" spc="-10" dirty="0">
                <a:latin typeface="Times New Roman"/>
                <a:cs typeface="Times New Roman"/>
              </a:rPr>
              <a:t>Development</a:t>
            </a:r>
            <a:endParaRPr sz="1800" dirty="0">
              <a:latin typeface="Times New Roman"/>
              <a:cs typeface="Times New Roman"/>
            </a:endParaRPr>
          </a:p>
          <a:p>
            <a:pPr marL="755650" marR="2809875" indent="-285750">
              <a:lnSpc>
                <a:spcPct val="172800"/>
              </a:lnSpc>
              <a:spcBef>
                <a:spcPts val="15"/>
              </a:spcBef>
              <a:buFont typeface="Wingdings" panose="05000000000000000000" pitchFamily="2" charset="2"/>
              <a:buChar char="q"/>
            </a:pPr>
            <a:r>
              <a:rPr sz="1800" dirty="0">
                <a:latin typeface="Times New Roman"/>
                <a:cs typeface="Times New Roman"/>
              </a:rPr>
              <a:t>Arduino</a:t>
            </a:r>
            <a:r>
              <a:rPr sz="1800" spc="-65" dirty="0">
                <a:latin typeface="Times New Roman"/>
                <a:cs typeface="Times New Roman"/>
              </a:rPr>
              <a:t> </a:t>
            </a:r>
            <a:r>
              <a:rPr sz="1800" dirty="0">
                <a:latin typeface="Times New Roman"/>
                <a:cs typeface="Times New Roman"/>
              </a:rPr>
              <a:t>IDE</a:t>
            </a:r>
            <a:r>
              <a:rPr sz="1800" spc="-30" dirty="0">
                <a:latin typeface="Times New Roman"/>
                <a:cs typeface="Times New Roman"/>
              </a:rPr>
              <a:t> </a:t>
            </a:r>
            <a:r>
              <a:rPr sz="1800" dirty="0">
                <a:latin typeface="Times New Roman"/>
                <a:cs typeface="Times New Roman"/>
              </a:rPr>
              <a:t>/</a:t>
            </a:r>
            <a:r>
              <a:rPr sz="1800" spc="-40" dirty="0">
                <a:latin typeface="Times New Roman"/>
                <a:cs typeface="Times New Roman"/>
              </a:rPr>
              <a:t> </a:t>
            </a:r>
            <a:r>
              <a:rPr sz="1800" dirty="0">
                <a:latin typeface="Times New Roman"/>
                <a:cs typeface="Times New Roman"/>
              </a:rPr>
              <a:t>PlatformIO</a:t>
            </a:r>
            <a:r>
              <a:rPr sz="1800" spc="-35" dirty="0">
                <a:latin typeface="Times New Roman"/>
                <a:cs typeface="Times New Roman"/>
              </a:rPr>
              <a:t> </a:t>
            </a:r>
            <a:r>
              <a:rPr sz="1800" dirty="0">
                <a:latin typeface="Times New Roman"/>
                <a:cs typeface="Times New Roman"/>
              </a:rPr>
              <a:t>(for</a:t>
            </a:r>
            <a:r>
              <a:rPr sz="1800" spc="-30" dirty="0">
                <a:latin typeface="Times New Roman"/>
                <a:cs typeface="Times New Roman"/>
              </a:rPr>
              <a:t> </a:t>
            </a:r>
            <a:r>
              <a:rPr sz="1800" dirty="0">
                <a:latin typeface="Times New Roman"/>
                <a:cs typeface="Times New Roman"/>
              </a:rPr>
              <a:t>programming</a:t>
            </a:r>
            <a:r>
              <a:rPr sz="1800" spc="-25" dirty="0">
                <a:latin typeface="Times New Roman"/>
                <a:cs typeface="Times New Roman"/>
              </a:rPr>
              <a:t> </a:t>
            </a:r>
            <a:r>
              <a:rPr sz="1800" dirty="0">
                <a:latin typeface="Times New Roman"/>
                <a:cs typeface="Times New Roman"/>
              </a:rPr>
              <a:t>ESP</a:t>
            </a:r>
            <a:r>
              <a:rPr lang="en-IN" sz="1800" dirty="0">
                <a:latin typeface="Times New Roman"/>
                <a:cs typeface="Times New Roman"/>
              </a:rPr>
              <a:t>8266)</a:t>
            </a:r>
            <a:endParaRPr sz="1800" dirty="0">
              <a:latin typeface="Times New Roman"/>
              <a:cs typeface="Times New Roman"/>
            </a:endParaRPr>
          </a:p>
          <a:p>
            <a:pPr>
              <a:lnSpc>
                <a:spcPct val="100000"/>
              </a:lnSpc>
              <a:spcBef>
                <a:spcPts val="15"/>
              </a:spcBef>
            </a:pPr>
            <a:endParaRPr sz="1800" dirty="0">
              <a:latin typeface="Times New Roman"/>
              <a:cs typeface="Times New Roman"/>
            </a:endParaRPr>
          </a:p>
          <a:p>
            <a:pPr marL="235585" indent="-222885">
              <a:lnSpc>
                <a:spcPct val="100000"/>
              </a:lnSpc>
              <a:buAutoNum type="arabicPeriod" startAt="2"/>
              <a:tabLst>
                <a:tab pos="235585" algn="l"/>
              </a:tabLst>
            </a:pPr>
            <a:r>
              <a:rPr sz="1800" b="1" spc="-10" dirty="0">
                <a:latin typeface="Times New Roman"/>
                <a:cs typeface="Times New Roman"/>
              </a:rPr>
              <a:t>Telegram</a:t>
            </a:r>
            <a:r>
              <a:rPr sz="1800" b="1" spc="-55" dirty="0">
                <a:latin typeface="Times New Roman"/>
                <a:cs typeface="Times New Roman"/>
              </a:rPr>
              <a:t> </a:t>
            </a:r>
            <a:r>
              <a:rPr sz="1800" b="1" dirty="0">
                <a:latin typeface="Times New Roman"/>
                <a:cs typeface="Times New Roman"/>
              </a:rPr>
              <a:t>Bot</a:t>
            </a:r>
            <a:r>
              <a:rPr sz="1800" b="1" spc="-55" dirty="0">
                <a:latin typeface="Times New Roman"/>
                <a:cs typeface="Times New Roman"/>
              </a:rPr>
              <a:t> </a:t>
            </a:r>
            <a:r>
              <a:rPr sz="1800" b="1" spc="-10" dirty="0">
                <a:latin typeface="Times New Roman"/>
                <a:cs typeface="Times New Roman"/>
              </a:rPr>
              <a:t>Development</a:t>
            </a:r>
            <a:endParaRPr sz="1800" dirty="0">
              <a:latin typeface="Times New Roman"/>
              <a:cs typeface="Times New Roman"/>
            </a:endParaRPr>
          </a:p>
          <a:p>
            <a:pPr marL="755650" indent="-285750">
              <a:lnSpc>
                <a:spcPct val="100000"/>
              </a:lnSpc>
              <a:spcBef>
                <a:spcPts val="1575"/>
              </a:spcBef>
              <a:buFont typeface="Wingdings" panose="05000000000000000000" pitchFamily="2" charset="2"/>
              <a:buChar char="q"/>
            </a:pPr>
            <a:r>
              <a:rPr sz="1800" b="1" dirty="0">
                <a:latin typeface="Times New Roman"/>
                <a:cs typeface="Times New Roman"/>
              </a:rPr>
              <a:t>Bot</a:t>
            </a:r>
            <a:r>
              <a:rPr sz="1800" b="1" spc="-25" dirty="0">
                <a:latin typeface="Times New Roman"/>
                <a:cs typeface="Times New Roman"/>
              </a:rPr>
              <a:t> </a:t>
            </a:r>
            <a:r>
              <a:rPr sz="1800" b="1" dirty="0">
                <a:latin typeface="Times New Roman"/>
                <a:cs typeface="Times New Roman"/>
              </a:rPr>
              <a:t>Framework:</a:t>
            </a:r>
            <a:r>
              <a:rPr sz="1800" b="1" spc="-45" dirty="0">
                <a:latin typeface="Times New Roman"/>
                <a:cs typeface="Times New Roman"/>
              </a:rPr>
              <a:t> </a:t>
            </a:r>
            <a:r>
              <a:rPr sz="1800" dirty="0">
                <a:latin typeface="Times New Roman"/>
                <a:cs typeface="Times New Roman"/>
              </a:rPr>
              <a:t>Python</a:t>
            </a:r>
            <a:r>
              <a:rPr sz="1800" spc="-30" dirty="0">
                <a:latin typeface="Times New Roman"/>
                <a:cs typeface="Times New Roman"/>
              </a:rPr>
              <a:t> </a:t>
            </a:r>
            <a:r>
              <a:rPr sz="1800" spc="-10" dirty="0">
                <a:latin typeface="Times New Roman"/>
                <a:cs typeface="Times New Roman"/>
              </a:rPr>
              <a:t>(python-telegram-</a:t>
            </a:r>
            <a:r>
              <a:rPr sz="1800" dirty="0">
                <a:latin typeface="Times New Roman"/>
                <a:cs typeface="Times New Roman"/>
              </a:rPr>
              <a:t>bot)</a:t>
            </a:r>
            <a:r>
              <a:rPr sz="1800" spc="-45" dirty="0">
                <a:latin typeface="Times New Roman"/>
                <a:cs typeface="Times New Roman"/>
              </a:rPr>
              <a:t> </a:t>
            </a:r>
            <a:endParaRPr sz="1800" dirty="0">
              <a:latin typeface="Times New Roman"/>
              <a:cs typeface="Times New Roman"/>
            </a:endParaRPr>
          </a:p>
          <a:p>
            <a:pPr marL="755650" indent="-285750">
              <a:lnSpc>
                <a:spcPct val="100000"/>
              </a:lnSpc>
              <a:spcBef>
                <a:spcPts val="1585"/>
              </a:spcBef>
              <a:buFont typeface="Wingdings" panose="05000000000000000000" pitchFamily="2" charset="2"/>
              <a:buChar char="q"/>
            </a:pPr>
            <a:r>
              <a:rPr sz="1800" b="1" dirty="0">
                <a:latin typeface="Times New Roman"/>
                <a:cs typeface="Times New Roman"/>
              </a:rPr>
              <a:t>API</a:t>
            </a:r>
            <a:r>
              <a:rPr sz="1800" b="1" spc="-60" dirty="0">
                <a:latin typeface="Times New Roman"/>
                <a:cs typeface="Times New Roman"/>
              </a:rPr>
              <a:t> </a:t>
            </a:r>
            <a:r>
              <a:rPr sz="1800" b="1" dirty="0">
                <a:latin typeface="Times New Roman"/>
                <a:cs typeface="Times New Roman"/>
              </a:rPr>
              <a:t>Integration:</a:t>
            </a:r>
            <a:r>
              <a:rPr sz="1800" b="1" spc="-40" dirty="0">
                <a:latin typeface="Times New Roman"/>
                <a:cs typeface="Times New Roman"/>
              </a:rPr>
              <a:t> </a:t>
            </a:r>
            <a:r>
              <a:rPr sz="1800" dirty="0">
                <a:latin typeface="Times New Roman"/>
                <a:cs typeface="Times New Roman"/>
              </a:rPr>
              <a:t>MQTT</a:t>
            </a:r>
            <a:r>
              <a:rPr sz="1800" spc="-55" dirty="0">
                <a:latin typeface="Times New Roman"/>
                <a:cs typeface="Times New Roman"/>
              </a:rPr>
              <a:t> </a:t>
            </a:r>
            <a:r>
              <a:rPr sz="1800" dirty="0">
                <a:latin typeface="Times New Roman"/>
                <a:cs typeface="Times New Roman"/>
              </a:rPr>
              <a:t>bridge</a:t>
            </a:r>
            <a:r>
              <a:rPr sz="1800" spc="-30" dirty="0">
                <a:latin typeface="Times New Roman"/>
                <a:cs typeface="Times New Roman"/>
              </a:rPr>
              <a:t> </a:t>
            </a:r>
            <a:r>
              <a:rPr sz="1800" dirty="0">
                <a:latin typeface="Times New Roman"/>
                <a:cs typeface="Times New Roman"/>
              </a:rPr>
              <a:t>to</a:t>
            </a:r>
            <a:r>
              <a:rPr sz="1800" spc="-40" dirty="0">
                <a:latin typeface="Times New Roman"/>
                <a:cs typeface="Times New Roman"/>
              </a:rPr>
              <a:t> </a:t>
            </a:r>
            <a:r>
              <a:rPr sz="1800" dirty="0">
                <a:latin typeface="Times New Roman"/>
                <a:cs typeface="Times New Roman"/>
              </a:rPr>
              <a:t>fetch</a:t>
            </a:r>
            <a:r>
              <a:rPr sz="1800" spc="-40" dirty="0">
                <a:latin typeface="Times New Roman"/>
                <a:cs typeface="Times New Roman"/>
              </a:rPr>
              <a:t> </a:t>
            </a:r>
            <a:r>
              <a:rPr sz="1800" dirty="0">
                <a:latin typeface="Times New Roman"/>
                <a:cs typeface="Times New Roman"/>
              </a:rPr>
              <a:t>sensor</a:t>
            </a:r>
            <a:r>
              <a:rPr sz="1800" spc="-35" dirty="0">
                <a:latin typeface="Times New Roman"/>
                <a:cs typeface="Times New Roman"/>
              </a:rPr>
              <a:t> </a:t>
            </a:r>
            <a:r>
              <a:rPr sz="1800" dirty="0">
                <a:latin typeface="Times New Roman"/>
                <a:cs typeface="Times New Roman"/>
              </a:rPr>
              <a:t>data</a:t>
            </a:r>
            <a:r>
              <a:rPr sz="1800" spc="-35" dirty="0">
                <a:latin typeface="Times New Roman"/>
                <a:cs typeface="Times New Roman"/>
              </a:rPr>
              <a:t> </a:t>
            </a:r>
            <a:r>
              <a:rPr sz="1800" dirty="0">
                <a:latin typeface="Times New Roman"/>
                <a:cs typeface="Times New Roman"/>
              </a:rPr>
              <a:t>and</a:t>
            </a:r>
            <a:r>
              <a:rPr sz="1800" spc="-35" dirty="0">
                <a:latin typeface="Times New Roman"/>
                <a:cs typeface="Times New Roman"/>
              </a:rPr>
              <a:t> </a:t>
            </a:r>
            <a:r>
              <a:rPr sz="1800" dirty="0">
                <a:latin typeface="Times New Roman"/>
                <a:cs typeface="Times New Roman"/>
              </a:rPr>
              <a:t>send</a:t>
            </a:r>
            <a:r>
              <a:rPr sz="1800" spc="-40" dirty="0">
                <a:latin typeface="Times New Roman"/>
                <a:cs typeface="Times New Roman"/>
              </a:rPr>
              <a:t> </a:t>
            </a:r>
            <a:r>
              <a:rPr sz="1800" dirty="0">
                <a:latin typeface="Times New Roman"/>
                <a:cs typeface="Times New Roman"/>
              </a:rPr>
              <a:t>alerts</a:t>
            </a:r>
            <a:r>
              <a:rPr sz="1800" spc="-35" dirty="0">
                <a:latin typeface="Times New Roman"/>
                <a:cs typeface="Times New Roman"/>
              </a:rPr>
              <a:t> </a:t>
            </a:r>
            <a:r>
              <a:rPr sz="1800" dirty="0">
                <a:latin typeface="Times New Roman"/>
                <a:cs typeface="Times New Roman"/>
              </a:rPr>
              <a:t>from</a:t>
            </a:r>
            <a:r>
              <a:rPr sz="1800" spc="-35" dirty="0">
                <a:latin typeface="Times New Roman"/>
                <a:cs typeface="Times New Roman"/>
              </a:rPr>
              <a:t> </a:t>
            </a:r>
            <a:r>
              <a:rPr sz="1800" dirty="0">
                <a:latin typeface="Times New Roman"/>
                <a:cs typeface="Times New Roman"/>
              </a:rPr>
              <a:t>IoT</a:t>
            </a:r>
            <a:r>
              <a:rPr sz="1800" spc="-60" dirty="0">
                <a:latin typeface="Times New Roman"/>
                <a:cs typeface="Times New Roman"/>
              </a:rPr>
              <a:t> </a:t>
            </a:r>
            <a:r>
              <a:rPr sz="1800" spc="-10" dirty="0">
                <a:latin typeface="Times New Roman"/>
                <a:cs typeface="Times New Roman"/>
              </a:rPr>
              <a:t>nodes</a:t>
            </a:r>
            <a:endParaRPr sz="1800" dirty="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E65649F-11DC-3853-7685-94FEF9FBBA9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3E6AE88-F5A3-E13D-D351-312DE96DD9F9}"/>
              </a:ext>
            </a:extLst>
          </p:cNvPr>
          <p:cNvSpPr txBox="1"/>
          <p:nvPr/>
        </p:nvSpPr>
        <p:spPr>
          <a:xfrm>
            <a:off x="5385053" y="787654"/>
            <a:ext cx="2463547" cy="443070"/>
          </a:xfrm>
          <a:prstGeom prst="rect">
            <a:avLst/>
          </a:prstGeom>
        </p:spPr>
        <p:txBody>
          <a:bodyPr vert="horz" wrap="square" lIns="0" tIns="12065" rIns="0" bIns="0" rtlCol="0">
            <a:spAutoFit/>
          </a:bodyPr>
          <a:lstStyle/>
          <a:p>
            <a:pPr marL="12700">
              <a:lnSpc>
                <a:spcPct val="100000"/>
              </a:lnSpc>
              <a:spcBef>
                <a:spcPts val="95"/>
              </a:spcBef>
            </a:pPr>
            <a:r>
              <a:rPr sz="2800" b="1" dirty="0">
                <a:latin typeface="Times New Roman" panose="02020603050405020304" pitchFamily="18" charset="0"/>
                <a:cs typeface="Times New Roman" panose="02020603050405020304" pitchFamily="18" charset="0"/>
              </a:rPr>
              <a:t>Risk</a:t>
            </a:r>
            <a:r>
              <a:rPr sz="2800" b="1" spc="-30" dirty="0">
                <a:latin typeface="Times New Roman" panose="02020603050405020304" pitchFamily="18" charset="0"/>
                <a:cs typeface="Times New Roman" panose="02020603050405020304" pitchFamily="18" charset="0"/>
              </a:rPr>
              <a:t> </a:t>
            </a:r>
            <a:r>
              <a:rPr sz="2800" b="1" spc="-10" dirty="0">
                <a:latin typeface="Times New Roman" panose="02020603050405020304" pitchFamily="18" charset="0"/>
                <a:cs typeface="Times New Roman" panose="02020603050405020304" pitchFamily="18" charset="0"/>
              </a:rPr>
              <a:t>Analysis</a:t>
            </a:r>
            <a:endParaRPr sz="2800" b="1" dirty="0">
              <a:latin typeface="Times New Roman" panose="02020603050405020304" pitchFamily="18" charset="0"/>
              <a:cs typeface="Times New Roman" panose="02020603050405020304" pitchFamily="18" charset="0"/>
            </a:endParaRPr>
          </a:p>
        </p:txBody>
      </p:sp>
      <p:grpSp>
        <p:nvGrpSpPr>
          <p:cNvPr id="3" name="object 3">
            <a:extLst>
              <a:ext uri="{FF2B5EF4-FFF2-40B4-BE49-F238E27FC236}">
                <a16:creationId xmlns:a16="http://schemas.microsoft.com/office/drawing/2014/main" id="{B3DEEB6F-9669-DBA4-43DD-A237BB6F9759}"/>
              </a:ext>
            </a:extLst>
          </p:cNvPr>
          <p:cNvGrpSpPr/>
          <p:nvPr/>
        </p:nvGrpSpPr>
        <p:grpSpPr>
          <a:xfrm>
            <a:off x="6902" y="-6311"/>
            <a:ext cx="7394575" cy="609600"/>
            <a:chOff x="6902" y="-6311"/>
            <a:chExt cx="7394575" cy="609600"/>
          </a:xfrm>
        </p:grpSpPr>
        <p:sp>
          <p:nvSpPr>
            <p:cNvPr id="4" name="object 4">
              <a:extLst>
                <a:ext uri="{FF2B5EF4-FFF2-40B4-BE49-F238E27FC236}">
                  <a16:creationId xmlns:a16="http://schemas.microsoft.com/office/drawing/2014/main" id="{DED448B8-274A-7979-B598-F63049F8F144}"/>
                </a:ext>
              </a:extLst>
            </p:cNvPr>
            <p:cNvSpPr/>
            <p:nvPr/>
          </p:nvSpPr>
          <p:spPr>
            <a:xfrm>
              <a:off x="13252"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dirty="0"/>
            </a:p>
          </p:txBody>
        </p:sp>
        <p:sp>
          <p:nvSpPr>
            <p:cNvPr id="5" name="object 5">
              <a:extLst>
                <a:ext uri="{FF2B5EF4-FFF2-40B4-BE49-F238E27FC236}">
                  <a16:creationId xmlns:a16="http://schemas.microsoft.com/office/drawing/2014/main" id="{0A9998BC-44AD-C3EA-2DEF-34E1BC6966FF}"/>
                </a:ext>
              </a:extLst>
            </p:cNvPr>
            <p:cNvSpPr/>
            <p:nvPr/>
          </p:nvSpPr>
          <p:spPr>
            <a:xfrm>
              <a:off x="13252" y="38"/>
              <a:ext cx="7381875" cy="596900"/>
            </a:xfrm>
            <a:custGeom>
              <a:avLst/>
              <a:gdLst/>
              <a:ahLst/>
              <a:cxnLst/>
              <a:rect l="l" t="t" r="r" b="b"/>
              <a:pathLst>
                <a:path w="7381875" h="596900">
                  <a:moveTo>
                    <a:pt x="0" y="596353"/>
                  </a:moveTo>
                  <a:lnTo>
                    <a:pt x="7381494" y="596353"/>
                  </a:lnTo>
                  <a:lnTo>
                    <a:pt x="7381494" y="0"/>
                  </a:lnTo>
                  <a:lnTo>
                    <a:pt x="0" y="0"/>
                  </a:lnTo>
                  <a:lnTo>
                    <a:pt x="0" y="596353"/>
                  </a:lnTo>
                  <a:close/>
                </a:path>
              </a:pathLst>
            </a:custGeom>
            <a:ln w="12700">
              <a:solidFill>
                <a:srgbClr val="FF0000"/>
              </a:solidFill>
            </a:ln>
          </p:spPr>
          <p:txBody>
            <a:bodyPr wrap="square" lIns="0" tIns="0" rIns="0" bIns="0" rtlCol="0"/>
            <a:lstStyle/>
            <a:p>
              <a:endParaRPr dirty="0"/>
            </a:p>
          </p:txBody>
        </p:sp>
      </p:grpSp>
      <p:sp>
        <p:nvSpPr>
          <p:cNvPr id="6" name="object 6">
            <a:extLst>
              <a:ext uri="{FF2B5EF4-FFF2-40B4-BE49-F238E27FC236}">
                <a16:creationId xmlns:a16="http://schemas.microsoft.com/office/drawing/2014/main" id="{4257891D-0FBE-9C7D-AC2D-65A6AB7310E8}"/>
              </a:ext>
            </a:extLst>
          </p:cNvPr>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Bhujbal</a:t>
            </a:r>
            <a:r>
              <a:rPr spc="-80" dirty="0"/>
              <a:t> </a:t>
            </a:r>
            <a:r>
              <a:rPr spc="-30" dirty="0"/>
              <a:t>Knowledge</a:t>
            </a:r>
            <a:r>
              <a:rPr spc="-114" dirty="0"/>
              <a:t> </a:t>
            </a:r>
            <a:r>
              <a:rPr spc="-20" dirty="0"/>
              <a:t>City</a:t>
            </a:r>
          </a:p>
        </p:txBody>
      </p:sp>
      <p:grpSp>
        <p:nvGrpSpPr>
          <p:cNvPr id="7" name="object 7">
            <a:extLst>
              <a:ext uri="{FF2B5EF4-FFF2-40B4-BE49-F238E27FC236}">
                <a16:creationId xmlns:a16="http://schemas.microsoft.com/office/drawing/2014/main" id="{32831361-47E4-D3BD-6DC4-EF02B03C37F6}"/>
              </a:ext>
            </a:extLst>
          </p:cNvPr>
          <p:cNvGrpSpPr/>
          <p:nvPr/>
        </p:nvGrpSpPr>
        <p:grpSpPr>
          <a:xfrm>
            <a:off x="93469" y="-6350"/>
            <a:ext cx="12091670" cy="609600"/>
            <a:chOff x="93469" y="-6350"/>
            <a:chExt cx="12091670" cy="609600"/>
          </a:xfrm>
        </p:grpSpPr>
        <p:sp>
          <p:nvSpPr>
            <p:cNvPr id="8" name="object 8">
              <a:extLst>
                <a:ext uri="{FF2B5EF4-FFF2-40B4-BE49-F238E27FC236}">
                  <a16:creationId xmlns:a16="http://schemas.microsoft.com/office/drawing/2014/main" id="{C9FF3FCE-2A43-AA61-63EE-3128EB1BFEE8}"/>
                </a:ext>
              </a:extLst>
            </p:cNvPr>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dirty="0"/>
            </a:p>
          </p:txBody>
        </p:sp>
        <p:sp>
          <p:nvSpPr>
            <p:cNvPr id="9" name="object 9">
              <a:extLst>
                <a:ext uri="{FF2B5EF4-FFF2-40B4-BE49-F238E27FC236}">
                  <a16:creationId xmlns:a16="http://schemas.microsoft.com/office/drawing/2014/main" id="{131B5BB7-B2E7-F689-A464-E0FB75C2AD56}"/>
                </a:ext>
              </a:extLst>
            </p:cNvPr>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dirty="0"/>
            </a:p>
          </p:txBody>
        </p:sp>
        <p:pic>
          <p:nvPicPr>
            <p:cNvPr id="10" name="object 10">
              <a:extLst>
                <a:ext uri="{FF2B5EF4-FFF2-40B4-BE49-F238E27FC236}">
                  <a16:creationId xmlns:a16="http://schemas.microsoft.com/office/drawing/2014/main" id="{339A0F16-AC2E-26B1-C2FC-61B58949E418}"/>
                </a:ext>
              </a:extLst>
            </p:cNvPr>
            <p:cNvPicPr/>
            <p:nvPr/>
          </p:nvPicPr>
          <p:blipFill>
            <a:blip r:embed="rId2" cstate="print"/>
            <a:stretch>
              <a:fillRect/>
            </a:stretch>
          </p:blipFill>
          <p:spPr>
            <a:xfrm>
              <a:off x="93469" y="60058"/>
              <a:ext cx="966698" cy="476135"/>
            </a:xfrm>
            <a:prstGeom prst="rect">
              <a:avLst/>
            </a:prstGeom>
          </p:spPr>
        </p:pic>
        <p:sp>
          <p:nvSpPr>
            <p:cNvPr id="11" name="object 11">
              <a:extLst>
                <a:ext uri="{FF2B5EF4-FFF2-40B4-BE49-F238E27FC236}">
                  <a16:creationId xmlns:a16="http://schemas.microsoft.com/office/drawing/2014/main" id="{7481034F-3751-C467-AEFA-2D7B97D419B4}"/>
                </a:ext>
              </a:extLst>
            </p:cNvPr>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dirty="0"/>
            </a:p>
          </p:txBody>
        </p:sp>
        <p:sp>
          <p:nvSpPr>
            <p:cNvPr id="12" name="object 12">
              <a:extLst>
                <a:ext uri="{FF2B5EF4-FFF2-40B4-BE49-F238E27FC236}">
                  <a16:creationId xmlns:a16="http://schemas.microsoft.com/office/drawing/2014/main" id="{E40336DB-DDDF-A49D-3ED8-1FB0FF46F3F4}"/>
                </a:ext>
              </a:extLst>
            </p:cNvPr>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dirty="0"/>
            </a:p>
          </p:txBody>
        </p:sp>
        <p:sp>
          <p:nvSpPr>
            <p:cNvPr id="13" name="object 13">
              <a:extLst>
                <a:ext uri="{FF2B5EF4-FFF2-40B4-BE49-F238E27FC236}">
                  <a16:creationId xmlns:a16="http://schemas.microsoft.com/office/drawing/2014/main" id="{362F689D-717F-53CE-C84F-22482DC9ECF9}"/>
                </a:ext>
              </a:extLst>
            </p:cNvPr>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dirty="0"/>
            </a:p>
          </p:txBody>
        </p:sp>
        <p:sp>
          <p:nvSpPr>
            <p:cNvPr id="14" name="object 14">
              <a:extLst>
                <a:ext uri="{FF2B5EF4-FFF2-40B4-BE49-F238E27FC236}">
                  <a16:creationId xmlns:a16="http://schemas.microsoft.com/office/drawing/2014/main" id="{A020455F-8D40-36D9-8D38-D09C0558108B}"/>
                </a:ext>
              </a:extLst>
            </p:cNvPr>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dirty="0"/>
            </a:p>
          </p:txBody>
        </p:sp>
      </p:grpSp>
      <p:sp>
        <p:nvSpPr>
          <p:cNvPr id="15" name="object 15">
            <a:extLst>
              <a:ext uri="{FF2B5EF4-FFF2-40B4-BE49-F238E27FC236}">
                <a16:creationId xmlns:a16="http://schemas.microsoft.com/office/drawing/2014/main" id="{055EC410-A2D8-68B0-8AB7-71C0EF4CCF4E}"/>
              </a:ext>
            </a:extLst>
          </p:cNvPr>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dirty="0">
              <a:latin typeface="Cambria"/>
              <a:cs typeface="Cambria"/>
            </a:endParaRPr>
          </a:p>
        </p:txBody>
      </p:sp>
      <p:sp>
        <p:nvSpPr>
          <p:cNvPr id="17" name="object 17">
            <a:extLst>
              <a:ext uri="{FF2B5EF4-FFF2-40B4-BE49-F238E27FC236}">
                <a16:creationId xmlns:a16="http://schemas.microsoft.com/office/drawing/2014/main" id="{8182B139-2C72-0497-F776-85C19EF30084}"/>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18" name="object 18">
            <a:extLst>
              <a:ext uri="{FF2B5EF4-FFF2-40B4-BE49-F238E27FC236}">
                <a16:creationId xmlns:a16="http://schemas.microsoft.com/office/drawing/2014/main" id="{99059D6B-AF55-14B5-AD30-6B49BA88F8DC}"/>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12</a:t>
            </a:fld>
            <a:endParaRPr spc="-25" dirty="0"/>
          </a:p>
        </p:txBody>
      </p:sp>
      <p:sp>
        <p:nvSpPr>
          <p:cNvPr id="16" name="object 16">
            <a:extLst>
              <a:ext uri="{FF2B5EF4-FFF2-40B4-BE49-F238E27FC236}">
                <a16:creationId xmlns:a16="http://schemas.microsoft.com/office/drawing/2014/main" id="{D99C487C-926C-D39A-DB09-1C0E7EAED9E5}"/>
              </a:ext>
            </a:extLst>
          </p:cNvPr>
          <p:cNvSpPr txBox="1"/>
          <p:nvPr/>
        </p:nvSpPr>
        <p:spPr>
          <a:xfrm>
            <a:off x="383540" y="1759157"/>
            <a:ext cx="11374120" cy="2907665"/>
          </a:xfrm>
          <a:prstGeom prst="rect">
            <a:avLst/>
          </a:prstGeom>
        </p:spPr>
        <p:txBody>
          <a:bodyPr vert="horz" wrap="square" lIns="0" tIns="13335" rIns="0" bIns="0" rtlCol="0">
            <a:spAutoFit/>
          </a:bodyPr>
          <a:lstStyle/>
          <a:p>
            <a:pPr marL="355600" marR="5715" indent="-342900" algn="just">
              <a:lnSpc>
                <a:spcPct val="150100"/>
              </a:lnSpc>
              <a:spcBef>
                <a:spcPts val="105"/>
              </a:spcBef>
              <a:buFont typeface="Wingdings"/>
              <a:buChar char=""/>
              <a:tabLst>
                <a:tab pos="355600" algn="l"/>
              </a:tabLst>
            </a:pPr>
            <a:r>
              <a:rPr sz="1800" b="1" dirty="0">
                <a:latin typeface="Times New Roman"/>
                <a:cs typeface="Times New Roman"/>
              </a:rPr>
              <a:t>Sensor</a:t>
            </a:r>
            <a:r>
              <a:rPr sz="1800" b="1" spc="20" dirty="0">
                <a:latin typeface="Times New Roman"/>
                <a:cs typeface="Times New Roman"/>
              </a:rPr>
              <a:t> </a:t>
            </a:r>
            <a:r>
              <a:rPr sz="1800" b="1" dirty="0">
                <a:latin typeface="Times New Roman"/>
                <a:cs typeface="Times New Roman"/>
              </a:rPr>
              <a:t>Failure:</a:t>
            </a:r>
            <a:r>
              <a:rPr sz="1800" b="1" spc="45" dirty="0">
                <a:latin typeface="Times New Roman"/>
                <a:cs typeface="Times New Roman"/>
              </a:rPr>
              <a:t> </a:t>
            </a:r>
            <a:r>
              <a:rPr sz="1800" dirty="0">
                <a:latin typeface="Times New Roman"/>
                <a:cs typeface="Times New Roman"/>
              </a:rPr>
              <a:t>Sensors</a:t>
            </a:r>
            <a:r>
              <a:rPr sz="1800" spc="45" dirty="0">
                <a:latin typeface="Times New Roman"/>
                <a:cs typeface="Times New Roman"/>
              </a:rPr>
              <a:t> </a:t>
            </a:r>
            <a:r>
              <a:rPr sz="1800" dirty="0">
                <a:latin typeface="Times New Roman"/>
                <a:cs typeface="Times New Roman"/>
              </a:rPr>
              <a:t>like</a:t>
            </a:r>
            <a:r>
              <a:rPr sz="1800" spc="65" dirty="0">
                <a:latin typeface="Times New Roman"/>
                <a:cs typeface="Times New Roman"/>
              </a:rPr>
              <a:t> </a:t>
            </a:r>
            <a:r>
              <a:rPr sz="1800" dirty="0">
                <a:latin typeface="Times New Roman"/>
                <a:cs typeface="Times New Roman"/>
              </a:rPr>
              <a:t>LDR,</a:t>
            </a:r>
            <a:r>
              <a:rPr sz="1800" spc="55" dirty="0">
                <a:latin typeface="Times New Roman"/>
                <a:cs typeface="Times New Roman"/>
              </a:rPr>
              <a:t> </a:t>
            </a:r>
            <a:r>
              <a:rPr sz="1800" dirty="0">
                <a:latin typeface="Times New Roman"/>
                <a:cs typeface="Times New Roman"/>
              </a:rPr>
              <a:t>PIR,</a:t>
            </a:r>
            <a:r>
              <a:rPr sz="1800" spc="60" dirty="0">
                <a:latin typeface="Times New Roman"/>
                <a:cs typeface="Times New Roman"/>
              </a:rPr>
              <a:t> </a:t>
            </a:r>
            <a:r>
              <a:rPr sz="1800" dirty="0">
                <a:latin typeface="Times New Roman"/>
                <a:cs typeface="Times New Roman"/>
              </a:rPr>
              <a:t>vibration,</a:t>
            </a:r>
            <a:r>
              <a:rPr sz="1800" spc="60" dirty="0">
                <a:latin typeface="Times New Roman"/>
                <a:cs typeface="Times New Roman"/>
              </a:rPr>
              <a:t> </a:t>
            </a:r>
            <a:r>
              <a:rPr sz="1800" dirty="0">
                <a:latin typeface="Times New Roman"/>
                <a:cs typeface="Times New Roman"/>
              </a:rPr>
              <a:t>or</a:t>
            </a:r>
            <a:r>
              <a:rPr sz="1800" spc="50" dirty="0">
                <a:latin typeface="Times New Roman"/>
                <a:cs typeface="Times New Roman"/>
              </a:rPr>
              <a:t> </a:t>
            </a:r>
            <a:r>
              <a:rPr sz="1800" dirty="0">
                <a:latin typeface="Times New Roman"/>
                <a:cs typeface="Times New Roman"/>
              </a:rPr>
              <a:t>temperature</a:t>
            </a:r>
            <a:r>
              <a:rPr sz="1800" spc="40" dirty="0">
                <a:latin typeface="Times New Roman"/>
                <a:cs typeface="Times New Roman"/>
              </a:rPr>
              <a:t> </a:t>
            </a:r>
            <a:r>
              <a:rPr sz="1800" dirty="0">
                <a:latin typeface="Times New Roman"/>
                <a:cs typeface="Times New Roman"/>
              </a:rPr>
              <a:t>sensors</a:t>
            </a:r>
            <a:r>
              <a:rPr sz="1800" spc="50" dirty="0">
                <a:latin typeface="Times New Roman"/>
                <a:cs typeface="Times New Roman"/>
              </a:rPr>
              <a:t> </a:t>
            </a:r>
            <a:r>
              <a:rPr sz="1800" dirty="0">
                <a:latin typeface="Times New Roman"/>
                <a:cs typeface="Times New Roman"/>
              </a:rPr>
              <a:t>may</a:t>
            </a:r>
            <a:r>
              <a:rPr sz="1800" spc="75" dirty="0">
                <a:latin typeface="Times New Roman"/>
                <a:cs typeface="Times New Roman"/>
              </a:rPr>
              <a:t> </a:t>
            </a:r>
            <a:r>
              <a:rPr sz="1800" dirty="0">
                <a:latin typeface="Times New Roman"/>
                <a:cs typeface="Times New Roman"/>
              </a:rPr>
              <a:t>fail,</a:t>
            </a:r>
            <a:r>
              <a:rPr sz="1800" spc="50" dirty="0">
                <a:latin typeface="Times New Roman"/>
                <a:cs typeface="Times New Roman"/>
              </a:rPr>
              <a:t> </a:t>
            </a:r>
            <a:r>
              <a:rPr sz="1800" dirty="0">
                <a:latin typeface="Times New Roman"/>
                <a:cs typeface="Times New Roman"/>
              </a:rPr>
              <a:t>causing</a:t>
            </a:r>
            <a:r>
              <a:rPr sz="1800" spc="60" dirty="0">
                <a:latin typeface="Times New Roman"/>
                <a:cs typeface="Times New Roman"/>
              </a:rPr>
              <a:t> </a:t>
            </a:r>
            <a:r>
              <a:rPr sz="1800" dirty="0">
                <a:latin typeface="Times New Roman"/>
                <a:cs typeface="Times New Roman"/>
              </a:rPr>
              <a:t>streetlights</a:t>
            </a:r>
            <a:r>
              <a:rPr sz="1800" spc="55" dirty="0">
                <a:latin typeface="Times New Roman"/>
                <a:cs typeface="Times New Roman"/>
              </a:rPr>
              <a:t> </a:t>
            </a:r>
            <a:r>
              <a:rPr sz="1800" dirty="0">
                <a:latin typeface="Times New Roman"/>
                <a:cs typeface="Times New Roman"/>
              </a:rPr>
              <a:t>to</a:t>
            </a:r>
            <a:r>
              <a:rPr sz="1800" spc="50" dirty="0">
                <a:latin typeface="Times New Roman"/>
                <a:cs typeface="Times New Roman"/>
              </a:rPr>
              <a:t> </a:t>
            </a:r>
            <a:r>
              <a:rPr sz="1800" spc="-10" dirty="0">
                <a:latin typeface="Times New Roman"/>
                <a:cs typeface="Times New Roman"/>
              </a:rPr>
              <a:t>malfunction </a:t>
            </a:r>
            <a:r>
              <a:rPr sz="1800" dirty="0">
                <a:latin typeface="Times New Roman"/>
                <a:cs typeface="Times New Roman"/>
              </a:rPr>
              <a:t>or</a:t>
            </a:r>
            <a:r>
              <a:rPr sz="1800" spc="195" dirty="0">
                <a:latin typeface="Times New Roman"/>
                <a:cs typeface="Times New Roman"/>
              </a:rPr>
              <a:t> </a:t>
            </a:r>
            <a:r>
              <a:rPr sz="1800" dirty="0">
                <a:latin typeface="Times New Roman"/>
                <a:cs typeface="Times New Roman"/>
              </a:rPr>
              <a:t>faults</a:t>
            </a:r>
            <a:r>
              <a:rPr sz="1800" spc="195" dirty="0">
                <a:latin typeface="Times New Roman"/>
                <a:cs typeface="Times New Roman"/>
              </a:rPr>
              <a:t> </a:t>
            </a:r>
            <a:r>
              <a:rPr sz="1800" dirty="0">
                <a:latin typeface="Times New Roman"/>
                <a:cs typeface="Times New Roman"/>
              </a:rPr>
              <a:t>to</a:t>
            </a:r>
            <a:r>
              <a:rPr sz="1800" spc="190" dirty="0">
                <a:latin typeface="Times New Roman"/>
                <a:cs typeface="Times New Roman"/>
              </a:rPr>
              <a:t> </a:t>
            </a:r>
            <a:r>
              <a:rPr sz="1800" dirty="0">
                <a:latin typeface="Times New Roman"/>
                <a:cs typeface="Times New Roman"/>
              </a:rPr>
              <a:t>go</a:t>
            </a:r>
            <a:r>
              <a:rPr sz="1800" spc="185" dirty="0">
                <a:latin typeface="Times New Roman"/>
                <a:cs typeface="Times New Roman"/>
              </a:rPr>
              <a:t> </a:t>
            </a:r>
            <a:r>
              <a:rPr sz="1800" dirty="0">
                <a:latin typeface="Times New Roman"/>
                <a:cs typeface="Times New Roman"/>
              </a:rPr>
              <a:t>undetected.</a:t>
            </a:r>
            <a:r>
              <a:rPr sz="1800" spc="204" dirty="0">
                <a:latin typeface="Times New Roman"/>
                <a:cs typeface="Times New Roman"/>
              </a:rPr>
              <a:t> </a:t>
            </a:r>
            <a:r>
              <a:rPr sz="1800" dirty="0">
                <a:latin typeface="Times New Roman"/>
                <a:cs typeface="Times New Roman"/>
              </a:rPr>
              <a:t>This</a:t>
            </a:r>
            <a:r>
              <a:rPr sz="1800" spc="190" dirty="0">
                <a:latin typeface="Times New Roman"/>
                <a:cs typeface="Times New Roman"/>
              </a:rPr>
              <a:t> </a:t>
            </a:r>
            <a:r>
              <a:rPr sz="1800" dirty="0">
                <a:latin typeface="Times New Roman"/>
                <a:cs typeface="Times New Roman"/>
              </a:rPr>
              <a:t>can</a:t>
            </a:r>
            <a:r>
              <a:rPr sz="1800" spc="195" dirty="0">
                <a:latin typeface="Times New Roman"/>
                <a:cs typeface="Times New Roman"/>
              </a:rPr>
              <a:t> </a:t>
            </a:r>
            <a:r>
              <a:rPr sz="1800" dirty="0">
                <a:latin typeface="Times New Roman"/>
                <a:cs typeface="Times New Roman"/>
              </a:rPr>
              <a:t>be</a:t>
            </a:r>
            <a:r>
              <a:rPr sz="1800" spc="195" dirty="0">
                <a:latin typeface="Times New Roman"/>
                <a:cs typeface="Times New Roman"/>
              </a:rPr>
              <a:t> </a:t>
            </a:r>
            <a:r>
              <a:rPr sz="1800" dirty="0">
                <a:latin typeface="Times New Roman"/>
                <a:cs typeface="Times New Roman"/>
              </a:rPr>
              <a:t>mitigated</a:t>
            </a:r>
            <a:r>
              <a:rPr sz="1800" spc="200" dirty="0">
                <a:latin typeface="Times New Roman"/>
                <a:cs typeface="Times New Roman"/>
              </a:rPr>
              <a:t> </a:t>
            </a:r>
            <a:r>
              <a:rPr sz="1800" dirty="0">
                <a:latin typeface="Times New Roman"/>
                <a:cs typeface="Times New Roman"/>
              </a:rPr>
              <a:t>by</a:t>
            </a:r>
            <a:r>
              <a:rPr sz="1800" spc="220" dirty="0">
                <a:latin typeface="Times New Roman"/>
                <a:cs typeface="Times New Roman"/>
              </a:rPr>
              <a:t> </a:t>
            </a:r>
            <a:r>
              <a:rPr sz="1800" dirty="0">
                <a:latin typeface="Times New Roman"/>
                <a:cs typeface="Times New Roman"/>
              </a:rPr>
              <a:t>using</a:t>
            </a:r>
            <a:r>
              <a:rPr sz="1800" spc="185" dirty="0">
                <a:latin typeface="Times New Roman"/>
                <a:cs typeface="Times New Roman"/>
              </a:rPr>
              <a:t> </a:t>
            </a:r>
            <a:r>
              <a:rPr sz="1800" spc="-10" dirty="0">
                <a:latin typeface="Times New Roman"/>
                <a:cs typeface="Times New Roman"/>
              </a:rPr>
              <a:t>high-</a:t>
            </a:r>
            <a:r>
              <a:rPr sz="1800" dirty="0">
                <a:latin typeface="Times New Roman"/>
                <a:cs typeface="Times New Roman"/>
              </a:rPr>
              <a:t>quality</a:t>
            </a:r>
            <a:r>
              <a:rPr sz="1800" spc="204" dirty="0">
                <a:latin typeface="Times New Roman"/>
                <a:cs typeface="Times New Roman"/>
              </a:rPr>
              <a:t> </a:t>
            </a:r>
            <a:r>
              <a:rPr sz="1800" dirty="0">
                <a:latin typeface="Times New Roman"/>
                <a:cs typeface="Times New Roman"/>
              </a:rPr>
              <a:t>sensors,</a:t>
            </a:r>
            <a:r>
              <a:rPr sz="1800" spc="200" dirty="0">
                <a:latin typeface="Times New Roman"/>
                <a:cs typeface="Times New Roman"/>
              </a:rPr>
              <a:t> </a:t>
            </a:r>
            <a:r>
              <a:rPr sz="1800" dirty="0">
                <a:latin typeface="Times New Roman"/>
                <a:cs typeface="Times New Roman"/>
              </a:rPr>
              <a:t>adding</a:t>
            </a:r>
            <a:r>
              <a:rPr sz="1800" spc="195" dirty="0">
                <a:latin typeface="Times New Roman"/>
                <a:cs typeface="Times New Roman"/>
              </a:rPr>
              <a:t> </a:t>
            </a:r>
            <a:r>
              <a:rPr sz="1800" dirty="0">
                <a:latin typeface="Times New Roman"/>
                <a:cs typeface="Times New Roman"/>
              </a:rPr>
              <a:t>redundancy,</a:t>
            </a:r>
            <a:r>
              <a:rPr sz="1800" spc="210" dirty="0">
                <a:latin typeface="Times New Roman"/>
                <a:cs typeface="Times New Roman"/>
              </a:rPr>
              <a:t> </a:t>
            </a:r>
            <a:r>
              <a:rPr sz="1800" dirty="0">
                <a:latin typeface="Times New Roman"/>
                <a:cs typeface="Times New Roman"/>
              </a:rPr>
              <a:t>and</a:t>
            </a:r>
            <a:r>
              <a:rPr sz="1800" spc="204" dirty="0">
                <a:latin typeface="Times New Roman"/>
                <a:cs typeface="Times New Roman"/>
              </a:rPr>
              <a:t> </a:t>
            </a:r>
            <a:r>
              <a:rPr sz="1800" spc="-10" dirty="0">
                <a:latin typeface="Times New Roman"/>
                <a:cs typeface="Times New Roman"/>
              </a:rPr>
              <a:t>performing </a:t>
            </a:r>
            <a:r>
              <a:rPr sz="1800" dirty="0">
                <a:latin typeface="Times New Roman"/>
                <a:cs typeface="Times New Roman"/>
              </a:rPr>
              <a:t>regular</a:t>
            </a:r>
            <a:r>
              <a:rPr sz="1800" spc="-65" dirty="0">
                <a:latin typeface="Times New Roman"/>
                <a:cs typeface="Times New Roman"/>
              </a:rPr>
              <a:t> </a:t>
            </a:r>
            <a:r>
              <a:rPr sz="1800" spc="-10" dirty="0">
                <a:latin typeface="Times New Roman"/>
                <a:cs typeface="Times New Roman"/>
              </a:rPr>
              <a:t>calibration.</a:t>
            </a:r>
            <a:endParaRPr sz="1800" dirty="0">
              <a:latin typeface="Times New Roman"/>
              <a:cs typeface="Times New Roman"/>
            </a:endParaRPr>
          </a:p>
          <a:p>
            <a:pPr marL="354965" indent="-342265" algn="just">
              <a:lnSpc>
                <a:spcPct val="100000"/>
              </a:lnSpc>
              <a:spcBef>
                <a:spcPts val="1080"/>
              </a:spcBef>
              <a:buFont typeface="Wingdings"/>
              <a:buChar char=""/>
              <a:tabLst>
                <a:tab pos="354965" algn="l"/>
              </a:tabLst>
            </a:pPr>
            <a:r>
              <a:rPr sz="1800" b="1" dirty="0">
                <a:latin typeface="Times New Roman"/>
                <a:cs typeface="Times New Roman"/>
              </a:rPr>
              <a:t>Network</a:t>
            </a:r>
            <a:r>
              <a:rPr sz="1800" b="1" spc="250" dirty="0">
                <a:latin typeface="Times New Roman"/>
                <a:cs typeface="Times New Roman"/>
              </a:rPr>
              <a:t> </a:t>
            </a:r>
            <a:r>
              <a:rPr sz="1800" b="1" dirty="0">
                <a:latin typeface="Times New Roman"/>
                <a:cs typeface="Times New Roman"/>
              </a:rPr>
              <a:t>Failure:</a:t>
            </a:r>
            <a:r>
              <a:rPr sz="1800" b="1" spc="260" dirty="0">
                <a:latin typeface="Times New Roman"/>
                <a:cs typeface="Times New Roman"/>
              </a:rPr>
              <a:t> </a:t>
            </a:r>
            <a:r>
              <a:rPr sz="1800" dirty="0">
                <a:latin typeface="Times New Roman"/>
                <a:cs typeface="Times New Roman"/>
              </a:rPr>
              <a:t>Loss</a:t>
            </a:r>
            <a:r>
              <a:rPr sz="1800" spc="265" dirty="0">
                <a:latin typeface="Times New Roman"/>
                <a:cs typeface="Times New Roman"/>
              </a:rPr>
              <a:t> </a:t>
            </a:r>
            <a:r>
              <a:rPr sz="1800" dirty="0">
                <a:latin typeface="Times New Roman"/>
                <a:cs typeface="Times New Roman"/>
              </a:rPr>
              <a:t>of</a:t>
            </a:r>
            <a:r>
              <a:rPr sz="1800" spc="260" dirty="0">
                <a:latin typeface="Times New Roman"/>
                <a:cs typeface="Times New Roman"/>
              </a:rPr>
              <a:t> </a:t>
            </a:r>
            <a:r>
              <a:rPr sz="1800" spc="-45" dirty="0">
                <a:latin typeface="Times New Roman"/>
                <a:cs typeface="Times New Roman"/>
              </a:rPr>
              <a:t>Wi-</a:t>
            </a:r>
            <a:r>
              <a:rPr sz="1800" dirty="0">
                <a:latin typeface="Times New Roman"/>
                <a:cs typeface="Times New Roman"/>
              </a:rPr>
              <a:t>Fi</a:t>
            </a:r>
            <a:r>
              <a:rPr sz="1800" spc="275" dirty="0">
                <a:latin typeface="Times New Roman"/>
                <a:cs typeface="Times New Roman"/>
              </a:rPr>
              <a:t> </a:t>
            </a:r>
            <a:r>
              <a:rPr sz="1800" dirty="0">
                <a:latin typeface="Times New Roman"/>
                <a:cs typeface="Times New Roman"/>
              </a:rPr>
              <a:t>connectivity</a:t>
            </a:r>
            <a:r>
              <a:rPr sz="1800" spc="265" dirty="0">
                <a:latin typeface="Times New Roman"/>
                <a:cs typeface="Times New Roman"/>
              </a:rPr>
              <a:t> </a:t>
            </a:r>
            <a:r>
              <a:rPr sz="1800" dirty="0">
                <a:latin typeface="Times New Roman"/>
                <a:cs typeface="Times New Roman"/>
              </a:rPr>
              <a:t>can</a:t>
            </a:r>
            <a:r>
              <a:rPr sz="1800" spc="260" dirty="0">
                <a:latin typeface="Times New Roman"/>
                <a:cs typeface="Times New Roman"/>
              </a:rPr>
              <a:t> </a:t>
            </a:r>
            <a:r>
              <a:rPr sz="1800" dirty="0">
                <a:latin typeface="Times New Roman"/>
                <a:cs typeface="Times New Roman"/>
              </a:rPr>
              <a:t>interrupt</a:t>
            </a:r>
            <a:r>
              <a:rPr sz="1800" spc="260" dirty="0">
                <a:latin typeface="Times New Roman"/>
                <a:cs typeface="Times New Roman"/>
              </a:rPr>
              <a:t> </a:t>
            </a:r>
            <a:r>
              <a:rPr sz="1800" spc="-10" dirty="0">
                <a:latin typeface="Times New Roman"/>
                <a:cs typeface="Times New Roman"/>
              </a:rPr>
              <a:t>real-</a:t>
            </a:r>
            <a:r>
              <a:rPr sz="1800" dirty="0">
                <a:latin typeface="Times New Roman"/>
                <a:cs typeface="Times New Roman"/>
              </a:rPr>
              <a:t>time</a:t>
            </a:r>
            <a:r>
              <a:rPr sz="1800" spc="265" dirty="0">
                <a:latin typeface="Times New Roman"/>
                <a:cs typeface="Times New Roman"/>
              </a:rPr>
              <a:t> </a:t>
            </a:r>
            <a:r>
              <a:rPr sz="1800" dirty="0">
                <a:latin typeface="Times New Roman"/>
                <a:cs typeface="Times New Roman"/>
              </a:rPr>
              <a:t>monitoring</a:t>
            </a:r>
            <a:r>
              <a:rPr sz="1800" spc="275" dirty="0">
                <a:latin typeface="Times New Roman"/>
                <a:cs typeface="Times New Roman"/>
              </a:rPr>
              <a:t> </a:t>
            </a:r>
            <a:r>
              <a:rPr sz="1800" dirty="0">
                <a:latin typeface="Times New Roman"/>
                <a:cs typeface="Times New Roman"/>
              </a:rPr>
              <a:t>and</a:t>
            </a:r>
            <a:r>
              <a:rPr sz="1800" spc="265" dirty="0">
                <a:latin typeface="Times New Roman"/>
                <a:cs typeface="Times New Roman"/>
              </a:rPr>
              <a:t> </a:t>
            </a:r>
            <a:r>
              <a:rPr sz="1800" dirty="0">
                <a:latin typeface="Times New Roman"/>
                <a:cs typeface="Times New Roman"/>
              </a:rPr>
              <a:t>alert</a:t>
            </a:r>
            <a:r>
              <a:rPr sz="1800" spc="265" dirty="0">
                <a:latin typeface="Times New Roman"/>
                <a:cs typeface="Times New Roman"/>
              </a:rPr>
              <a:t> </a:t>
            </a:r>
            <a:r>
              <a:rPr sz="1800" dirty="0">
                <a:latin typeface="Times New Roman"/>
                <a:cs typeface="Times New Roman"/>
              </a:rPr>
              <a:t>delivery.</a:t>
            </a:r>
            <a:r>
              <a:rPr sz="1800" spc="265" dirty="0">
                <a:latin typeface="Times New Roman"/>
                <a:cs typeface="Times New Roman"/>
              </a:rPr>
              <a:t> </a:t>
            </a:r>
            <a:r>
              <a:rPr sz="1800" dirty="0">
                <a:latin typeface="Times New Roman"/>
                <a:cs typeface="Times New Roman"/>
              </a:rPr>
              <a:t>Local</a:t>
            </a:r>
            <a:r>
              <a:rPr sz="1800" spc="260" dirty="0">
                <a:latin typeface="Times New Roman"/>
                <a:cs typeface="Times New Roman"/>
              </a:rPr>
              <a:t> </a:t>
            </a:r>
            <a:r>
              <a:rPr sz="1800" spc="-10" dirty="0">
                <a:latin typeface="Times New Roman"/>
                <a:cs typeface="Times New Roman"/>
              </a:rPr>
              <a:t>fallback</a:t>
            </a:r>
            <a:endParaRPr sz="1800" dirty="0">
              <a:latin typeface="Times New Roman"/>
              <a:cs typeface="Times New Roman"/>
            </a:endParaRPr>
          </a:p>
          <a:p>
            <a:pPr marL="355600">
              <a:lnSpc>
                <a:spcPct val="100000"/>
              </a:lnSpc>
              <a:spcBef>
                <a:spcPts val="1080"/>
              </a:spcBef>
            </a:pPr>
            <a:r>
              <a:rPr sz="1800" dirty="0">
                <a:latin typeface="Times New Roman"/>
                <a:cs typeface="Times New Roman"/>
              </a:rPr>
              <a:t>logic,</a:t>
            </a:r>
            <a:r>
              <a:rPr sz="1800" spc="-20" dirty="0">
                <a:latin typeface="Times New Roman"/>
                <a:cs typeface="Times New Roman"/>
              </a:rPr>
              <a:t> </a:t>
            </a:r>
            <a:r>
              <a:rPr sz="1800" dirty="0">
                <a:latin typeface="Times New Roman"/>
                <a:cs typeface="Times New Roman"/>
              </a:rPr>
              <a:t>data</a:t>
            </a:r>
            <a:r>
              <a:rPr sz="1800" spc="-25" dirty="0">
                <a:latin typeface="Times New Roman"/>
                <a:cs typeface="Times New Roman"/>
              </a:rPr>
              <a:t> </a:t>
            </a:r>
            <a:r>
              <a:rPr sz="1800" dirty="0">
                <a:latin typeface="Times New Roman"/>
                <a:cs typeface="Times New Roman"/>
              </a:rPr>
              <a:t>buffering,</a:t>
            </a:r>
            <a:r>
              <a:rPr sz="1800" spc="-10" dirty="0">
                <a:latin typeface="Times New Roman"/>
                <a:cs typeface="Times New Roman"/>
              </a:rPr>
              <a:t> </a:t>
            </a:r>
            <a:r>
              <a:rPr sz="1800" dirty="0">
                <a:latin typeface="Times New Roman"/>
                <a:cs typeface="Times New Roman"/>
              </a:rPr>
              <a:t>and</a:t>
            </a:r>
            <a:r>
              <a:rPr sz="1800" spc="-10" dirty="0">
                <a:latin typeface="Times New Roman"/>
                <a:cs typeface="Times New Roman"/>
              </a:rPr>
              <a:t> auto-</a:t>
            </a:r>
            <a:r>
              <a:rPr sz="1800" dirty="0">
                <a:latin typeface="Times New Roman"/>
                <a:cs typeface="Times New Roman"/>
              </a:rPr>
              <a:t>reconnect</a:t>
            </a:r>
            <a:r>
              <a:rPr sz="1800" spc="-30" dirty="0">
                <a:latin typeface="Times New Roman"/>
                <a:cs typeface="Times New Roman"/>
              </a:rPr>
              <a:t> </a:t>
            </a:r>
            <a:r>
              <a:rPr sz="1800" dirty="0">
                <a:latin typeface="Times New Roman"/>
                <a:cs typeface="Times New Roman"/>
              </a:rPr>
              <a:t>mechanisms</a:t>
            </a:r>
            <a:r>
              <a:rPr sz="1800" spc="5" dirty="0">
                <a:latin typeface="Times New Roman"/>
                <a:cs typeface="Times New Roman"/>
              </a:rPr>
              <a:t> </a:t>
            </a:r>
            <a:r>
              <a:rPr sz="1800" dirty="0">
                <a:latin typeface="Times New Roman"/>
                <a:cs typeface="Times New Roman"/>
              </a:rPr>
              <a:t>help</a:t>
            </a:r>
            <a:r>
              <a:rPr sz="1800" spc="-25" dirty="0">
                <a:latin typeface="Times New Roman"/>
                <a:cs typeface="Times New Roman"/>
              </a:rPr>
              <a:t> </a:t>
            </a:r>
            <a:r>
              <a:rPr sz="1800" dirty="0">
                <a:latin typeface="Times New Roman"/>
                <a:cs typeface="Times New Roman"/>
              </a:rPr>
              <a:t>reduce</a:t>
            </a:r>
            <a:r>
              <a:rPr sz="1800" spc="-5" dirty="0">
                <a:latin typeface="Times New Roman"/>
                <a:cs typeface="Times New Roman"/>
              </a:rPr>
              <a:t> </a:t>
            </a:r>
            <a:r>
              <a:rPr sz="1800" dirty="0">
                <a:latin typeface="Times New Roman"/>
                <a:cs typeface="Times New Roman"/>
              </a:rPr>
              <a:t>this</a:t>
            </a:r>
            <a:r>
              <a:rPr sz="1800" spc="-15" dirty="0">
                <a:latin typeface="Times New Roman"/>
                <a:cs typeface="Times New Roman"/>
              </a:rPr>
              <a:t> </a:t>
            </a:r>
            <a:r>
              <a:rPr sz="1800" spc="-10" dirty="0">
                <a:latin typeface="Times New Roman"/>
                <a:cs typeface="Times New Roman"/>
              </a:rPr>
              <a:t>risk.</a:t>
            </a:r>
            <a:endParaRPr sz="1800" dirty="0">
              <a:latin typeface="Times New Roman"/>
              <a:cs typeface="Times New Roman"/>
            </a:endParaRPr>
          </a:p>
          <a:p>
            <a:pPr marL="355600" marR="5715" indent="-342900" algn="just">
              <a:lnSpc>
                <a:spcPct val="150000"/>
              </a:lnSpc>
              <a:buFont typeface="Wingdings"/>
              <a:buChar char=""/>
              <a:tabLst>
                <a:tab pos="355600" algn="l"/>
              </a:tabLst>
            </a:pPr>
            <a:r>
              <a:rPr sz="1800" b="1" dirty="0">
                <a:latin typeface="Times New Roman"/>
                <a:cs typeface="Times New Roman"/>
              </a:rPr>
              <a:t>Power</a:t>
            </a:r>
            <a:r>
              <a:rPr sz="1800" b="1" spc="280" dirty="0">
                <a:latin typeface="Times New Roman"/>
                <a:cs typeface="Times New Roman"/>
              </a:rPr>
              <a:t> </a:t>
            </a:r>
            <a:r>
              <a:rPr sz="1800" b="1" dirty="0">
                <a:latin typeface="Times New Roman"/>
                <a:cs typeface="Times New Roman"/>
              </a:rPr>
              <a:t>Failure</a:t>
            </a:r>
            <a:r>
              <a:rPr sz="1800" b="1" spc="305" dirty="0">
                <a:latin typeface="Times New Roman"/>
                <a:cs typeface="Times New Roman"/>
              </a:rPr>
              <a:t> </a:t>
            </a:r>
            <a:r>
              <a:rPr sz="1800" b="1" dirty="0">
                <a:latin typeface="Times New Roman"/>
                <a:cs typeface="Times New Roman"/>
              </a:rPr>
              <a:t>/</a:t>
            </a:r>
            <a:r>
              <a:rPr sz="1800" b="1" spc="325" dirty="0">
                <a:latin typeface="Times New Roman"/>
                <a:cs typeface="Times New Roman"/>
              </a:rPr>
              <a:t> </a:t>
            </a:r>
            <a:r>
              <a:rPr sz="1800" b="1" dirty="0">
                <a:latin typeface="Times New Roman"/>
                <a:cs typeface="Times New Roman"/>
              </a:rPr>
              <a:t>Electrical</a:t>
            </a:r>
            <a:r>
              <a:rPr sz="1800" b="1" spc="305" dirty="0">
                <a:latin typeface="Times New Roman"/>
                <a:cs typeface="Times New Roman"/>
              </a:rPr>
              <a:t> </a:t>
            </a:r>
            <a:r>
              <a:rPr sz="1800" b="1" dirty="0">
                <a:latin typeface="Times New Roman"/>
                <a:cs typeface="Times New Roman"/>
              </a:rPr>
              <a:t>Fluctuations:</a:t>
            </a:r>
            <a:r>
              <a:rPr sz="1800" b="1" spc="325" dirty="0">
                <a:latin typeface="Times New Roman"/>
                <a:cs typeface="Times New Roman"/>
              </a:rPr>
              <a:t> </a:t>
            </a:r>
            <a:r>
              <a:rPr sz="1800" dirty="0">
                <a:latin typeface="Times New Roman"/>
                <a:cs typeface="Times New Roman"/>
              </a:rPr>
              <a:t>Streetlights</a:t>
            </a:r>
            <a:r>
              <a:rPr sz="1800" spc="315" dirty="0">
                <a:latin typeface="Times New Roman"/>
                <a:cs typeface="Times New Roman"/>
              </a:rPr>
              <a:t> </a:t>
            </a:r>
            <a:r>
              <a:rPr sz="1800" dirty="0">
                <a:latin typeface="Times New Roman"/>
                <a:cs typeface="Times New Roman"/>
              </a:rPr>
              <a:t>and</a:t>
            </a:r>
            <a:r>
              <a:rPr sz="1800" spc="315" dirty="0">
                <a:latin typeface="Times New Roman"/>
                <a:cs typeface="Times New Roman"/>
              </a:rPr>
              <a:t> </a:t>
            </a:r>
            <a:r>
              <a:rPr sz="1800" dirty="0">
                <a:latin typeface="Times New Roman"/>
                <a:cs typeface="Times New Roman"/>
              </a:rPr>
              <a:t>sensors</a:t>
            </a:r>
            <a:r>
              <a:rPr sz="1800" spc="320" dirty="0">
                <a:latin typeface="Times New Roman"/>
                <a:cs typeface="Times New Roman"/>
              </a:rPr>
              <a:t> </a:t>
            </a:r>
            <a:r>
              <a:rPr sz="1800" dirty="0">
                <a:latin typeface="Times New Roman"/>
                <a:cs typeface="Times New Roman"/>
              </a:rPr>
              <a:t>may</a:t>
            </a:r>
            <a:r>
              <a:rPr sz="1800" spc="335" dirty="0">
                <a:latin typeface="Times New Roman"/>
                <a:cs typeface="Times New Roman"/>
              </a:rPr>
              <a:t> </a:t>
            </a:r>
            <a:r>
              <a:rPr sz="1800" dirty="0">
                <a:latin typeface="Times New Roman"/>
                <a:cs typeface="Times New Roman"/>
              </a:rPr>
              <a:t>stop</a:t>
            </a:r>
            <a:r>
              <a:rPr sz="1800" spc="310" dirty="0">
                <a:latin typeface="Times New Roman"/>
                <a:cs typeface="Times New Roman"/>
              </a:rPr>
              <a:t> </a:t>
            </a:r>
            <a:r>
              <a:rPr sz="1800" dirty="0">
                <a:latin typeface="Times New Roman"/>
                <a:cs typeface="Times New Roman"/>
              </a:rPr>
              <a:t>functioning</a:t>
            </a:r>
            <a:r>
              <a:rPr sz="1800" spc="310" dirty="0">
                <a:latin typeface="Times New Roman"/>
                <a:cs typeface="Times New Roman"/>
              </a:rPr>
              <a:t> </a:t>
            </a:r>
            <a:r>
              <a:rPr sz="1800" dirty="0">
                <a:latin typeface="Times New Roman"/>
                <a:cs typeface="Times New Roman"/>
              </a:rPr>
              <a:t>due</a:t>
            </a:r>
            <a:r>
              <a:rPr sz="1800" spc="305" dirty="0">
                <a:latin typeface="Times New Roman"/>
                <a:cs typeface="Times New Roman"/>
              </a:rPr>
              <a:t> </a:t>
            </a:r>
            <a:r>
              <a:rPr sz="1800" dirty="0">
                <a:latin typeface="Times New Roman"/>
                <a:cs typeface="Times New Roman"/>
              </a:rPr>
              <a:t>to</a:t>
            </a:r>
            <a:r>
              <a:rPr sz="1800" spc="325" dirty="0">
                <a:latin typeface="Times New Roman"/>
                <a:cs typeface="Times New Roman"/>
              </a:rPr>
              <a:t> </a:t>
            </a:r>
            <a:r>
              <a:rPr sz="1800" dirty="0">
                <a:latin typeface="Times New Roman"/>
                <a:cs typeface="Times New Roman"/>
              </a:rPr>
              <a:t>power</a:t>
            </a:r>
            <a:r>
              <a:rPr sz="1800" spc="315" dirty="0">
                <a:latin typeface="Times New Roman"/>
                <a:cs typeface="Times New Roman"/>
              </a:rPr>
              <a:t> </a:t>
            </a:r>
            <a:r>
              <a:rPr sz="1800" dirty="0">
                <a:latin typeface="Times New Roman"/>
                <a:cs typeface="Times New Roman"/>
              </a:rPr>
              <a:t>outages</a:t>
            </a:r>
            <a:r>
              <a:rPr sz="1800" spc="320" dirty="0">
                <a:latin typeface="Times New Roman"/>
                <a:cs typeface="Times New Roman"/>
              </a:rPr>
              <a:t> </a:t>
            </a:r>
            <a:r>
              <a:rPr sz="1800" spc="-25" dirty="0">
                <a:latin typeface="Times New Roman"/>
                <a:cs typeface="Times New Roman"/>
              </a:rPr>
              <a:t>or </a:t>
            </a:r>
            <a:r>
              <a:rPr sz="1800" dirty="0">
                <a:latin typeface="Times New Roman"/>
                <a:cs typeface="Times New Roman"/>
              </a:rPr>
              <a:t>voltage</a:t>
            </a:r>
            <a:r>
              <a:rPr sz="1800" spc="-55" dirty="0">
                <a:latin typeface="Times New Roman"/>
                <a:cs typeface="Times New Roman"/>
              </a:rPr>
              <a:t> </a:t>
            </a:r>
            <a:r>
              <a:rPr sz="1800" dirty="0">
                <a:latin typeface="Times New Roman"/>
                <a:cs typeface="Times New Roman"/>
              </a:rPr>
              <a:t>fluctuations.</a:t>
            </a:r>
            <a:r>
              <a:rPr sz="1800" spc="-45" dirty="0">
                <a:latin typeface="Times New Roman"/>
                <a:cs typeface="Times New Roman"/>
              </a:rPr>
              <a:t> </a:t>
            </a:r>
            <a:r>
              <a:rPr sz="1800" dirty="0">
                <a:latin typeface="Times New Roman"/>
                <a:cs typeface="Times New Roman"/>
              </a:rPr>
              <a:t>Surge</a:t>
            </a:r>
            <a:r>
              <a:rPr sz="1800" spc="-35" dirty="0">
                <a:latin typeface="Times New Roman"/>
                <a:cs typeface="Times New Roman"/>
              </a:rPr>
              <a:t> </a:t>
            </a:r>
            <a:r>
              <a:rPr sz="1800" dirty="0">
                <a:latin typeface="Times New Roman"/>
                <a:cs typeface="Times New Roman"/>
              </a:rPr>
              <a:t>protection</a:t>
            </a:r>
            <a:r>
              <a:rPr sz="1800" spc="-40" dirty="0">
                <a:latin typeface="Times New Roman"/>
                <a:cs typeface="Times New Roman"/>
              </a:rPr>
              <a:t> </a:t>
            </a:r>
            <a:r>
              <a:rPr sz="1800" dirty="0">
                <a:latin typeface="Times New Roman"/>
                <a:cs typeface="Times New Roman"/>
              </a:rPr>
              <a:t>and</a:t>
            </a:r>
            <a:r>
              <a:rPr sz="1800" spc="-40" dirty="0">
                <a:latin typeface="Times New Roman"/>
                <a:cs typeface="Times New Roman"/>
              </a:rPr>
              <a:t> </a:t>
            </a:r>
            <a:r>
              <a:rPr sz="1800" dirty="0">
                <a:latin typeface="Times New Roman"/>
                <a:cs typeface="Times New Roman"/>
              </a:rPr>
              <a:t>backup</a:t>
            </a:r>
            <a:r>
              <a:rPr sz="1800" spc="-35" dirty="0">
                <a:latin typeface="Times New Roman"/>
                <a:cs typeface="Times New Roman"/>
              </a:rPr>
              <a:t> </a:t>
            </a:r>
            <a:r>
              <a:rPr sz="1800" dirty="0">
                <a:latin typeface="Times New Roman"/>
                <a:cs typeface="Times New Roman"/>
              </a:rPr>
              <a:t>power</a:t>
            </a:r>
            <a:r>
              <a:rPr sz="1800" spc="-25" dirty="0">
                <a:latin typeface="Times New Roman"/>
                <a:cs typeface="Times New Roman"/>
              </a:rPr>
              <a:t> </a:t>
            </a:r>
            <a:r>
              <a:rPr sz="1800" dirty="0">
                <a:latin typeface="Times New Roman"/>
                <a:cs typeface="Times New Roman"/>
              </a:rPr>
              <a:t>systems</a:t>
            </a:r>
            <a:r>
              <a:rPr sz="1800" spc="-55" dirty="0">
                <a:latin typeface="Times New Roman"/>
                <a:cs typeface="Times New Roman"/>
              </a:rPr>
              <a:t> </a:t>
            </a:r>
            <a:r>
              <a:rPr sz="1800" dirty="0">
                <a:latin typeface="Times New Roman"/>
                <a:cs typeface="Times New Roman"/>
              </a:rPr>
              <a:t>are</a:t>
            </a:r>
            <a:r>
              <a:rPr sz="1800" spc="-30" dirty="0">
                <a:latin typeface="Times New Roman"/>
                <a:cs typeface="Times New Roman"/>
              </a:rPr>
              <a:t> </a:t>
            </a:r>
            <a:r>
              <a:rPr sz="1800" spc="-10" dirty="0">
                <a:latin typeface="Times New Roman"/>
                <a:cs typeface="Times New Roman"/>
              </a:rPr>
              <a:t>recommended.</a:t>
            </a:r>
            <a:endParaRPr sz="1800" dirty="0">
              <a:latin typeface="Times New Roman"/>
              <a:cs typeface="Times New Roman"/>
            </a:endParaRPr>
          </a:p>
        </p:txBody>
      </p:sp>
    </p:spTree>
    <p:extLst>
      <p:ext uri="{BB962C8B-B14F-4D97-AF65-F5344CB8AC3E}">
        <p14:creationId xmlns:p14="http://schemas.microsoft.com/office/powerpoint/2010/main" val="1788261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BDF3701-36D4-590F-879F-1450E9F3C0E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D6AEB8E-C2EB-CB37-11E0-A6678367D3AD}"/>
              </a:ext>
            </a:extLst>
          </p:cNvPr>
          <p:cNvSpPr txBox="1"/>
          <p:nvPr/>
        </p:nvSpPr>
        <p:spPr>
          <a:xfrm>
            <a:off x="5385053" y="787654"/>
            <a:ext cx="2463547" cy="443070"/>
          </a:xfrm>
          <a:prstGeom prst="rect">
            <a:avLst/>
          </a:prstGeom>
        </p:spPr>
        <p:txBody>
          <a:bodyPr vert="horz" wrap="square" lIns="0" tIns="12065" rIns="0" bIns="0" rtlCol="0">
            <a:spAutoFit/>
          </a:bodyPr>
          <a:lstStyle/>
          <a:p>
            <a:pPr marL="12700">
              <a:lnSpc>
                <a:spcPct val="100000"/>
              </a:lnSpc>
              <a:spcBef>
                <a:spcPts val="95"/>
              </a:spcBef>
            </a:pPr>
            <a:r>
              <a:rPr lang="en-IN" sz="2800" b="1" dirty="0">
                <a:latin typeface="Times New Roman" panose="02020603050405020304" pitchFamily="18" charset="0"/>
                <a:cs typeface="Times New Roman" panose="02020603050405020304" pitchFamily="18" charset="0"/>
              </a:rPr>
              <a:t>Project Goals</a:t>
            </a:r>
            <a:endParaRPr sz="2800" b="1" dirty="0">
              <a:latin typeface="Times New Roman" panose="02020603050405020304" pitchFamily="18" charset="0"/>
              <a:cs typeface="Times New Roman" panose="02020603050405020304" pitchFamily="18" charset="0"/>
            </a:endParaRPr>
          </a:p>
        </p:txBody>
      </p:sp>
      <p:grpSp>
        <p:nvGrpSpPr>
          <p:cNvPr id="3" name="object 3">
            <a:extLst>
              <a:ext uri="{FF2B5EF4-FFF2-40B4-BE49-F238E27FC236}">
                <a16:creationId xmlns:a16="http://schemas.microsoft.com/office/drawing/2014/main" id="{26EC2AA1-A65C-F2AE-66E9-5A25682E21D0}"/>
              </a:ext>
            </a:extLst>
          </p:cNvPr>
          <p:cNvGrpSpPr/>
          <p:nvPr/>
        </p:nvGrpSpPr>
        <p:grpSpPr>
          <a:xfrm>
            <a:off x="6902" y="-6311"/>
            <a:ext cx="7394575" cy="609600"/>
            <a:chOff x="6902" y="-6311"/>
            <a:chExt cx="7394575" cy="609600"/>
          </a:xfrm>
        </p:grpSpPr>
        <p:sp>
          <p:nvSpPr>
            <p:cNvPr id="4" name="object 4">
              <a:extLst>
                <a:ext uri="{FF2B5EF4-FFF2-40B4-BE49-F238E27FC236}">
                  <a16:creationId xmlns:a16="http://schemas.microsoft.com/office/drawing/2014/main" id="{4825EB0A-639B-1C50-0A01-EA4816346E61}"/>
                </a:ext>
              </a:extLst>
            </p:cNvPr>
            <p:cNvSpPr/>
            <p:nvPr/>
          </p:nvSpPr>
          <p:spPr>
            <a:xfrm>
              <a:off x="13252"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dirty="0"/>
            </a:p>
          </p:txBody>
        </p:sp>
        <p:sp>
          <p:nvSpPr>
            <p:cNvPr id="5" name="object 5">
              <a:extLst>
                <a:ext uri="{FF2B5EF4-FFF2-40B4-BE49-F238E27FC236}">
                  <a16:creationId xmlns:a16="http://schemas.microsoft.com/office/drawing/2014/main" id="{DC5570E9-99BA-1764-2C58-E0BACDC13EF2}"/>
                </a:ext>
              </a:extLst>
            </p:cNvPr>
            <p:cNvSpPr/>
            <p:nvPr/>
          </p:nvSpPr>
          <p:spPr>
            <a:xfrm>
              <a:off x="13252" y="38"/>
              <a:ext cx="7381875" cy="596900"/>
            </a:xfrm>
            <a:custGeom>
              <a:avLst/>
              <a:gdLst/>
              <a:ahLst/>
              <a:cxnLst/>
              <a:rect l="l" t="t" r="r" b="b"/>
              <a:pathLst>
                <a:path w="7381875" h="596900">
                  <a:moveTo>
                    <a:pt x="0" y="596353"/>
                  </a:moveTo>
                  <a:lnTo>
                    <a:pt x="7381494" y="596353"/>
                  </a:lnTo>
                  <a:lnTo>
                    <a:pt x="7381494" y="0"/>
                  </a:lnTo>
                  <a:lnTo>
                    <a:pt x="0" y="0"/>
                  </a:lnTo>
                  <a:lnTo>
                    <a:pt x="0" y="596353"/>
                  </a:lnTo>
                  <a:close/>
                </a:path>
              </a:pathLst>
            </a:custGeom>
            <a:ln w="12700">
              <a:solidFill>
                <a:srgbClr val="FF0000"/>
              </a:solidFill>
            </a:ln>
          </p:spPr>
          <p:txBody>
            <a:bodyPr wrap="square" lIns="0" tIns="0" rIns="0" bIns="0" rtlCol="0"/>
            <a:lstStyle/>
            <a:p>
              <a:endParaRPr dirty="0"/>
            </a:p>
          </p:txBody>
        </p:sp>
      </p:grpSp>
      <p:sp>
        <p:nvSpPr>
          <p:cNvPr id="6" name="object 6">
            <a:extLst>
              <a:ext uri="{FF2B5EF4-FFF2-40B4-BE49-F238E27FC236}">
                <a16:creationId xmlns:a16="http://schemas.microsoft.com/office/drawing/2014/main" id="{BE20E657-B2B9-2A32-4476-98147589CF73}"/>
              </a:ext>
            </a:extLst>
          </p:cNvPr>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Bhujbal</a:t>
            </a:r>
            <a:r>
              <a:rPr spc="-80" dirty="0"/>
              <a:t> </a:t>
            </a:r>
            <a:r>
              <a:rPr spc="-30" dirty="0"/>
              <a:t>Knowledge</a:t>
            </a:r>
            <a:r>
              <a:rPr spc="-114" dirty="0"/>
              <a:t> </a:t>
            </a:r>
            <a:r>
              <a:rPr spc="-20" dirty="0"/>
              <a:t>City</a:t>
            </a:r>
          </a:p>
        </p:txBody>
      </p:sp>
      <p:sp>
        <p:nvSpPr>
          <p:cNvPr id="17" name="object 17">
            <a:extLst>
              <a:ext uri="{FF2B5EF4-FFF2-40B4-BE49-F238E27FC236}">
                <a16:creationId xmlns:a16="http://schemas.microsoft.com/office/drawing/2014/main" id="{423DBD79-8A7E-692B-1731-5EF5DF4A45E1}"/>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18" name="object 18">
            <a:extLst>
              <a:ext uri="{FF2B5EF4-FFF2-40B4-BE49-F238E27FC236}">
                <a16:creationId xmlns:a16="http://schemas.microsoft.com/office/drawing/2014/main" id="{8E3D4AA0-8754-EB05-3EFB-4D91DF69D548}"/>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13</a:t>
            </a:fld>
            <a:endParaRPr spc="-25" dirty="0"/>
          </a:p>
        </p:txBody>
      </p:sp>
      <p:grpSp>
        <p:nvGrpSpPr>
          <p:cNvPr id="7" name="object 7">
            <a:extLst>
              <a:ext uri="{FF2B5EF4-FFF2-40B4-BE49-F238E27FC236}">
                <a16:creationId xmlns:a16="http://schemas.microsoft.com/office/drawing/2014/main" id="{410C70B8-BCD3-B97B-FB13-11B058A1881E}"/>
              </a:ext>
            </a:extLst>
          </p:cNvPr>
          <p:cNvGrpSpPr/>
          <p:nvPr/>
        </p:nvGrpSpPr>
        <p:grpSpPr>
          <a:xfrm>
            <a:off x="93469" y="-6350"/>
            <a:ext cx="12091670" cy="609600"/>
            <a:chOff x="93469" y="-6350"/>
            <a:chExt cx="12091670" cy="609600"/>
          </a:xfrm>
        </p:grpSpPr>
        <p:sp>
          <p:nvSpPr>
            <p:cNvPr id="8" name="object 8">
              <a:extLst>
                <a:ext uri="{FF2B5EF4-FFF2-40B4-BE49-F238E27FC236}">
                  <a16:creationId xmlns:a16="http://schemas.microsoft.com/office/drawing/2014/main" id="{9E1BAF0F-D709-8703-2BE2-F2F2C70D4928}"/>
                </a:ext>
              </a:extLst>
            </p:cNvPr>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dirty="0"/>
            </a:p>
          </p:txBody>
        </p:sp>
        <p:sp>
          <p:nvSpPr>
            <p:cNvPr id="9" name="object 9">
              <a:extLst>
                <a:ext uri="{FF2B5EF4-FFF2-40B4-BE49-F238E27FC236}">
                  <a16:creationId xmlns:a16="http://schemas.microsoft.com/office/drawing/2014/main" id="{2368DA19-D272-0F02-6047-87C0AD76AAE6}"/>
                </a:ext>
              </a:extLst>
            </p:cNvPr>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dirty="0"/>
            </a:p>
          </p:txBody>
        </p:sp>
        <p:pic>
          <p:nvPicPr>
            <p:cNvPr id="10" name="object 10">
              <a:extLst>
                <a:ext uri="{FF2B5EF4-FFF2-40B4-BE49-F238E27FC236}">
                  <a16:creationId xmlns:a16="http://schemas.microsoft.com/office/drawing/2014/main" id="{A768DFF1-FBCB-5547-683A-E01D06CF4AD2}"/>
                </a:ext>
              </a:extLst>
            </p:cNvPr>
            <p:cNvPicPr/>
            <p:nvPr/>
          </p:nvPicPr>
          <p:blipFill>
            <a:blip r:embed="rId2" cstate="print"/>
            <a:stretch>
              <a:fillRect/>
            </a:stretch>
          </p:blipFill>
          <p:spPr>
            <a:xfrm>
              <a:off x="93469" y="60058"/>
              <a:ext cx="966698" cy="476135"/>
            </a:xfrm>
            <a:prstGeom prst="rect">
              <a:avLst/>
            </a:prstGeom>
          </p:spPr>
        </p:pic>
        <p:sp>
          <p:nvSpPr>
            <p:cNvPr id="11" name="object 11">
              <a:extLst>
                <a:ext uri="{FF2B5EF4-FFF2-40B4-BE49-F238E27FC236}">
                  <a16:creationId xmlns:a16="http://schemas.microsoft.com/office/drawing/2014/main" id="{C3CBEF8E-059D-8036-A322-879AD342C398}"/>
                </a:ext>
              </a:extLst>
            </p:cNvPr>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dirty="0"/>
            </a:p>
          </p:txBody>
        </p:sp>
        <p:sp>
          <p:nvSpPr>
            <p:cNvPr id="12" name="object 12">
              <a:extLst>
                <a:ext uri="{FF2B5EF4-FFF2-40B4-BE49-F238E27FC236}">
                  <a16:creationId xmlns:a16="http://schemas.microsoft.com/office/drawing/2014/main" id="{0C126006-AAC2-3BAD-4918-5739584714E1}"/>
                </a:ext>
              </a:extLst>
            </p:cNvPr>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dirty="0"/>
            </a:p>
          </p:txBody>
        </p:sp>
        <p:sp>
          <p:nvSpPr>
            <p:cNvPr id="13" name="object 13">
              <a:extLst>
                <a:ext uri="{FF2B5EF4-FFF2-40B4-BE49-F238E27FC236}">
                  <a16:creationId xmlns:a16="http://schemas.microsoft.com/office/drawing/2014/main" id="{FAD0EF6D-A4DB-CA70-37BA-8CCDAB9B4D57}"/>
                </a:ext>
              </a:extLst>
            </p:cNvPr>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dirty="0"/>
            </a:p>
          </p:txBody>
        </p:sp>
        <p:sp>
          <p:nvSpPr>
            <p:cNvPr id="14" name="object 14">
              <a:extLst>
                <a:ext uri="{FF2B5EF4-FFF2-40B4-BE49-F238E27FC236}">
                  <a16:creationId xmlns:a16="http://schemas.microsoft.com/office/drawing/2014/main" id="{8C2EC41A-AC02-A1B1-8060-73171BFC55B3}"/>
                </a:ext>
              </a:extLst>
            </p:cNvPr>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dirty="0"/>
            </a:p>
          </p:txBody>
        </p:sp>
      </p:grpSp>
      <p:sp>
        <p:nvSpPr>
          <p:cNvPr id="15" name="object 15">
            <a:extLst>
              <a:ext uri="{FF2B5EF4-FFF2-40B4-BE49-F238E27FC236}">
                <a16:creationId xmlns:a16="http://schemas.microsoft.com/office/drawing/2014/main" id="{9C93D403-120E-8EEB-66FB-7F875637ABF9}"/>
              </a:ext>
            </a:extLst>
          </p:cNvPr>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dirty="0">
              <a:latin typeface="Cambria"/>
              <a:cs typeface="Cambria"/>
            </a:endParaRPr>
          </a:p>
        </p:txBody>
      </p:sp>
      <p:sp>
        <p:nvSpPr>
          <p:cNvPr id="16" name="Rectangle 1">
            <a:extLst>
              <a:ext uri="{FF2B5EF4-FFF2-40B4-BE49-F238E27FC236}">
                <a16:creationId xmlns:a16="http://schemas.microsoft.com/office/drawing/2014/main" id="{C07CC820-8090-0F38-2804-AE3E89295C76}"/>
              </a:ext>
            </a:extLst>
          </p:cNvPr>
          <p:cNvSpPr>
            <a:spLocks noGrp="1" noChangeArrowheads="1"/>
          </p:cNvSpPr>
          <p:nvPr>
            <p:ph type="body" idx="1"/>
          </p:nvPr>
        </p:nvSpPr>
        <p:spPr bwMode="auto">
          <a:xfrm>
            <a:off x="762000" y="2020512"/>
            <a:ext cx="8912225" cy="327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nSpc>
                <a:spcPct val="150000"/>
              </a:lnSpc>
              <a:buFont typeface="+mj-lt"/>
              <a:buAutoNum type="arabicPeriod"/>
            </a:pPr>
            <a:r>
              <a:rPr lang="en-IN" dirty="0"/>
              <a:t> To automatically control street lights using LDR (day/night detection) .</a:t>
            </a:r>
          </a:p>
          <a:p>
            <a:pPr marL="342900" indent="-342900">
              <a:lnSpc>
                <a:spcPct val="150000"/>
              </a:lnSpc>
              <a:buFont typeface="+mj-lt"/>
              <a:buAutoNum type="arabicPeriod"/>
            </a:pPr>
            <a:r>
              <a:rPr lang="en-IN" dirty="0"/>
              <a:t>To implement adaptive dimming based on traffic or motion . </a:t>
            </a:r>
          </a:p>
          <a:p>
            <a:pPr marL="342900" indent="-342900">
              <a:lnSpc>
                <a:spcPct val="150000"/>
              </a:lnSpc>
              <a:buFont typeface="+mj-lt"/>
              <a:buAutoNum type="arabicPeriod"/>
            </a:pPr>
            <a:r>
              <a:rPr lang="en-IN" dirty="0"/>
              <a:t>To reduce energy consumption by adjusting brightness levels .</a:t>
            </a:r>
          </a:p>
          <a:p>
            <a:pPr marL="342900" indent="-342900">
              <a:lnSpc>
                <a:spcPct val="150000"/>
              </a:lnSpc>
              <a:buFont typeface="+mj-lt"/>
              <a:buAutoNum type="arabicPeriod"/>
            </a:pPr>
            <a:r>
              <a:rPr lang="en-IN" dirty="0"/>
              <a:t>To detect faults (light failure, abnormal </a:t>
            </a:r>
            <a:r>
              <a:rPr lang="en-IN" dirty="0" err="1"/>
              <a:t>behavior</a:t>
            </a:r>
            <a:r>
              <a:rPr lang="en-IN" dirty="0"/>
              <a:t>) .</a:t>
            </a:r>
          </a:p>
          <a:p>
            <a:pPr marL="342900" indent="-342900">
              <a:lnSpc>
                <a:spcPct val="150000"/>
              </a:lnSpc>
              <a:buFont typeface="+mj-lt"/>
              <a:buAutoNum type="arabicPeriod"/>
            </a:pPr>
            <a:r>
              <a:rPr lang="en-IN" dirty="0"/>
              <a:t>To send real-time data via Wi-Fi .</a:t>
            </a:r>
          </a:p>
          <a:p>
            <a:pPr marL="342900" indent="-342900">
              <a:lnSpc>
                <a:spcPct val="150000"/>
              </a:lnSpc>
              <a:buFont typeface="+mj-lt"/>
              <a:buAutoNum type="arabicPeriod"/>
            </a:pPr>
            <a:r>
              <a:rPr lang="en-IN" dirty="0"/>
              <a:t> To enable remote monitoring using dashboard/app .</a:t>
            </a:r>
          </a:p>
          <a:p>
            <a:pPr marL="342900" indent="-342900">
              <a:lnSpc>
                <a:spcPct val="150000"/>
              </a:lnSpc>
              <a:buFont typeface="+mj-lt"/>
              <a:buAutoNum type="arabicPeriod"/>
            </a:pPr>
            <a:r>
              <a:rPr lang="en-IN" dirty="0"/>
              <a:t>To improve road safety with proper illumination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89101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917694" y="698449"/>
            <a:ext cx="2930906" cy="443070"/>
          </a:xfrm>
          <a:prstGeom prst="rect">
            <a:avLst/>
          </a:prstGeom>
        </p:spPr>
        <p:txBody>
          <a:bodyPr vert="horz" wrap="square" lIns="0" tIns="12065" rIns="0" bIns="0" rtlCol="0">
            <a:spAutoFit/>
          </a:bodyPr>
          <a:lstStyle/>
          <a:p>
            <a:pPr marL="12700">
              <a:lnSpc>
                <a:spcPct val="100000"/>
              </a:lnSpc>
              <a:spcBef>
                <a:spcPts val="95"/>
              </a:spcBef>
            </a:pPr>
            <a:r>
              <a:rPr sz="2800" b="1" dirty="0">
                <a:latin typeface="Times New Roman" panose="02020603050405020304" pitchFamily="18" charset="0"/>
                <a:cs typeface="Times New Roman" panose="02020603050405020304" pitchFamily="18" charset="0"/>
              </a:rPr>
              <a:t>Project</a:t>
            </a:r>
            <a:r>
              <a:rPr sz="2800" b="1" spc="-145" dirty="0">
                <a:latin typeface="Times New Roman" panose="02020603050405020304" pitchFamily="18" charset="0"/>
                <a:cs typeface="Times New Roman" panose="02020603050405020304" pitchFamily="18" charset="0"/>
              </a:rPr>
              <a:t> </a:t>
            </a:r>
            <a:r>
              <a:rPr sz="2800" b="1" spc="-10" dirty="0">
                <a:latin typeface="Times New Roman" panose="02020603050405020304" pitchFamily="18" charset="0"/>
                <a:cs typeface="Times New Roman" panose="02020603050405020304" pitchFamily="18" charset="0"/>
              </a:rPr>
              <a:t>Modules</a:t>
            </a:r>
            <a:endParaRPr sz="2800" b="1"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6902" y="-6311"/>
            <a:ext cx="7394575" cy="609600"/>
            <a:chOff x="6902" y="-6311"/>
            <a:chExt cx="7394575" cy="609600"/>
          </a:xfrm>
        </p:grpSpPr>
        <p:sp>
          <p:nvSpPr>
            <p:cNvPr id="4" name="object 4"/>
            <p:cNvSpPr/>
            <p:nvPr/>
          </p:nvSpPr>
          <p:spPr>
            <a:xfrm>
              <a:off x="13252"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dirty="0"/>
            </a:p>
          </p:txBody>
        </p:sp>
        <p:sp>
          <p:nvSpPr>
            <p:cNvPr id="5" name="object 5"/>
            <p:cNvSpPr/>
            <p:nvPr/>
          </p:nvSpPr>
          <p:spPr>
            <a:xfrm>
              <a:off x="13252" y="38"/>
              <a:ext cx="7381875" cy="596900"/>
            </a:xfrm>
            <a:custGeom>
              <a:avLst/>
              <a:gdLst/>
              <a:ahLst/>
              <a:cxnLst/>
              <a:rect l="l" t="t" r="r" b="b"/>
              <a:pathLst>
                <a:path w="7381875" h="596900">
                  <a:moveTo>
                    <a:pt x="0" y="596353"/>
                  </a:moveTo>
                  <a:lnTo>
                    <a:pt x="7381494" y="596353"/>
                  </a:lnTo>
                  <a:lnTo>
                    <a:pt x="7381494" y="0"/>
                  </a:lnTo>
                  <a:lnTo>
                    <a:pt x="0" y="0"/>
                  </a:lnTo>
                  <a:lnTo>
                    <a:pt x="0" y="596353"/>
                  </a:lnTo>
                  <a:close/>
                </a:path>
              </a:pathLst>
            </a:custGeom>
            <a:ln w="12700">
              <a:solidFill>
                <a:srgbClr val="FF0000"/>
              </a:solidFill>
            </a:ln>
          </p:spPr>
          <p:txBody>
            <a:bodyPr wrap="square" lIns="0" tIns="0" rIns="0" bIns="0" rtlCol="0"/>
            <a:lstStyle/>
            <a:p>
              <a:endParaRPr dirty="0"/>
            </a:p>
          </p:txBody>
        </p:sp>
      </p:grpSp>
      <p:sp>
        <p:nvSpPr>
          <p:cNvPr id="6" name="object 6"/>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Bhujbal</a:t>
            </a:r>
            <a:r>
              <a:rPr spc="-80" dirty="0"/>
              <a:t> </a:t>
            </a:r>
            <a:r>
              <a:rPr spc="-30" dirty="0"/>
              <a:t>Knowledge</a:t>
            </a:r>
            <a:r>
              <a:rPr spc="-114" dirty="0"/>
              <a:t> </a:t>
            </a:r>
            <a:r>
              <a:rPr spc="-20" dirty="0"/>
              <a:t>City</a:t>
            </a:r>
          </a:p>
        </p:txBody>
      </p:sp>
      <p:grpSp>
        <p:nvGrpSpPr>
          <p:cNvPr id="7" name="object 7"/>
          <p:cNvGrpSpPr/>
          <p:nvPr/>
        </p:nvGrpSpPr>
        <p:grpSpPr>
          <a:xfrm>
            <a:off x="93469" y="-6350"/>
            <a:ext cx="12091670" cy="609600"/>
            <a:chOff x="93469" y="-6350"/>
            <a:chExt cx="12091670" cy="609600"/>
          </a:xfrm>
        </p:grpSpPr>
        <p:sp>
          <p:nvSpPr>
            <p:cNvPr id="8" name="object 8"/>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dirty="0"/>
            </a:p>
          </p:txBody>
        </p:sp>
        <p:sp>
          <p:nvSpPr>
            <p:cNvPr id="9" name="object 9"/>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dirty="0"/>
            </a:p>
          </p:txBody>
        </p:sp>
        <p:pic>
          <p:nvPicPr>
            <p:cNvPr id="10" name="object 10"/>
            <p:cNvPicPr/>
            <p:nvPr/>
          </p:nvPicPr>
          <p:blipFill>
            <a:blip r:embed="rId2" cstate="print"/>
            <a:stretch>
              <a:fillRect/>
            </a:stretch>
          </p:blipFill>
          <p:spPr>
            <a:xfrm>
              <a:off x="93469" y="60058"/>
              <a:ext cx="966698" cy="476135"/>
            </a:xfrm>
            <a:prstGeom prst="rect">
              <a:avLst/>
            </a:prstGeom>
          </p:spPr>
        </p:pic>
        <p:sp>
          <p:nvSpPr>
            <p:cNvPr id="11" name="object 11"/>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dirty="0"/>
            </a:p>
          </p:txBody>
        </p:sp>
        <p:sp>
          <p:nvSpPr>
            <p:cNvPr id="12" name="object 12"/>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dirty="0"/>
            </a:p>
          </p:txBody>
        </p:sp>
        <p:sp>
          <p:nvSpPr>
            <p:cNvPr id="13" name="object 13"/>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dirty="0"/>
            </a:p>
          </p:txBody>
        </p:sp>
        <p:sp>
          <p:nvSpPr>
            <p:cNvPr id="14" name="object 14"/>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dirty="0"/>
            </a:p>
          </p:txBody>
        </p:sp>
      </p:grpSp>
      <p:sp>
        <p:nvSpPr>
          <p:cNvPr id="15" name="object 15"/>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dirty="0">
              <a:latin typeface="Cambria"/>
              <a:cs typeface="Cambria"/>
            </a:endParaRPr>
          </a:p>
        </p:txBody>
      </p:sp>
      <p:sp>
        <p:nvSpPr>
          <p:cNvPr id="16" name="object 16"/>
          <p:cNvSpPr txBox="1"/>
          <p:nvPr/>
        </p:nvSpPr>
        <p:spPr>
          <a:xfrm>
            <a:off x="666140" y="1960970"/>
            <a:ext cx="9417050" cy="3074560"/>
          </a:xfrm>
          <a:prstGeom prst="rect">
            <a:avLst/>
          </a:prstGeom>
        </p:spPr>
        <p:txBody>
          <a:bodyPr vert="horz" wrap="square" lIns="0" tIns="149225" rIns="0" bIns="0" rtlCol="0">
            <a:spAutoFit/>
          </a:bodyPr>
          <a:lstStyle/>
          <a:p>
            <a:pPr marL="241300" indent="-228600">
              <a:lnSpc>
                <a:spcPct val="150000"/>
              </a:lnSpc>
              <a:spcBef>
                <a:spcPts val="1175"/>
              </a:spcBef>
              <a:buFont typeface="Calibri"/>
              <a:buAutoNum type="arabicPeriod"/>
              <a:tabLst>
                <a:tab pos="241300" algn="l"/>
              </a:tabLst>
            </a:pPr>
            <a:r>
              <a:rPr sz="1800" b="1" dirty="0">
                <a:latin typeface="Times New Roman" panose="02020603050405020304" pitchFamily="18" charset="0"/>
                <a:cs typeface="Times New Roman" panose="02020603050405020304" pitchFamily="18" charset="0"/>
              </a:rPr>
              <a:t>Sensor</a:t>
            </a:r>
            <a:r>
              <a:rPr sz="1800" b="1" spc="-6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Module</a:t>
            </a:r>
            <a:r>
              <a:rPr sz="1800" b="1" spc="-3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(Sensing)</a:t>
            </a:r>
            <a:r>
              <a:rPr sz="1800" b="1" spc="-30" dirty="0">
                <a:latin typeface="Times New Roman" panose="02020603050405020304" pitchFamily="18" charset="0"/>
                <a:cs typeface="Times New Roman" panose="02020603050405020304" pitchFamily="18" charset="0"/>
              </a:rPr>
              <a:t> </a:t>
            </a:r>
            <a:r>
              <a:rPr sz="1800" spc="-5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p>
            <a:pPr marL="411480">
              <a:lnSpc>
                <a:spcPct val="100000"/>
              </a:lnSpc>
              <a:spcBef>
                <a:spcPts val="1080"/>
              </a:spcBef>
            </a:pPr>
            <a:r>
              <a:rPr sz="1800" b="1" dirty="0">
                <a:latin typeface="Times New Roman" panose="02020603050405020304" pitchFamily="18" charset="0"/>
                <a:cs typeface="Times New Roman" panose="02020603050405020304" pitchFamily="18" charset="0"/>
              </a:rPr>
              <a:t>Purpose:</a:t>
            </a:r>
            <a:r>
              <a:rPr sz="1800" b="1"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measure</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ambient</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light</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lamp</a:t>
            </a:r>
            <a:r>
              <a:rPr sz="1800" spc="-1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output.</a:t>
            </a:r>
            <a:endParaRPr sz="1800" dirty="0">
              <a:latin typeface="Times New Roman" panose="02020603050405020304" pitchFamily="18" charset="0"/>
              <a:cs typeface="Times New Roman" panose="02020603050405020304" pitchFamily="18" charset="0"/>
            </a:endParaRPr>
          </a:p>
          <a:p>
            <a:pPr marL="411480">
              <a:lnSpc>
                <a:spcPct val="100000"/>
              </a:lnSpc>
              <a:spcBef>
                <a:spcPts val="1085"/>
              </a:spcBef>
            </a:pPr>
            <a:r>
              <a:rPr sz="1800" b="1" dirty="0">
                <a:latin typeface="Times New Roman" panose="02020603050405020304" pitchFamily="18" charset="0"/>
                <a:cs typeface="Times New Roman" panose="02020603050405020304" pitchFamily="18" charset="0"/>
              </a:rPr>
              <a:t>Components:</a:t>
            </a:r>
            <a:r>
              <a:rPr sz="1800" b="1" spc="-10" dirty="0">
                <a:latin typeface="Times New Roman" panose="02020603050405020304" pitchFamily="18" charset="0"/>
                <a:cs typeface="Times New Roman" panose="02020603050405020304" pitchFamily="18" charset="0"/>
              </a:rPr>
              <a:t> </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LDR</a:t>
            </a:r>
            <a:r>
              <a:rPr sz="1800" spc="-30" dirty="0">
                <a:latin typeface="Times New Roman" panose="02020603050405020304" pitchFamily="18" charset="0"/>
                <a:cs typeface="Times New Roman" panose="02020603050405020304" pitchFamily="18" charset="0"/>
              </a:rPr>
              <a:t> </a:t>
            </a:r>
            <a:r>
              <a:rPr lang="en-US" spc="-30" dirty="0">
                <a:latin typeface="Times New Roman" panose="02020603050405020304" pitchFamily="18" charset="0"/>
                <a:cs typeface="Times New Roman" panose="02020603050405020304" pitchFamily="18" charset="0"/>
              </a:rPr>
              <a:t>,</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optional</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PIR</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for</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motion</a:t>
            </a:r>
            <a:r>
              <a:rPr sz="1800" spc="-2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detection.</a:t>
            </a:r>
            <a:endParaRPr sz="1800" dirty="0">
              <a:latin typeface="Times New Roman" panose="02020603050405020304" pitchFamily="18" charset="0"/>
              <a:cs typeface="Times New Roman" panose="02020603050405020304" pitchFamily="18" charset="0"/>
            </a:endParaRPr>
          </a:p>
          <a:p>
            <a:pPr marL="241300" indent="-228600">
              <a:lnSpc>
                <a:spcPct val="100000"/>
              </a:lnSpc>
              <a:spcBef>
                <a:spcPts val="1080"/>
              </a:spcBef>
              <a:buFont typeface="Times New Roman"/>
              <a:buAutoNum type="arabicPeriod" startAt="2"/>
              <a:tabLst>
                <a:tab pos="241300" algn="l"/>
              </a:tabLst>
            </a:pPr>
            <a:r>
              <a:rPr sz="1800" b="1" spc="-10" dirty="0">
                <a:latin typeface="Times New Roman" panose="02020603050405020304" pitchFamily="18" charset="0"/>
                <a:cs typeface="Times New Roman" panose="02020603050405020304" pitchFamily="18" charset="0"/>
              </a:rPr>
              <a:t>Microcontroller</a:t>
            </a:r>
            <a:r>
              <a:rPr sz="1800" b="1" spc="-8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t>
            </a:r>
            <a:r>
              <a:rPr sz="1800" b="1" spc="-2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Control</a:t>
            </a:r>
            <a:r>
              <a:rPr sz="1800" b="1" spc="-2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Unit</a:t>
            </a:r>
            <a:r>
              <a:rPr sz="1800" b="1" spc="-20" dirty="0">
                <a:latin typeface="Times New Roman" panose="02020603050405020304" pitchFamily="18" charset="0"/>
                <a:cs typeface="Times New Roman" panose="02020603050405020304" pitchFamily="18" charset="0"/>
              </a:rPr>
              <a:t> </a:t>
            </a:r>
            <a:r>
              <a:rPr sz="1800" b="1" spc="-5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p>
            <a:pPr marL="411480">
              <a:lnSpc>
                <a:spcPct val="100000"/>
              </a:lnSpc>
              <a:spcBef>
                <a:spcPts val="1080"/>
              </a:spcBef>
            </a:pPr>
            <a:r>
              <a:rPr sz="1800" b="1" dirty="0">
                <a:latin typeface="Times New Roman" panose="02020603050405020304" pitchFamily="18" charset="0"/>
                <a:cs typeface="Times New Roman" panose="02020603050405020304" pitchFamily="18" charset="0"/>
              </a:rPr>
              <a:t>Purpose:</a:t>
            </a:r>
            <a:r>
              <a:rPr sz="1800" b="1"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read</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sensors,</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run</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detection</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logic,</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control</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dimming,</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manage</a:t>
            </a:r>
            <a:r>
              <a:rPr sz="1800" spc="-2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comms.</a:t>
            </a:r>
            <a:endParaRPr sz="1800" dirty="0">
              <a:latin typeface="Times New Roman" panose="02020603050405020304" pitchFamily="18" charset="0"/>
              <a:cs typeface="Times New Roman" panose="02020603050405020304" pitchFamily="18" charset="0"/>
            </a:endParaRPr>
          </a:p>
          <a:p>
            <a:pPr marL="411480">
              <a:lnSpc>
                <a:spcPct val="100000"/>
              </a:lnSpc>
              <a:spcBef>
                <a:spcPts val="1080"/>
              </a:spcBef>
            </a:pPr>
            <a:r>
              <a:rPr sz="1800" b="1" dirty="0">
                <a:latin typeface="Times New Roman" panose="02020603050405020304" pitchFamily="18" charset="0"/>
                <a:cs typeface="Times New Roman" panose="02020603050405020304" pitchFamily="18" charset="0"/>
              </a:rPr>
              <a:t>Components:</a:t>
            </a:r>
            <a:r>
              <a:rPr sz="1800" b="1"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ESP</a:t>
            </a:r>
            <a:r>
              <a:rPr lang="en-US" dirty="0">
                <a:latin typeface="Times New Roman" panose="02020603050405020304" pitchFamily="18" charset="0"/>
                <a:cs typeface="Times New Roman" panose="02020603050405020304" pitchFamily="18" charset="0"/>
              </a:rPr>
              <a:t>8</a:t>
            </a:r>
            <a:r>
              <a:rPr sz="1800" dirty="0">
                <a:latin typeface="Times New Roman" panose="02020603050405020304" pitchFamily="18" charset="0"/>
                <a:cs typeface="Times New Roman" panose="02020603050405020304" pitchFamily="18" charset="0"/>
              </a:rPr>
              <a:t>266</a:t>
            </a:r>
            <a:r>
              <a:rPr lang="en-IN" sz="1800" spc="-20"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pPr marL="12700">
              <a:lnSpc>
                <a:spcPct val="100000"/>
              </a:lnSpc>
              <a:spcBef>
                <a:spcPts val="1080"/>
              </a:spcBef>
              <a:tabLst>
                <a:tab pos="241300" algn="l"/>
              </a:tabLst>
            </a:pPr>
            <a:endParaRPr lang="en-US" sz="1800" dirty="0">
              <a:latin typeface="Times New Roman" panose="02020603050405020304" pitchFamily="18" charset="0"/>
              <a:cs typeface="Times New Roman" panose="02020603050405020304" pitchFamily="18" charset="0"/>
            </a:endParaRPr>
          </a:p>
        </p:txBody>
      </p:sp>
      <p:sp>
        <p:nvSpPr>
          <p:cNvPr id="23" name="object 23"/>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24" name="object 2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14</a:t>
            </a:fld>
            <a:endParaRPr spc="-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87315" y="706373"/>
            <a:ext cx="3565779" cy="452120"/>
          </a:xfrm>
          <a:prstGeom prst="rect">
            <a:avLst/>
          </a:prstGeom>
        </p:spPr>
        <p:txBody>
          <a:bodyPr vert="horz" wrap="square" lIns="0" tIns="12065" rIns="0" bIns="0" rtlCol="0">
            <a:spAutoFit/>
          </a:bodyPr>
          <a:lstStyle/>
          <a:p>
            <a:pPr marL="12700">
              <a:lnSpc>
                <a:spcPct val="100000"/>
              </a:lnSpc>
              <a:spcBef>
                <a:spcPts val="95"/>
              </a:spcBef>
            </a:pPr>
            <a:r>
              <a:rPr lang="en-IN" sz="2800" spc="-10" dirty="0">
                <a:latin typeface="Times New Roman" panose="02020603050405020304" pitchFamily="18" charset="0"/>
                <a:cs typeface="Times New Roman" panose="02020603050405020304" pitchFamily="18" charset="0"/>
              </a:rPr>
              <a:t>S</a:t>
            </a:r>
            <a:r>
              <a:rPr sz="2800" spc="-10" dirty="0" err="1">
                <a:latin typeface="Times New Roman" panose="02020603050405020304" pitchFamily="18" charset="0"/>
                <a:cs typeface="Times New Roman" panose="02020603050405020304" pitchFamily="18" charset="0"/>
              </a:rPr>
              <a:t>tructural</a:t>
            </a:r>
            <a:r>
              <a:rPr sz="2800" spc="-85" dirty="0">
                <a:latin typeface="Times New Roman" panose="02020603050405020304" pitchFamily="18" charset="0"/>
                <a:cs typeface="Times New Roman" panose="02020603050405020304" pitchFamily="18" charset="0"/>
              </a:rPr>
              <a:t> </a:t>
            </a:r>
            <a:r>
              <a:rPr lang="en-IN" sz="2800" spc="-85" dirty="0">
                <a:latin typeface="Times New Roman" panose="02020603050405020304" pitchFamily="18" charset="0"/>
                <a:cs typeface="Times New Roman" panose="02020603050405020304" pitchFamily="18" charset="0"/>
              </a:rPr>
              <a:t>D</a:t>
            </a:r>
            <a:r>
              <a:rPr sz="2800" spc="-10" dirty="0" err="1">
                <a:latin typeface="Times New Roman" panose="02020603050405020304" pitchFamily="18" charset="0"/>
                <a:cs typeface="Times New Roman" panose="02020603050405020304" pitchFamily="18" charset="0"/>
              </a:rPr>
              <a:t>iagrams</a:t>
            </a:r>
            <a:endParaRPr sz="2800"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6902" y="-6311"/>
            <a:ext cx="7394575" cy="609600"/>
            <a:chOff x="6902" y="-6311"/>
            <a:chExt cx="7394575" cy="609600"/>
          </a:xfrm>
        </p:grpSpPr>
        <p:sp>
          <p:nvSpPr>
            <p:cNvPr id="4" name="object 4"/>
            <p:cNvSpPr/>
            <p:nvPr/>
          </p:nvSpPr>
          <p:spPr>
            <a:xfrm>
              <a:off x="13252"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a:p>
          </p:txBody>
        </p:sp>
        <p:sp>
          <p:nvSpPr>
            <p:cNvPr id="5" name="object 5"/>
            <p:cNvSpPr/>
            <p:nvPr/>
          </p:nvSpPr>
          <p:spPr>
            <a:xfrm>
              <a:off x="13252" y="38"/>
              <a:ext cx="7381875" cy="596900"/>
            </a:xfrm>
            <a:custGeom>
              <a:avLst/>
              <a:gdLst/>
              <a:ahLst/>
              <a:cxnLst/>
              <a:rect l="l" t="t" r="r" b="b"/>
              <a:pathLst>
                <a:path w="7381875" h="596900">
                  <a:moveTo>
                    <a:pt x="0" y="596353"/>
                  </a:moveTo>
                  <a:lnTo>
                    <a:pt x="7381494" y="596353"/>
                  </a:lnTo>
                  <a:lnTo>
                    <a:pt x="7381494" y="0"/>
                  </a:lnTo>
                  <a:lnTo>
                    <a:pt x="0" y="0"/>
                  </a:lnTo>
                  <a:lnTo>
                    <a:pt x="0" y="596353"/>
                  </a:lnTo>
                  <a:close/>
                </a:path>
              </a:pathLst>
            </a:custGeom>
            <a:ln w="12700">
              <a:solidFill>
                <a:srgbClr val="FF0000"/>
              </a:solidFill>
            </a:ln>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Bhujbal</a:t>
            </a:r>
            <a:r>
              <a:rPr spc="-80" dirty="0"/>
              <a:t> </a:t>
            </a:r>
            <a:r>
              <a:rPr spc="-30" dirty="0"/>
              <a:t>Knowledge</a:t>
            </a:r>
            <a:r>
              <a:rPr spc="-114" dirty="0"/>
              <a:t> </a:t>
            </a:r>
            <a:r>
              <a:rPr spc="-20" dirty="0"/>
              <a:t>City</a:t>
            </a:r>
          </a:p>
        </p:txBody>
      </p:sp>
      <p:grpSp>
        <p:nvGrpSpPr>
          <p:cNvPr id="7" name="object 7"/>
          <p:cNvGrpSpPr/>
          <p:nvPr/>
        </p:nvGrpSpPr>
        <p:grpSpPr>
          <a:xfrm>
            <a:off x="93469" y="-6350"/>
            <a:ext cx="12091670" cy="609600"/>
            <a:chOff x="93469" y="-6350"/>
            <a:chExt cx="12091670" cy="609600"/>
          </a:xfrm>
        </p:grpSpPr>
        <p:sp>
          <p:nvSpPr>
            <p:cNvPr id="8" name="object 8"/>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a:p>
          </p:txBody>
        </p:sp>
        <p:sp>
          <p:nvSpPr>
            <p:cNvPr id="9" name="object 9"/>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93469" y="60058"/>
              <a:ext cx="966698" cy="476135"/>
            </a:xfrm>
            <a:prstGeom prst="rect">
              <a:avLst/>
            </a:prstGeom>
          </p:spPr>
        </p:pic>
        <p:sp>
          <p:nvSpPr>
            <p:cNvPr id="11" name="object 11"/>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a:p>
          </p:txBody>
        </p:sp>
        <p:sp>
          <p:nvSpPr>
            <p:cNvPr id="12" name="object 12"/>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a:p>
          </p:txBody>
        </p:sp>
        <p:sp>
          <p:nvSpPr>
            <p:cNvPr id="13" name="object 13"/>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a:p>
          </p:txBody>
        </p:sp>
        <p:sp>
          <p:nvSpPr>
            <p:cNvPr id="14" name="object 14"/>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a:p>
          </p:txBody>
        </p:sp>
      </p:grpSp>
      <p:sp>
        <p:nvSpPr>
          <p:cNvPr id="15" name="object 15"/>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a:latin typeface="Cambria"/>
              <a:cs typeface="Cambria"/>
            </a:endParaRPr>
          </a:p>
        </p:txBody>
      </p:sp>
      <p:pic>
        <p:nvPicPr>
          <p:cNvPr id="16" name="object 16"/>
          <p:cNvPicPr/>
          <p:nvPr/>
        </p:nvPicPr>
        <p:blipFill>
          <a:blip r:embed="rId3" cstate="print"/>
          <a:stretch>
            <a:fillRect/>
          </a:stretch>
        </p:blipFill>
        <p:spPr>
          <a:xfrm>
            <a:off x="4343400" y="1281582"/>
            <a:ext cx="3276600" cy="561949"/>
          </a:xfrm>
          <a:prstGeom prst="rect">
            <a:avLst/>
          </a:prstGeom>
        </p:spPr>
      </p:pic>
      <p:sp>
        <p:nvSpPr>
          <p:cNvPr id="17" name="object 17"/>
          <p:cNvSpPr txBox="1"/>
          <p:nvPr/>
        </p:nvSpPr>
        <p:spPr>
          <a:xfrm>
            <a:off x="4343400" y="1281582"/>
            <a:ext cx="3276600" cy="561975"/>
          </a:xfrm>
          <a:prstGeom prst="rect">
            <a:avLst/>
          </a:prstGeom>
          <a:ln w="6350">
            <a:solidFill>
              <a:srgbClr val="4471C4"/>
            </a:solidFill>
          </a:ln>
        </p:spPr>
        <p:txBody>
          <a:bodyPr vert="horz" wrap="square" lIns="0" tIns="136525" rIns="0" bIns="0" rtlCol="0">
            <a:spAutoFit/>
          </a:bodyPr>
          <a:lstStyle/>
          <a:p>
            <a:pPr algn="ctr">
              <a:lnSpc>
                <a:spcPct val="100000"/>
              </a:lnSpc>
              <a:spcBef>
                <a:spcPts val="1075"/>
              </a:spcBef>
            </a:pPr>
            <a:r>
              <a:rPr sz="1800" dirty="0">
                <a:latin typeface="Times New Roman"/>
                <a:cs typeface="Times New Roman"/>
              </a:rPr>
              <a:t>Sensor</a:t>
            </a:r>
            <a:r>
              <a:rPr sz="1800" spc="-55" dirty="0">
                <a:latin typeface="Times New Roman"/>
                <a:cs typeface="Times New Roman"/>
              </a:rPr>
              <a:t> </a:t>
            </a:r>
            <a:r>
              <a:rPr sz="1800" spc="-20" dirty="0">
                <a:latin typeface="Times New Roman"/>
                <a:cs typeface="Times New Roman"/>
              </a:rPr>
              <a:t>Unit</a:t>
            </a:r>
            <a:endParaRPr sz="1800">
              <a:latin typeface="Times New Roman"/>
              <a:cs typeface="Times New Roman"/>
            </a:endParaRPr>
          </a:p>
        </p:txBody>
      </p:sp>
      <p:sp>
        <p:nvSpPr>
          <p:cNvPr id="18" name="object 18"/>
          <p:cNvSpPr/>
          <p:nvPr/>
        </p:nvSpPr>
        <p:spPr>
          <a:xfrm>
            <a:off x="5981700" y="1843532"/>
            <a:ext cx="0" cy="137795"/>
          </a:xfrm>
          <a:custGeom>
            <a:avLst/>
            <a:gdLst/>
            <a:ahLst/>
            <a:cxnLst/>
            <a:rect l="l" t="t" r="r" b="b"/>
            <a:pathLst>
              <a:path h="137794">
                <a:moveTo>
                  <a:pt x="0" y="0"/>
                </a:moveTo>
                <a:lnTo>
                  <a:pt x="0" y="137667"/>
                </a:lnTo>
              </a:path>
            </a:pathLst>
          </a:custGeom>
          <a:ln w="6350">
            <a:solidFill>
              <a:srgbClr val="000000"/>
            </a:solidFill>
          </a:ln>
        </p:spPr>
        <p:txBody>
          <a:bodyPr wrap="square" lIns="0" tIns="0" rIns="0" bIns="0" rtlCol="0"/>
          <a:lstStyle/>
          <a:p>
            <a:endParaRPr/>
          </a:p>
        </p:txBody>
      </p:sp>
      <p:pic>
        <p:nvPicPr>
          <p:cNvPr id="19" name="object 19"/>
          <p:cNvPicPr/>
          <p:nvPr/>
        </p:nvPicPr>
        <p:blipFill>
          <a:blip r:embed="rId4" cstate="print"/>
          <a:stretch>
            <a:fillRect/>
          </a:stretch>
        </p:blipFill>
        <p:spPr>
          <a:xfrm>
            <a:off x="4267200" y="2333751"/>
            <a:ext cx="3429000" cy="457200"/>
          </a:xfrm>
          <a:prstGeom prst="rect">
            <a:avLst/>
          </a:prstGeom>
        </p:spPr>
      </p:pic>
      <p:sp>
        <p:nvSpPr>
          <p:cNvPr id="20" name="object 20"/>
          <p:cNvSpPr txBox="1"/>
          <p:nvPr/>
        </p:nvSpPr>
        <p:spPr>
          <a:xfrm>
            <a:off x="4267200" y="2333751"/>
            <a:ext cx="3429000" cy="457200"/>
          </a:xfrm>
          <a:prstGeom prst="rect">
            <a:avLst/>
          </a:prstGeom>
          <a:ln w="6350">
            <a:solidFill>
              <a:srgbClr val="4471C4"/>
            </a:solidFill>
          </a:ln>
        </p:spPr>
        <p:txBody>
          <a:bodyPr vert="horz" wrap="square" lIns="0" tIns="83820" rIns="0" bIns="0" rtlCol="0">
            <a:spAutoFit/>
          </a:bodyPr>
          <a:lstStyle/>
          <a:p>
            <a:pPr marL="1012825">
              <a:lnSpc>
                <a:spcPct val="100000"/>
              </a:lnSpc>
              <a:spcBef>
                <a:spcPts val="660"/>
              </a:spcBef>
            </a:pPr>
            <a:r>
              <a:rPr sz="1800" dirty="0">
                <a:latin typeface="Times New Roman"/>
                <a:cs typeface="Times New Roman"/>
              </a:rPr>
              <a:t>Controller</a:t>
            </a:r>
            <a:r>
              <a:rPr sz="1800" spc="-30" dirty="0">
                <a:latin typeface="Times New Roman"/>
                <a:cs typeface="Times New Roman"/>
              </a:rPr>
              <a:t> </a:t>
            </a:r>
            <a:r>
              <a:rPr sz="1800" spc="-20" dirty="0">
                <a:latin typeface="Times New Roman"/>
                <a:cs typeface="Times New Roman"/>
              </a:rPr>
              <a:t>Unit</a:t>
            </a:r>
            <a:endParaRPr sz="1800">
              <a:latin typeface="Times New Roman"/>
              <a:cs typeface="Times New Roman"/>
            </a:endParaRPr>
          </a:p>
        </p:txBody>
      </p:sp>
      <p:sp>
        <p:nvSpPr>
          <p:cNvPr id="21" name="object 21"/>
          <p:cNvSpPr txBox="1"/>
          <p:nvPr/>
        </p:nvSpPr>
        <p:spPr>
          <a:xfrm>
            <a:off x="5271008" y="1940432"/>
            <a:ext cx="1633220" cy="239395"/>
          </a:xfrm>
          <a:prstGeom prst="rect">
            <a:avLst/>
          </a:prstGeom>
        </p:spPr>
        <p:txBody>
          <a:bodyPr vert="horz" wrap="square" lIns="0" tIns="13335" rIns="0" bIns="0" rtlCol="0">
            <a:spAutoFit/>
          </a:bodyPr>
          <a:lstStyle/>
          <a:p>
            <a:pPr marL="12700">
              <a:lnSpc>
                <a:spcPct val="100000"/>
              </a:lnSpc>
              <a:spcBef>
                <a:spcPts val="105"/>
              </a:spcBef>
            </a:pPr>
            <a:r>
              <a:rPr sz="1400" dirty="0">
                <a:latin typeface="Times New Roman"/>
                <a:cs typeface="Times New Roman"/>
              </a:rPr>
              <a:t>Analog/Digital</a:t>
            </a:r>
            <a:r>
              <a:rPr sz="1400" spc="-85" dirty="0">
                <a:latin typeface="Times New Roman"/>
                <a:cs typeface="Times New Roman"/>
              </a:rPr>
              <a:t> </a:t>
            </a:r>
            <a:r>
              <a:rPr sz="1400" spc="-10" dirty="0">
                <a:latin typeface="Times New Roman"/>
                <a:cs typeface="Times New Roman"/>
              </a:rPr>
              <a:t>signals</a:t>
            </a:r>
            <a:endParaRPr sz="1400">
              <a:latin typeface="Times New Roman"/>
              <a:cs typeface="Times New Roman"/>
            </a:endParaRPr>
          </a:p>
        </p:txBody>
      </p:sp>
      <p:pic>
        <p:nvPicPr>
          <p:cNvPr id="22" name="object 22"/>
          <p:cNvPicPr/>
          <p:nvPr/>
        </p:nvPicPr>
        <p:blipFill>
          <a:blip r:embed="rId5" cstate="print"/>
          <a:stretch>
            <a:fillRect/>
          </a:stretch>
        </p:blipFill>
        <p:spPr>
          <a:xfrm>
            <a:off x="5943600" y="2133600"/>
            <a:ext cx="76200" cy="200151"/>
          </a:xfrm>
          <a:prstGeom prst="rect">
            <a:avLst/>
          </a:prstGeom>
        </p:spPr>
      </p:pic>
      <p:sp>
        <p:nvSpPr>
          <p:cNvPr id="23" name="object 23"/>
          <p:cNvSpPr txBox="1"/>
          <p:nvPr/>
        </p:nvSpPr>
        <p:spPr>
          <a:xfrm>
            <a:off x="1240942" y="3081909"/>
            <a:ext cx="249682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PWM Control &amp;</a:t>
            </a:r>
            <a:r>
              <a:rPr sz="1800" spc="-5" dirty="0">
                <a:latin typeface="Times New Roman"/>
                <a:cs typeface="Times New Roman"/>
              </a:rPr>
              <a:t> </a:t>
            </a:r>
            <a:r>
              <a:rPr sz="1800" spc="-10" dirty="0">
                <a:latin typeface="Times New Roman"/>
                <a:cs typeface="Times New Roman"/>
              </a:rPr>
              <a:t>Feedback</a:t>
            </a:r>
            <a:endParaRPr sz="1800">
              <a:latin typeface="Times New Roman"/>
              <a:cs typeface="Times New Roman"/>
            </a:endParaRPr>
          </a:p>
        </p:txBody>
      </p:sp>
      <p:sp>
        <p:nvSpPr>
          <p:cNvPr id="24" name="object 24"/>
          <p:cNvSpPr txBox="1"/>
          <p:nvPr/>
        </p:nvSpPr>
        <p:spPr>
          <a:xfrm>
            <a:off x="8679560" y="3100273"/>
            <a:ext cx="1273810" cy="300355"/>
          </a:xfrm>
          <a:prstGeom prst="rect">
            <a:avLst/>
          </a:prstGeom>
        </p:spPr>
        <p:txBody>
          <a:bodyPr vert="horz" wrap="square" lIns="0" tIns="12700" rIns="0" bIns="0" rtlCol="0">
            <a:spAutoFit/>
          </a:bodyPr>
          <a:lstStyle/>
          <a:p>
            <a:pPr marL="12700">
              <a:lnSpc>
                <a:spcPct val="100000"/>
              </a:lnSpc>
              <a:spcBef>
                <a:spcPts val="100"/>
              </a:spcBef>
            </a:pPr>
            <a:r>
              <a:rPr sz="1800" spc="-35" dirty="0">
                <a:latin typeface="Times New Roman"/>
                <a:cs typeface="Times New Roman"/>
              </a:rPr>
              <a:t>Wi-</a:t>
            </a:r>
            <a:r>
              <a:rPr sz="1800" spc="-10" dirty="0">
                <a:latin typeface="Times New Roman"/>
                <a:cs typeface="Times New Roman"/>
              </a:rPr>
              <a:t>Fi/MQTT</a:t>
            </a:r>
            <a:endParaRPr sz="1800" dirty="0">
              <a:latin typeface="Times New Roman"/>
              <a:cs typeface="Times New Roman"/>
            </a:endParaRPr>
          </a:p>
        </p:txBody>
      </p:sp>
      <p:grpSp>
        <p:nvGrpSpPr>
          <p:cNvPr id="25" name="object 25"/>
          <p:cNvGrpSpPr/>
          <p:nvPr/>
        </p:nvGrpSpPr>
        <p:grpSpPr>
          <a:xfrm>
            <a:off x="1257300" y="3315208"/>
            <a:ext cx="3276600" cy="705485"/>
            <a:chOff x="1257300" y="3315208"/>
            <a:chExt cx="3276600" cy="705485"/>
          </a:xfrm>
        </p:grpSpPr>
        <p:sp>
          <p:nvSpPr>
            <p:cNvPr id="26" name="object 26"/>
            <p:cNvSpPr/>
            <p:nvPr/>
          </p:nvSpPr>
          <p:spPr>
            <a:xfrm>
              <a:off x="2857500" y="3315208"/>
              <a:ext cx="76200" cy="265430"/>
            </a:xfrm>
            <a:custGeom>
              <a:avLst/>
              <a:gdLst/>
              <a:ahLst/>
              <a:cxnLst/>
              <a:rect l="l" t="t" r="r" b="b"/>
              <a:pathLst>
                <a:path w="76200" h="265429">
                  <a:moveTo>
                    <a:pt x="34925" y="188721"/>
                  </a:moveTo>
                  <a:lnTo>
                    <a:pt x="0" y="188721"/>
                  </a:lnTo>
                  <a:lnTo>
                    <a:pt x="38100" y="264921"/>
                  </a:lnTo>
                  <a:lnTo>
                    <a:pt x="69850" y="201421"/>
                  </a:lnTo>
                  <a:lnTo>
                    <a:pt x="34925" y="201421"/>
                  </a:lnTo>
                  <a:lnTo>
                    <a:pt x="34925" y="188721"/>
                  </a:lnTo>
                  <a:close/>
                </a:path>
                <a:path w="76200" h="265429">
                  <a:moveTo>
                    <a:pt x="41275" y="0"/>
                  </a:moveTo>
                  <a:lnTo>
                    <a:pt x="34925" y="0"/>
                  </a:lnTo>
                  <a:lnTo>
                    <a:pt x="34925" y="201421"/>
                  </a:lnTo>
                  <a:lnTo>
                    <a:pt x="41275" y="201421"/>
                  </a:lnTo>
                  <a:lnTo>
                    <a:pt x="41275" y="0"/>
                  </a:lnTo>
                  <a:close/>
                </a:path>
                <a:path w="76200" h="265429">
                  <a:moveTo>
                    <a:pt x="76200" y="188721"/>
                  </a:moveTo>
                  <a:lnTo>
                    <a:pt x="41275" y="188721"/>
                  </a:lnTo>
                  <a:lnTo>
                    <a:pt x="41275" y="201421"/>
                  </a:lnTo>
                  <a:lnTo>
                    <a:pt x="69850" y="201421"/>
                  </a:lnTo>
                  <a:lnTo>
                    <a:pt x="76200" y="188721"/>
                  </a:lnTo>
                  <a:close/>
                </a:path>
              </a:pathLst>
            </a:custGeom>
            <a:solidFill>
              <a:srgbClr val="000000"/>
            </a:solidFill>
          </p:spPr>
          <p:txBody>
            <a:bodyPr wrap="square" lIns="0" tIns="0" rIns="0" bIns="0" rtlCol="0"/>
            <a:lstStyle/>
            <a:p>
              <a:endParaRPr/>
            </a:p>
          </p:txBody>
        </p:sp>
        <p:pic>
          <p:nvPicPr>
            <p:cNvPr id="27" name="object 27"/>
            <p:cNvPicPr/>
            <p:nvPr/>
          </p:nvPicPr>
          <p:blipFill>
            <a:blip r:embed="rId6" cstate="print"/>
            <a:stretch>
              <a:fillRect/>
            </a:stretch>
          </p:blipFill>
          <p:spPr>
            <a:xfrm>
              <a:off x="1257300" y="3568662"/>
              <a:ext cx="3276600" cy="452031"/>
            </a:xfrm>
            <a:prstGeom prst="rect">
              <a:avLst/>
            </a:prstGeom>
          </p:spPr>
        </p:pic>
      </p:grpSp>
      <p:sp>
        <p:nvSpPr>
          <p:cNvPr id="28" name="object 28"/>
          <p:cNvSpPr txBox="1"/>
          <p:nvPr/>
        </p:nvSpPr>
        <p:spPr>
          <a:xfrm>
            <a:off x="1257300" y="3568662"/>
            <a:ext cx="3276600" cy="452120"/>
          </a:xfrm>
          <a:prstGeom prst="rect">
            <a:avLst/>
          </a:prstGeom>
          <a:ln w="6350">
            <a:solidFill>
              <a:srgbClr val="4471C4"/>
            </a:solidFill>
          </a:ln>
        </p:spPr>
        <p:txBody>
          <a:bodyPr vert="horz" wrap="square" lIns="0" tIns="81915" rIns="0" bIns="0" rtlCol="0">
            <a:spAutoFit/>
          </a:bodyPr>
          <a:lstStyle/>
          <a:p>
            <a:pPr marL="901065">
              <a:lnSpc>
                <a:spcPct val="100000"/>
              </a:lnSpc>
              <a:spcBef>
                <a:spcPts val="645"/>
              </a:spcBef>
            </a:pPr>
            <a:r>
              <a:rPr sz="1800" dirty="0">
                <a:latin typeface="Times New Roman"/>
                <a:cs typeface="Times New Roman"/>
              </a:rPr>
              <a:t>Power</a:t>
            </a:r>
            <a:r>
              <a:rPr sz="1800" spc="-20" dirty="0">
                <a:latin typeface="Times New Roman"/>
                <a:cs typeface="Times New Roman"/>
              </a:rPr>
              <a:t> </a:t>
            </a:r>
            <a:r>
              <a:rPr sz="1800" dirty="0">
                <a:latin typeface="Times New Roman"/>
                <a:cs typeface="Times New Roman"/>
              </a:rPr>
              <a:t>&amp;</a:t>
            </a:r>
            <a:r>
              <a:rPr sz="1800" spc="-10" dirty="0">
                <a:latin typeface="Times New Roman"/>
                <a:cs typeface="Times New Roman"/>
              </a:rPr>
              <a:t> Driver</a:t>
            </a:r>
            <a:endParaRPr sz="1800">
              <a:latin typeface="Times New Roman"/>
              <a:cs typeface="Times New Roman"/>
            </a:endParaRPr>
          </a:p>
        </p:txBody>
      </p:sp>
      <p:sp>
        <p:nvSpPr>
          <p:cNvPr id="29" name="object 29"/>
          <p:cNvSpPr/>
          <p:nvPr/>
        </p:nvSpPr>
        <p:spPr>
          <a:xfrm>
            <a:off x="2895346" y="2786760"/>
            <a:ext cx="6571615" cy="341630"/>
          </a:xfrm>
          <a:custGeom>
            <a:avLst/>
            <a:gdLst/>
            <a:ahLst/>
            <a:cxnLst/>
            <a:rect l="l" t="t" r="r" b="b"/>
            <a:pathLst>
              <a:path w="6571615" h="341630">
                <a:moveTo>
                  <a:pt x="3145015" y="42608"/>
                </a:moveTo>
                <a:lnTo>
                  <a:pt x="3144405" y="36245"/>
                </a:lnTo>
                <a:lnTo>
                  <a:pt x="0" y="335026"/>
                </a:lnTo>
                <a:lnTo>
                  <a:pt x="508" y="341376"/>
                </a:lnTo>
                <a:lnTo>
                  <a:pt x="3145015" y="42608"/>
                </a:lnTo>
                <a:close/>
              </a:path>
              <a:path w="6571615" h="341630">
                <a:moveTo>
                  <a:pt x="3220593" y="32131"/>
                </a:moveTo>
                <a:lnTo>
                  <a:pt x="3141091" y="1397"/>
                </a:lnTo>
                <a:lnTo>
                  <a:pt x="3144291" y="35052"/>
                </a:lnTo>
                <a:lnTo>
                  <a:pt x="3144405" y="36245"/>
                </a:lnTo>
                <a:lnTo>
                  <a:pt x="3144901" y="41402"/>
                </a:lnTo>
                <a:lnTo>
                  <a:pt x="3145015" y="42608"/>
                </a:lnTo>
                <a:lnTo>
                  <a:pt x="3148330" y="77343"/>
                </a:lnTo>
                <a:lnTo>
                  <a:pt x="3215919" y="35052"/>
                </a:lnTo>
                <a:lnTo>
                  <a:pt x="3220593" y="32131"/>
                </a:lnTo>
                <a:close/>
              </a:path>
              <a:path w="6571615" h="341630">
                <a:moveTo>
                  <a:pt x="6571488" y="284607"/>
                </a:moveTo>
                <a:lnTo>
                  <a:pt x="3296780" y="34759"/>
                </a:lnTo>
                <a:lnTo>
                  <a:pt x="3296856" y="33782"/>
                </a:lnTo>
                <a:lnTo>
                  <a:pt x="3299460" y="0"/>
                </a:lnTo>
                <a:lnTo>
                  <a:pt x="3220593" y="32131"/>
                </a:lnTo>
                <a:lnTo>
                  <a:pt x="3293618" y="75946"/>
                </a:lnTo>
                <a:lnTo>
                  <a:pt x="3296297" y="41109"/>
                </a:lnTo>
                <a:lnTo>
                  <a:pt x="6570980" y="290957"/>
                </a:lnTo>
                <a:lnTo>
                  <a:pt x="6571488" y="284607"/>
                </a:lnTo>
                <a:close/>
              </a:path>
            </a:pathLst>
          </a:custGeom>
          <a:solidFill>
            <a:srgbClr val="000000"/>
          </a:solidFill>
        </p:spPr>
        <p:txBody>
          <a:bodyPr wrap="square" lIns="0" tIns="0" rIns="0" bIns="0" rtlCol="0"/>
          <a:lstStyle/>
          <a:p>
            <a:endParaRPr/>
          </a:p>
        </p:txBody>
      </p:sp>
      <p:grpSp>
        <p:nvGrpSpPr>
          <p:cNvPr id="30" name="object 30"/>
          <p:cNvGrpSpPr/>
          <p:nvPr/>
        </p:nvGrpSpPr>
        <p:grpSpPr>
          <a:xfrm>
            <a:off x="8305800" y="3366515"/>
            <a:ext cx="3134995" cy="654685"/>
            <a:chOff x="8305800" y="3366515"/>
            <a:chExt cx="3134995" cy="654685"/>
          </a:xfrm>
        </p:grpSpPr>
        <p:pic>
          <p:nvPicPr>
            <p:cNvPr id="31" name="object 31"/>
            <p:cNvPicPr/>
            <p:nvPr/>
          </p:nvPicPr>
          <p:blipFill>
            <a:blip r:embed="rId7" cstate="print"/>
            <a:stretch>
              <a:fillRect/>
            </a:stretch>
          </p:blipFill>
          <p:spPr>
            <a:xfrm>
              <a:off x="9486900" y="3366515"/>
              <a:ext cx="76200" cy="213613"/>
            </a:xfrm>
            <a:prstGeom prst="rect">
              <a:avLst/>
            </a:prstGeom>
          </p:spPr>
        </p:pic>
        <p:pic>
          <p:nvPicPr>
            <p:cNvPr id="32" name="object 32"/>
            <p:cNvPicPr/>
            <p:nvPr/>
          </p:nvPicPr>
          <p:blipFill>
            <a:blip r:embed="rId8" cstate="print"/>
            <a:stretch>
              <a:fillRect/>
            </a:stretch>
          </p:blipFill>
          <p:spPr>
            <a:xfrm>
              <a:off x="8305800" y="3580104"/>
              <a:ext cx="3134995" cy="440588"/>
            </a:xfrm>
            <a:prstGeom prst="rect">
              <a:avLst/>
            </a:prstGeom>
          </p:spPr>
        </p:pic>
      </p:grpSp>
      <p:sp>
        <p:nvSpPr>
          <p:cNvPr id="33" name="object 33"/>
          <p:cNvSpPr txBox="1"/>
          <p:nvPr/>
        </p:nvSpPr>
        <p:spPr>
          <a:xfrm>
            <a:off x="8305800" y="3580104"/>
            <a:ext cx="3134995" cy="440690"/>
          </a:xfrm>
          <a:prstGeom prst="rect">
            <a:avLst/>
          </a:prstGeom>
          <a:ln w="6350">
            <a:solidFill>
              <a:srgbClr val="4471C4"/>
            </a:solidFill>
          </a:ln>
        </p:spPr>
        <p:txBody>
          <a:bodyPr vert="horz" wrap="square" lIns="0" tIns="76200" rIns="0" bIns="0" rtlCol="0">
            <a:spAutoFit/>
          </a:bodyPr>
          <a:lstStyle/>
          <a:p>
            <a:pPr marL="446405">
              <a:lnSpc>
                <a:spcPct val="100000"/>
              </a:lnSpc>
              <a:spcBef>
                <a:spcPts val="600"/>
              </a:spcBef>
            </a:pPr>
            <a:r>
              <a:rPr sz="1800" dirty="0">
                <a:latin typeface="Times New Roman"/>
                <a:cs typeface="Times New Roman"/>
              </a:rPr>
              <a:t>Communication</a:t>
            </a:r>
            <a:r>
              <a:rPr sz="1800" spc="-55" dirty="0">
                <a:latin typeface="Times New Roman"/>
                <a:cs typeface="Times New Roman"/>
              </a:rPr>
              <a:t> </a:t>
            </a:r>
            <a:r>
              <a:rPr sz="1800" spc="-10" dirty="0">
                <a:latin typeface="Times New Roman"/>
                <a:cs typeface="Times New Roman"/>
              </a:rPr>
              <a:t>Module</a:t>
            </a:r>
            <a:endParaRPr sz="1800">
              <a:latin typeface="Times New Roman"/>
              <a:cs typeface="Times New Roman"/>
            </a:endParaRPr>
          </a:p>
        </p:txBody>
      </p:sp>
      <p:sp>
        <p:nvSpPr>
          <p:cNvPr id="34" name="object 34"/>
          <p:cNvSpPr txBox="1"/>
          <p:nvPr/>
        </p:nvSpPr>
        <p:spPr>
          <a:xfrm>
            <a:off x="1412494" y="4313046"/>
            <a:ext cx="294132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Power</a:t>
            </a:r>
            <a:r>
              <a:rPr sz="1800" spc="-15" dirty="0">
                <a:latin typeface="Times New Roman"/>
                <a:cs typeface="Times New Roman"/>
              </a:rPr>
              <a:t> </a:t>
            </a:r>
            <a:r>
              <a:rPr sz="1800" dirty="0">
                <a:latin typeface="Times New Roman"/>
                <a:cs typeface="Times New Roman"/>
              </a:rPr>
              <a:t>Supply</a:t>
            </a:r>
            <a:r>
              <a:rPr sz="1800" spc="-30" dirty="0">
                <a:latin typeface="Times New Roman"/>
                <a:cs typeface="Times New Roman"/>
              </a:rPr>
              <a:t> </a:t>
            </a:r>
            <a:r>
              <a:rPr sz="1800" dirty="0">
                <a:latin typeface="Times New Roman"/>
                <a:cs typeface="Times New Roman"/>
              </a:rPr>
              <a:t>&amp;LDR</a:t>
            </a:r>
            <a:r>
              <a:rPr sz="1800" spc="-15" dirty="0">
                <a:latin typeface="Times New Roman"/>
                <a:cs typeface="Times New Roman"/>
              </a:rPr>
              <a:t> </a:t>
            </a:r>
            <a:r>
              <a:rPr sz="1800" spc="-10" dirty="0">
                <a:latin typeface="Times New Roman"/>
                <a:cs typeface="Times New Roman"/>
              </a:rPr>
              <a:t>Feedback</a:t>
            </a:r>
            <a:endParaRPr sz="1800">
              <a:latin typeface="Times New Roman"/>
              <a:cs typeface="Times New Roman"/>
            </a:endParaRPr>
          </a:p>
        </p:txBody>
      </p:sp>
      <p:sp>
        <p:nvSpPr>
          <p:cNvPr id="35" name="object 35"/>
          <p:cNvSpPr/>
          <p:nvPr/>
        </p:nvSpPr>
        <p:spPr>
          <a:xfrm>
            <a:off x="2857500" y="4020692"/>
            <a:ext cx="76200" cy="266065"/>
          </a:xfrm>
          <a:custGeom>
            <a:avLst/>
            <a:gdLst/>
            <a:ahLst/>
            <a:cxnLst/>
            <a:rect l="l" t="t" r="r" b="b"/>
            <a:pathLst>
              <a:path w="76200" h="266064">
                <a:moveTo>
                  <a:pt x="41275" y="63499"/>
                </a:moveTo>
                <a:lnTo>
                  <a:pt x="34925" y="63499"/>
                </a:lnTo>
                <a:lnTo>
                  <a:pt x="34925" y="266064"/>
                </a:lnTo>
                <a:lnTo>
                  <a:pt x="41275" y="266064"/>
                </a:lnTo>
                <a:lnTo>
                  <a:pt x="41275" y="63499"/>
                </a:lnTo>
                <a:close/>
              </a:path>
              <a:path w="76200" h="266064">
                <a:moveTo>
                  <a:pt x="38100" y="0"/>
                </a:moveTo>
                <a:lnTo>
                  <a:pt x="0" y="76199"/>
                </a:lnTo>
                <a:lnTo>
                  <a:pt x="34925" y="76199"/>
                </a:lnTo>
                <a:lnTo>
                  <a:pt x="34925" y="63499"/>
                </a:lnTo>
                <a:lnTo>
                  <a:pt x="69850" y="63499"/>
                </a:lnTo>
                <a:lnTo>
                  <a:pt x="38100" y="0"/>
                </a:lnTo>
                <a:close/>
              </a:path>
              <a:path w="76200" h="266064">
                <a:moveTo>
                  <a:pt x="69850" y="63499"/>
                </a:moveTo>
                <a:lnTo>
                  <a:pt x="41275" y="63499"/>
                </a:lnTo>
                <a:lnTo>
                  <a:pt x="41275" y="76199"/>
                </a:lnTo>
                <a:lnTo>
                  <a:pt x="76200" y="76199"/>
                </a:lnTo>
                <a:lnTo>
                  <a:pt x="69850" y="63499"/>
                </a:lnTo>
                <a:close/>
              </a:path>
            </a:pathLst>
          </a:custGeom>
          <a:solidFill>
            <a:srgbClr val="000000"/>
          </a:solidFill>
        </p:spPr>
        <p:txBody>
          <a:bodyPr wrap="square" lIns="0" tIns="0" rIns="0" bIns="0" rtlCol="0"/>
          <a:lstStyle/>
          <a:p>
            <a:endParaRPr/>
          </a:p>
        </p:txBody>
      </p:sp>
      <p:grpSp>
        <p:nvGrpSpPr>
          <p:cNvPr id="36" name="object 36"/>
          <p:cNvGrpSpPr/>
          <p:nvPr/>
        </p:nvGrpSpPr>
        <p:grpSpPr>
          <a:xfrm>
            <a:off x="1162050" y="4656073"/>
            <a:ext cx="3371850" cy="878205"/>
            <a:chOff x="1162050" y="4656073"/>
            <a:chExt cx="3371850" cy="878205"/>
          </a:xfrm>
        </p:grpSpPr>
        <p:sp>
          <p:nvSpPr>
            <p:cNvPr id="37" name="object 37"/>
            <p:cNvSpPr/>
            <p:nvPr/>
          </p:nvSpPr>
          <p:spPr>
            <a:xfrm>
              <a:off x="2857500" y="4656073"/>
              <a:ext cx="76200" cy="373380"/>
            </a:xfrm>
            <a:custGeom>
              <a:avLst/>
              <a:gdLst/>
              <a:ahLst/>
              <a:cxnLst/>
              <a:rect l="l" t="t" r="r" b="b"/>
              <a:pathLst>
                <a:path w="76200" h="373379">
                  <a:moveTo>
                    <a:pt x="34925" y="296925"/>
                  </a:moveTo>
                  <a:lnTo>
                    <a:pt x="0" y="296925"/>
                  </a:lnTo>
                  <a:lnTo>
                    <a:pt x="38100" y="373125"/>
                  </a:lnTo>
                  <a:lnTo>
                    <a:pt x="69850" y="309625"/>
                  </a:lnTo>
                  <a:lnTo>
                    <a:pt x="34925" y="309625"/>
                  </a:lnTo>
                  <a:lnTo>
                    <a:pt x="34925" y="296925"/>
                  </a:lnTo>
                  <a:close/>
                </a:path>
                <a:path w="76200" h="373379">
                  <a:moveTo>
                    <a:pt x="41275" y="0"/>
                  </a:moveTo>
                  <a:lnTo>
                    <a:pt x="34925" y="0"/>
                  </a:lnTo>
                  <a:lnTo>
                    <a:pt x="34925" y="309625"/>
                  </a:lnTo>
                  <a:lnTo>
                    <a:pt x="41275" y="309625"/>
                  </a:lnTo>
                  <a:lnTo>
                    <a:pt x="41275" y="0"/>
                  </a:lnTo>
                  <a:close/>
                </a:path>
                <a:path w="76200" h="373379">
                  <a:moveTo>
                    <a:pt x="76200" y="296925"/>
                  </a:moveTo>
                  <a:lnTo>
                    <a:pt x="41275" y="296925"/>
                  </a:lnTo>
                  <a:lnTo>
                    <a:pt x="41275" y="309625"/>
                  </a:lnTo>
                  <a:lnTo>
                    <a:pt x="69850" y="309625"/>
                  </a:lnTo>
                  <a:lnTo>
                    <a:pt x="76200" y="296925"/>
                  </a:lnTo>
                  <a:close/>
                </a:path>
              </a:pathLst>
            </a:custGeom>
            <a:solidFill>
              <a:srgbClr val="000000"/>
            </a:solidFill>
          </p:spPr>
          <p:txBody>
            <a:bodyPr wrap="square" lIns="0" tIns="0" rIns="0" bIns="0" rtlCol="0"/>
            <a:lstStyle/>
            <a:p>
              <a:endParaRPr/>
            </a:p>
          </p:txBody>
        </p:sp>
        <p:pic>
          <p:nvPicPr>
            <p:cNvPr id="38" name="object 38"/>
            <p:cNvPicPr/>
            <p:nvPr/>
          </p:nvPicPr>
          <p:blipFill>
            <a:blip r:embed="rId9" cstate="print"/>
            <a:stretch>
              <a:fillRect/>
            </a:stretch>
          </p:blipFill>
          <p:spPr>
            <a:xfrm>
              <a:off x="1162050" y="5029187"/>
              <a:ext cx="3371850" cy="504837"/>
            </a:xfrm>
            <a:prstGeom prst="rect">
              <a:avLst/>
            </a:prstGeom>
          </p:spPr>
        </p:pic>
      </p:grpSp>
      <p:sp>
        <p:nvSpPr>
          <p:cNvPr id="39" name="object 39"/>
          <p:cNvSpPr txBox="1"/>
          <p:nvPr/>
        </p:nvSpPr>
        <p:spPr>
          <a:xfrm>
            <a:off x="1162050" y="5029187"/>
            <a:ext cx="3371850" cy="505459"/>
          </a:xfrm>
          <a:prstGeom prst="rect">
            <a:avLst/>
          </a:prstGeom>
          <a:ln w="6350">
            <a:solidFill>
              <a:srgbClr val="4471C4"/>
            </a:solidFill>
          </a:ln>
        </p:spPr>
        <p:txBody>
          <a:bodyPr vert="horz" wrap="square" lIns="0" tIns="100965" rIns="0" bIns="0" rtlCol="0">
            <a:spAutoFit/>
          </a:bodyPr>
          <a:lstStyle/>
          <a:p>
            <a:pPr marL="1270" algn="ctr">
              <a:lnSpc>
                <a:spcPct val="100000"/>
              </a:lnSpc>
              <a:spcBef>
                <a:spcPts val="795"/>
              </a:spcBef>
            </a:pPr>
            <a:r>
              <a:rPr sz="1800" dirty="0">
                <a:latin typeface="Calibri"/>
                <a:cs typeface="Calibri"/>
              </a:rPr>
              <a:t>Street</a:t>
            </a:r>
            <a:r>
              <a:rPr sz="1800" spc="-65" dirty="0">
                <a:latin typeface="Calibri"/>
                <a:cs typeface="Calibri"/>
              </a:rPr>
              <a:t> </a:t>
            </a:r>
            <a:r>
              <a:rPr sz="1800" spc="-20" dirty="0">
                <a:latin typeface="Calibri"/>
                <a:cs typeface="Calibri"/>
              </a:rPr>
              <a:t>Light</a:t>
            </a:r>
            <a:endParaRPr sz="1800">
              <a:latin typeface="Calibri"/>
              <a:cs typeface="Calibri"/>
            </a:endParaRPr>
          </a:p>
        </p:txBody>
      </p:sp>
      <p:sp>
        <p:nvSpPr>
          <p:cNvPr id="40" name="object 40"/>
          <p:cNvSpPr/>
          <p:nvPr/>
        </p:nvSpPr>
        <p:spPr>
          <a:xfrm>
            <a:off x="9504171" y="4019422"/>
            <a:ext cx="76200" cy="324485"/>
          </a:xfrm>
          <a:custGeom>
            <a:avLst/>
            <a:gdLst/>
            <a:ahLst/>
            <a:cxnLst/>
            <a:rect l="l" t="t" r="r" b="b"/>
            <a:pathLst>
              <a:path w="76200" h="324485">
                <a:moveTo>
                  <a:pt x="41275" y="63500"/>
                </a:moveTo>
                <a:lnTo>
                  <a:pt x="34925" y="63500"/>
                </a:lnTo>
                <a:lnTo>
                  <a:pt x="34925" y="323976"/>
                </a:lnTo>
                <a:lnTo>
                  <a:pt x="41275" y="323976"/>
                </a:lnTo>
                <a:lnTo>
                  <a:pt x="41275" y="63500"/>
                </a:lnTo>
                <a:close/>
              </a:path>
              <a:path w="76200" h="324485">
                <a:moveTo>
                  <a:pt x="38100" y="0"/>
                </a:moveTo>
                <a:lnTo>
                  <a:pt x="0" y="76200"/>
                </a:lnTo>
                <a:lnTo>
                  <a:pt x="34925" y="76200"/>
                </a:lnTo>
                <a:lnTo>
                  <a:pt x="34925" y="63500"/>
                </a:lnTo>
                <a:lnTo>
                  <a:pt x="69850" y="63500"/>
                </a:lnTo>
                <a:lnTo>
                  <a:pt x="38100" y="0"/>
                </a:lnTo>
                <a:close/>
              </a:path>
              <a:path w="76200" h="324485">
                <a:moveTo>
                  <a:pt x="69850" y="63500"/>
                </a:moveTo>
                <a:lnTo>
                  <a:pt x="41275" y="63500"/>
                </a:lnTo>
                <a:lnTo>
                  <a:pt x="41275" y="76200"/>
                </a:lnTo>
                <a:lnTo>
                  <a:pt x="76200" y="76200"/>
                </a:lnTo>
                <a:lnTo>
                  <a:pt x="69850" y="63500"/>
                </a:lnTo>
                <a:close/>
              </a:path>
            </a:pathLst>
          </a:custGeom>
          <a:solidFill>
            <a:srgbClr val="000000"/>
          </a:solidFill>
        </p:spPr>
        <p:txBody>
          <a:bodyPr wrap="square" lIns="0" tIns="0" rIns="0" bIns="0" rtlCol="0"/>
          <a:lstStyle/>
          <a:p>
            <a:endParaRPr/>
          </a:p>
        </p:txBody>
      </p:sp>
      <p:sp>
        <p:nvSpPr>
          <p:cNvPr id="41" name="object 41"/>
          <p:cNvSpPr txBox="1"/>
          <p:nvPr/>
        </p:nvSpPr>
        <p:spPr>
          <a:xfrm>
            <a:off x="9071609" y="4257802"/>
            <a:ext cx="122491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Internet</a:t>
            </a:r>
            <a:r>
              <a:rPr sz="1800" spc="-65" dirty="0">
                <a:latin typeface="Times New Roman"/>
                <a:cs typeface="Times New Roman"/>
              </a:rPr>
              <a:t> </a:t>
            </a:r>
            <a:r>
              <a:rPr sz="1800" spc="-20" dirty="0">
                <a:latin typeface="Times New Roman"/>
                <a:cs typeface="Times New Roman"/>
              </a:rPr>
              <a:t>Data</a:t>
            </a:r>
            <a:endParaRPr sz="1800">
              <a:latin typeface="Times New Roman"/>
              <a:cs typeface="Times New Roman"/>
            </a:endParaRPr>
          </a:p>
        </p:txBody>
      </p:sp>
      <p:grpSp>
        <p:nvGrpSpPr>
          <p:cNvPr id="42" name="object 42"/>
          <p:cNvGrpSpPr/>
          <p:nvPr/>
        </p:nvGrpSpPr>
        <p:grpSpPr>
          <a:xfrm>
            <a:off x="8305800" y="4480178"/>
            <a:ext cx="3134995" cy="640080"/>
            <a:chOff x="8305800" y="4480178"/>
            <a:chExt cx="3134995" cy="640080"/>
          </a:xfrm>
        </p:grpSpPr>
        <p:pic>
          <p:nvPicPr>
            <p:cNvPr id="43" name="object 43"/>
            <p:cNvPicPr/>
            <p:nvPr/>
          </p:nvPicPr>
          <p:blipFill>
            <a:blip r:embed="rId10" cstate="print"/>
            <a:stretch>
              <a:fillRect/>
            </a:stretch>
          </p:blipFill>
          <p:spPr>
            <a:xfrm>
              <a:off x="9504172" y="4480178"/>
              <a:ext cx="76200" cy="175894"/>
            </a:xfrm>
            <a:prstGeom prst="rect">
              <a:avLst/>
            </a:prstGeom>
          </p:spPr>
        </p:pic>
        <p:pic>
          <p:nvPicPr>
            <p:cNvPr id="44" name="object 44"/>
            <p:cNvPicPr/>
            <p:nvPr/>
          </p:nvPicPr>
          <p:blipFill>
            <a:blip r:embed="rId11" cstate="print"/>
            <a:stretch>
              <a:fillRect/>
            </a:stretch>
          </p:blipFill>
          <p:spPr>
            <a:xfrm>
              <a:off x="8305800" y="4633925"/>
              <a:ext cx="3134995" cy="485952"/>
            </a:xfrm>
            <a:prstGeom prst="rect">
              <a:avLst/>
            </a:prstGeom>
          </p:spPr>
        </p:pic>
      </p:grpSp>
      <p:sp>
        <p:nvSpPr>
          <p:cNvPr id="45" name="object 45"/>
          <p:cNvSpPr txBox="1"/>
          <p:nvPr/>
        </p:nvSpPr>
        <p:spPr>
          <a:xfrm>
            <a:off x="8305800" y="4633925"/>
            <a:ext cx="3134995" cy="486409"/>
          </a:xfrm>
          <a:prstGeom prst="rect">
            <a:avLst/>
          </a:prstGeom>
          <a:ln w="6350">
            <a:solidFill>
              <a:srgbClr val="4471C4"/>
            </a:solidFill>
          </a:ln>
        </p:spPr>
        <p:txBody>
          <a:bodyPr vert="horz" wrap="square" lIns="0" tIns="91440" rIns="0" bIns="0" rtlCol="0">
            <a:spAutoFit/>
          </a:bodyPr>
          <a:lstStyle/>
          <a:p>
            <a:pPr marL="873125">
              <a:lnSpc>
                <a:spcPct val="100000"/>
              </a:lnSpc>
              <a:spcBef>
                <a:spcPts val="720"/>
              </a:spcBef>
            </a:pPr>
            <a:r>
              <a:rPr sz="1800" dirty="0">
                <a:latin typeface="Calibri"/>
                <a:cs typeface="Calibri"/>
              </a:rPr>
              <a:t>Cloud</a:t>
            </a:r>
            <a:r>
              <a:rPr sz="1800" spc="-50" dirty="0">
                <a:latin typeface="Calibri"/>
                <a:cs typeface="Calibri"/>
              </a:rPr>
              <a:t> </a:t>
            </a:r>
            <a:r>
              <a:rPr sz="1800" spc="-10" dirty="0">
                <a:latin typeface="Calibri"/>
                <a:cs typeface="Calibri"/>
              </a:rPr>
              <a:t>Platform</a:t>
            </a:r>
            <a:endParaRPr sz="1800">
              <a:latin typeface="Calibri"/>
              <a:cs typeface="Calibri"/>
            </a:endParaRPr>
          </a:p>
        </p:txBody>
      </p:sp>
      <p:sp>
        <p:nvSpPr>
          <p:cNvPr id="46" name="object 46"/>
          <p:cNvSpPr/>
          <p:nvPr/>
        </p:nvSpPr>
        <p:spPr>
          <a:xfrm>
            <a:off x="9504171" y="5090667"/>
            <a:ext cx="76200" cy="382270"/>
          </a:xfrm>
          <a:custGeom>
            <a:avLst/>
            <a:gdLst/>
            <a:ahLst/>
            <a:cxnLst/>
            <a:rect l="l" t="t" r="r" b="b"/>
            <a:pathLst>
              <a:path w="76200" h="382270">
                <a:moveTo>
                  <a:pt x="41275" y="63499"/>
                </a:moveTo>
                <a:lnTo>
                  <a:pt x="34925" y="63499"/>
                </a:lnTo>
                <a:lnTo>
                  <a:pt x="34925" y="382015"/>
                </a:lnTo>
                <a:lnTo>
                  <a:pt x="41275" y="382015"/>
                </a:lnTo>
                <a:lnTo>
                  <a:pt x="41275" y="63499"/>
                </a:lnTo>
                <a:close/>
              </a:path>
              <a:path w="76200" h="382270">
                <a:moveTo>
                  <a:pt x="38100" y="0"/>
                </a:moveTo>
                <a:lnTo>
                  <a:pt x="0" y="76199"/>
                </a:lnTo>
                <a:lnTo>
                  <a:pt x="34925" y="76199"/>
                </a:lnTo>
                <a:lnTo>
                  <a:pt x="34925" y="63499"/>
                </a:lnTo>
                <a:lnTo>
                  <a:pt x="69850" y="63499"/>
                </a:lnTo>
                <a:lnTo>
                  <a:pt x="38100" y="0"/>
                </a:lnTo>
                <a:close/>
              </a:path>
              <a:path w="76200" h="382270">
                <a:moveTo>
                  <a:pt x="69850" y="63499"/>
                </a:moveTo>
                <a:lnTo>
                  <a:pt x="41275" y="63499"/>
                </a:lnTo>
                <a:lnTo>
                  <a:pt x="41275" y="76199"/>
                </a:lnTo>
                <a:lnTo>
                  <a:pt x="76200" y="76199"/>
                </a:lnTo>
                <a:lnTo>
                  <a:pt x="69850" y="63499"/>
                </a:lnTo>
                <a:close/>
              </a:path>
            </a:pathLst>
          </a:custGeom>
          <a:solidFill>
            <a:srgbClr val="000000"/>
          </a:solidFill>
        </p:spPr>
        <p:txBody>
          <a:bodyPr wrap="square" lIns="0" tIns="0" rIns="0" bIns="0" rtlCol="0"/>
          <a:lstStyle/>
          <a:p>
            <a:endParaRPr/>
          </a:p>
        </p:txBody>
      </p:sp>
      <p:sp>
        <p:nvSpPr>
          <p:cNvPr id="47" name="object 47"/>
          <p:cNvSpPr txBox="1"/>
          <p:nvPr/>
        </p:nvSpPr>
        <p:spPr>
          <a:xfrm>
            <a:off x="9108693" y="5410301"/>
            <a:ext cx="92138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API</a:t>
            </a:r>
            <a:r>
              <a:rPr sz="1800" spc="-20" dirty="0">
                <a:latin typeface="Times New Roman"/>
                <a:cs typeface="Times New Roman"/>
              </a:rPr>
              <a:t> </a:t>
            </a:r>
            <a:r>
              <a:rPr sz="1800" spc="-10" dirty="0">
                <a:latin typeface="Times New Roman"/>
                <a:cs typeface="Times New Roman"/>
              </a:rPr>
              <a:t>Calls</a:t>
            </a:r>
            <a:endParaRPr sz="1800">
              <a:latin typeface="Times New Roman"/>
              <a:cs typeface="Times New Roman"/>
            </a:endParaRPr>
          </a:p>
        </p:txBody>
      </p:sp>
      <p:grpSp>
        <p:nvGrpSpPr>
          <p:cNvPr id="48" name="object 48"/>
          <p:cNvGrpSpPr/>
          <p:nvPr/>
        </p:nvGrpSpPr>
        <p:grpSpPr>
          <a:xfrm>
            <a:off x="8302625" y="5903950"/>
            <a:ext cx="2978150" cy="408305"/>
            <a:chOff x="8302625" y="5903950"/>
            <a:chExt cx="2978150" cy="408305"/>
          </a:xfrm>
        </p:grpSpPr>
        <p:pic>
          <p:nvPicPr>
            <p:cNvPr id="49" name="object 49"/>
            <p:cNvPicPr/>
            <p:nvPr/>
          </p:nvPicPr>
          <p:blipFill>
            <a:blip r:embed="rId12" cstate="print"/>
            <a:stretch>
              <a:fillRect/>
            </a:stretch>
          </p:blipFill>
          <p:spPr>
            <a:xfrm>
              <a:off x="8305800" y="5907125"/>
              <a:ext cx="2971800" cy="401599"/>
            </a:xfrm>
            <a:prstGeom prst="rect">
              <a:avLst/>
            </a:prstGeom>
          </p:spPr>
        </p:pic>
        <p:sp>
          <p:nvSpPr>
            <p:cNvPr id="50" name="object 50"/>
            <p:cNvSpPr/>
            <p:nvPr/>
          </p:nvSpPr>
          <p:spPr>
            <a:xfrm>
              <a:off x="8305800" y="5907125"/>
              <a:ext cx="2971800" cy="401955"/>
            </a:xfrm>
            <a:custGeom>
              <a:avLst/>
              <a:gdLst/>
              <a:ahLst/>
              <a:cxnLst/>
              <a:rect l="l" t="t" r="r" b="b"/>
              <a:pathLst>
                <a:path w="2971800" h="401954">
                  <a:moveTo>
                    <a:pt x="0" y="0"/>
                  </a:moveTo>
                  <a:lnTo>
                    <a:pt x="2904871" y="0"/>
                  </a:lnTo>
                  <a:lnTo>
                    <a:pt x="2930919" y="5258"/>
                  </a:lnTo>
                  <a:lnTo>
                    <a:pt x="2952194" y="19600"/>
                  </a:lnTo>
                  <a:lnTo>
                    <a:pt x="2966539" y="40874"/>
                  </a:lnTo>
                  <a:lnTo>
                    <a:pt x="2971800" y="66929"/>
                  </a:lnTo>
                  <a:lnTo>
                    <a:pt x="2971800" y="401599"/>
                  </a:lnTo>
                  <a:lnTo>
                    <a:pt x="0" y="401599"/>
                  </a:lnTo>
                  <a:lnTo>
                    <a:pt x="0" y="0"/>
                  </a:lnTo>
                  <a:close/>
                </a:path>
              </a:pathLst>
            </a:custGeom>
            <a:ln w="6350">
              <a:solidFill>
                <a:srgbClr val="4471C4"/>
              </a:solidFill>
            </a:ln>
          </p:spPr>
          <p:txBody>
            <a:bodyPr wrap="square" lIns="0" tIns="0" rIns="0" bIns="0" rtlCol="0"/>
            <a:lstStyle/>
            <a:p>
              <a:endParaRPr/>
            </a:p>
          </p:txBody>
        </p:sp>
      </p:grpSp>
      <p:sp>
        <p:nvSpPr>
          <p:cNvPr id="51" name="object 51"/>
          <p:cNvSpPr txBox="1"/>
          <p:nvPr/>
        </p:nvSpPr>
        <p:spPr>
          <a:xfrm>
            <a:off x="9026143" y="5944006"/>
            <a:ext cx="151447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User </a:t>
            </a:r>
            <a:r>
              <a:rPr sz="1800" spc="-10" dirty="0">
                <a:latin typeface="Calibri"/>
                <a:cs typeface="Calibri"/>
              </a:rPr>
              <a:t>Dashboard</a:t>
            </a:r>
            <a:endParaRPr sz="1800">
              <a:latin typeface="Calibri"/>
              <a:cs typeface="Calibri"/>
            </a:endParaRPr>
          </a:p>
        </p:txBody>
      </p:sp>
      <p:sp>
        <p:nvSpPr>
          <p:cNvPr id="52" name="object 52"/>
          <p:cNvSpPr/>
          <p:nvPr/>
        </p:nvSpPr>
        <p:spPr>
          <a:xfrm>
            <a:off x="9504171" y="5638800"/>
            <a:ext cx="76200" cy="268605"/>
          </a:xfrm>
          <a:custGeom>
            <a:avLst/>
            <a:gdLst/>
            <a:ahLst/>
            <a:cxnLst/>
            <a:rect l="l" t="t" r="r" b="b"/>
            <a:pathLst>
              <a:path w="76200" h="268604">
                <a:moveTo>
                  <a:pt x="34925" y="192125"/>
                </a:moveTo>
                <a:lnTo>
                  <a:pt x="0" y="192125"/>
                </a:lnTo>
                <a:lnTo>
                  <a:pt x="38100" y="268325"/>
                </a:lnTo>
                <a:lnTo>
                  <a:pt x="69850" y="204825"/>
                </a:lnTo>
                <a:lnTo>
                  <a:pt x="34925" y="204825"/>
                </a:lnTo>
                <a:lnTo>
                  <a:pt x="34925" y="192125"/>
                </a:lnTo>
                <a:close/>
              </a:path>
              <a:path w="76200" h="268604">
                <a:moveTo>
                  <a:pt x="41275" y="0"/>
                </a:moveTo>
                <a:lnTo>
                  <a:pt x="34925" y="0"/>
                </a:lnTo>
                <a:lnTo>
                  <a:pt x="34925" y="204825"/>
                </a:lnTo>
                <a:lnTo>
                  <a:pt x="41275" y="204825"/>
                </a:lnTo>
                <a:lnTo>
                  <a:pt x="41275" y="0"/>
                </a:lnTo>
                <a:close/>
              </a:path>
              <a:path w="76200" h="268604">
                <a:moveTo>
                  <a:pt x="76200" y="192125"/>
                </a:moveTo>
                <a:lnTo>
                  <a:pt x="41275" y="192125"/>
                </a:lnTo>
                <a:lnTo>
                  <a:pt x="41275" y="204825"/>
                </a:lnTo>
                <a:lnTo>
                  <a:pt x="69850" y="204825"/>
                </a:lnTo>
                <a:lnTo>
                  <a:pt x="76200" y="192125"/>
                </a:lnTo>
                <a:close/>
              </a:path>
            </a:pathLst>
          </a:custGeom>
          <a:solidFill>
            <a:srgbClr val="000000"/>
          </a:solidFill>
        </p:spPr>
        <p:txBody>
          <a:bodyPr wrap="square" lIns="0" tIns="0" rIns="0" bIns="0" rtlCol="0"/>
          <a:lstStyle/>
          <a:p>
            <a:endParaRPr/>
          </a:p>
        </p:txBody>
      </p:sp>
      <p:sp>
        <p:nvSpPr>
          <p:cNvPr id="53" name="object 53"/>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54" name="object 54"/>
          <p:cNvSpPr txBox="1"/>
          <p:nvPr/>
        </p:nvSpPr>
        <p:spPr>
          <a:xfrm>
            <a:off x="11094211" y="6464680"/>
            <a:ext cx="180975" cy="178435"/>
          </a:xfrm>
          <a:prstGeom prst="rect">
            <a:avLst/>
          </a:prstGeom>
        </p:spPr>
        <p:txBody>
          <a:bodyPr vert="horz" wrap="square" lIns="0" tIns="0" rIns="0" bIns="0" rtlCol="0">
            <a:spAutoFit/>
          </a:bodyPr>
          <a:lstStyle/>
          <a:p>
            <a:pPr marL="12700">
              <a:lnSpc>
                <a:spcPts val="1240"/>
              </a:lnSpc>
            </a:pPr>
            <a:r>
              <a:rPr sz="1200" spc="-25" dirty="0">
                <a:solidFill>
                  <a:srgbClr val="888888"/>
                </a:solidFill>
                <a:latin typeface="Calibri"/>
                <a:cs typeface="Calibri"/>
              </a:rPr>
              <a:t>19</a:t>
            </a:r>
            <a:endParaRPr sz="120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042660" y="698449"/>
            <a:ext cx="2805939" cy="443070"/>
          </a:xfrm>
          <a:prstGeom prst="rect">
            <a:avLst/>
          </a:prstGeom>
        </p:spPr>
        <p:txBody>
          <a:bodyPr vert="horz" wrap="square" lIns="0" tIns="12065" rIns="0" bIns="0" rtlCol="0">
            <a:spAutoFit/>
          </a:bodyPr>
          <a:lstStyle/>
          <a:p>
            <a:pPr marL="12700">
              <a:lnSpc>
                <a:spcPct val="100000"/>
              </a:lnSpc>
              <a:spcBef>
                <a:spcPts val="95"/>
              </a:spcBef>
            </a:pPr>
            <a:r>
              <a:rPr sz="2800" dirty="0">
                <a:latin typeface="Times New Roman" panose="02020603050405020304" pitchFamily="18" charset="0"/>
                <a:cs typeface="Times New Roman" panose="02020603050405020304" pitchFamily="18" charset="0"/>
              </a:rPr>
              <a:t>UML</a:t>
            </a:r>
            <a:r>
              <a:rPr sz="2800" spc="-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Diagrams</a:t>
            </a:r>
            <a:endParaRPr sz="2800"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6902" y="-6311"/>
            <a:ext cx="7394575" cy="609600"/>
            <a:chOff x="6902" y="-6311"/>
            <a:chExt cx="7394575" cy="609600"/>
          </a:xfrm>
        </p:grpSpPr>
        <p:sp>
          <p:nvSpPr>
            <p:cNvPr id="4" name="object 4"/>
            <p:cNvSpPr/>
            <p:nvPr/>
          </p:nvSpPr>
          <p:spPr>
            <a:xfrm>
              <a:off x="13252"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a:p>
          </p:txBody>
        </p:sp>
        <p:sp>
          <p:nvSpPr>
            <p:cNvPr id="5" name="object 5"/>
            <p:cNvSpPr/>
            <p:nvPr/>
          </p:nvSpPr>
          <p:spPr>
            <a:xfrm>
              <a:off x="13252" y="38"/>
              <a:ext cx="7381875" cy="596900"/>
            </a:xfrm>
            <a:custGeom>
              <a:avLst/>
              <a:gdLst/>
              <a:ahLst/>
              <a:cxnLst/>
              <a:rect l="l" t="t" r="r" b="b"/>
              <a:pathLst>
                <a:path w="7381875" h="596900">
                  <a:moveTo>
                    <a:pt x="0" y="596353"/>
                  </a:moveTo>
                  <a:lnTo>
                    <a:pt x="7381494" y="596353"/>
                  </a:lnTo>
                  <a:lnTo>
                    <a:pt x="7381494" y="0"/>
                  </a:lnTo>
                  <a:lnTo>
                    <a:pt x="0" y="0"/>
                  </a:lnTo>
                  <a:lnTo>
                    <a:pt x="0" y="596353"/>
                  </a:lnTo>
                  <a:close/>
                </a:path>
              </a:pathLst>
            </a:custGeom>
            <a:ln w="12700">
              <a:solidFill>
                <a:srgbClr val="FF0000"/>
              </a:solidFill>
            </a:ln>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Bhujbal</a:t>
            </a:r>
            <a:r>
              <a:rPr spc="-80" dirty="0"/>
              <a:t> </a:t>
            </a:r>
            <a:r>
              <a:rPr spc="-30" dirty="0"/>
              <a:t>Knowledge</a:t>
            </a:r>
            <a:r>
              <a:rPr spc="-114" dirty="0"/>
              <a:t> </a:t>
            </a:r>
            <a:r>
              <a:rPr spc="-20" dirty="0"/>
              <a:t>City</a:t>
            </a:r>
          </a:p>
        </p:txBody>
      </p:sp>
      <p:grpSp>
        <p:nvGrpSpPr>
          <p:cNvPr id="7" name="object 7"/>
          <p:cNvGrpSpPr/>
          <p:nvPr/>
        </p:nvGrpSpPr>
        <p:grpSpPr>
          <a:xfrm>
            <a:off x="93469" y="-6350"/>
            <a:ext cx="12091670" cy="609600"/>
            <a:chOff x="93469" y="-6350"/>
            <a:chExt cx="12091670" cy="609600"/>
          </a:xfrm>
        </p:grpSpPr>
        <p:sp>
          <p:nvSpPr>
            <p:cNvPr id="8" name="object 8"/>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a:p>
          </p:txBody>
        </p:sp>
        <p:sp>
          <p:nvSpPr>
            <p:cNvPr id="9" name="object 9"/>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93469" y="60058"/>
              <a:ext cx="966698" cy="476135"/>
            </a:xfrm>
            <a:prstGeom prst="rect">
              <a:avLst/>
            </a:prstGeom>
          </p:spPr>
        </p:pic>
        <p:sp>
          <p:nvSpPr>
            <p:cNvPr id="11" name="object 11"/>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a:p>
          </p:txBody>
        </p:sp>
        <p:sp>
          <p:nvSpPr>
            <p:cNvPr id="12" name="object 12"/>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a:p>
          </p:txBody>
        </p:sp>
        <p:sp>
          <p:nvSpPr>
            <p:cNvPr id="13" name="object 13"/>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a:p>
          </p:txBody>
        </p:sp>
        <p:sp>
          <p:nvSpPr>
            <p:cNvPr id="14" name="object 14"/>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a:p>
          </p:txBody>
        </p:sp>
      </p:grpSp>
      <p:sp>
        <p:nvSpPr>
          <p:cNvPr id="15" name="object 15"/>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a:latin typeface="Cambria"/>
              <a:cs typeface="Cambria"/>
            </a:endParaRP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18" name="object 18"/>
          <p:cNvSpPr txBox="1"/>
          <p:nvPr/>
        </p:nvSpPr>
        <p:spPr>
          <a:xfrm>
            <a:off x="11094211" y="6464680"/>
            <a:ext cx="180975" cy="178435"/>
          </a:xfrm>
          <a:prstGeom prst="rect">
            <a:avLst/>
          </a:prstGeom>
        </p:spPr>
        <p:txBody>
          <a:bodyPr vert="horz" wrap="square" lIns="0" tIns="0" rIns="0" bIns="0" rtlCol="0">
            <a:spAutoFit/>
          </a:bodyPr>
          <a:lstStyle/>
          <a:p>
            <a:pPr marL="12700">
              <a:lnSpc>
                <a:spcPts val="1240"/>
              </a:lnSpc>
            </a:pPr>
            <a:r>
              <a:rPr sz="1200" spc="-25" dirty="0">
                <a:solidFill>
                  <a:srgbClr val="888888"/>
                </a:solidFill>
                <a:latin typeface="Calibri"/>
                <a:cs typeface="Calibri"/>
              </a:rPr>
              <a:t>26</a:t>
            </a:r>
            <a:endParaRPr sz="1200">
              <a:latin typeface="Calibri"/>
              <a:cs typeface="Calibri"/>
            </a:endParaRPr>
          </a:p>
        </p:txBody>
      </p:sp>
      <p:pic>
        <p:nvPicPr>
          <p:cNvPr id="19" name="Picture 18">
            <a:extLst>
              <a:ext uri="{FF2B5EF4-FFF2-40B4-BE49-F238E27FC236}">
                <a16:creationId xmlns:a16="http://schemas.microsoft.com/office/drawing/2014/main" id="{0F13C04C-0786-66B8-3B92-09389D30FB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469" y="1676401"/>
            <a:ext cx="12022331" cy="396239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17577" y="605107"/>
            <a:ext cx="2773935" cy="443070"/>
          </a:xfrm>
          <a:prstGeom prst="rect">
            <a:avLst/>
          </a:prstGeom>
        </p:spPr>
        <p:txBody>
          <a:bodyPr vert="horz" wrap="square" lIns="0" tIns="12065" rIns="0" bIns="0" rtlCol="0">
            <a:spAutoFit/>
          </a:bodyPr>
          <a:lstStyle/>
          <a:p>
            <a:pPr marL="12700">
              <a:lnSpc>
                <a:spcPct val="100000"/>
              </a:lnSpc>
              <a:spcBef>
                <a:spcPts val="95"/>
              </a:spcBef>
            </a:pPr>
            <a:r>
              <a:rPr sz="2800" dirty="0">
                <a:latin typeface="Times New Roman" panose="02020603050405020304" pitchFamily="18" charset="0"/>
                <a:cs typeface="Times New Roman" panose="02020603050405020304" pitchFamily="18" charset="0"/>
              </a:rPr>
              <a:t>DFD</a:t>
            </a:r>
            <a:r>
              <a:rPr sz="2800" spc="-5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Diagram</a:t>
            </a:r>
            <a:endParaRPr sz="2800"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6902" y="-6311"/>
            <a:ext cx="7394575" cy="609600"/>
            <a:chOff x="6902" y="-6311"/>
            <a:chExt cx="7394575" cy="609600"/>
          </a:xfrm>
        </p:grpSpPr>
        <p:sp>
          <p:nvSpPr>
            <p:cNvPr id="4" name="object 4"/>
            <p:cNvSpPr/>
            <p:nvPr/>
          </p:nvSpPr>
          <p:spPr>
            <a:xfrm>
              <a:off x="13252"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a:p>
          </p:txBody>
        </p:sp>
        <p:sp>
          <p:nvSpPr>
            <p:cNvPr id="5" name="object 5"/>
            <p:cNvSpPr/>
            <p:nvPr/>
          </p:nvSpPr>
          <p:spPr>
            <a:xfrm>
              <a:off x="13252" y="38"/>
              <a:ext cx="7381875" cy="596900"/>
            </a:xfrm>
            <a:custGeom>
              <a:avLst/>
              <a:gdLst/>
              <a:ahLst/>
              <a:cxnLst/>
              <a:rect l="l" t="t" r="r" b="b"/>
              <a:pathLst>
                <a:path w="7381875" h="596900">
                  <a:moveTo>
                    <a:pt x="0" y="596353"/>
                  </a:moveTo>
                  <a:lnTo>
                    <a:pt x="7381494" y="596353"/>
                  </a:lnTo>
                  <a:lnTo>
                    <a:pt x="7381494" y="0"/>
                  </a:lnTo>
                  <a:lnTo>
                    <a:pt x="0" y="0"/>
                  </a:lnTo>
                  <a:lnTo>
                    <a:pt x="0" y="596353"/>
                  </a:lnTo>
                  <a:close/>
                </a:path>
              </a:pathLst>
            </a:custGeom>
            <a:ln w="12700">
              <a:solidFill>
                <a:srgbClr val="FF0000"/>
              </a:solidFill>
            </a:ln>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Bhujbal</a:t>
            </a:r>
            <a:r>
              <a:rPr spc="-80" dirty="0"/>
              <a:t> </a:t>
            </a:r>
            <a:r>
              <a:rPr spc="-30" dirty="0"/>
              <a:t>Knowledge</a:t>
            </a:r>
            <a:r>
              <a:rPr spc="-114" dirty="0"/>
              <a:t> </a:t>
            </a:r>
            <a:r>
              <a:rPr spc="-20" dirty="0"/>
              <a:t>City</a:t>
            </a:r>
          </a:p>
        </p:txBody>
      </p:sp>
      <p:grpSp>
        <p:nvGrpSpPr>
          <p:cNvPr id="7" name="object 7"/>
          <p:cNvGrpSpPr/>
          <p:nvPr/>
        </p:nvGrpSpPr>
        <p:grpSpPr>
          <a:xfrm>
            <a:off x="93469" y="-6350"/>
            <a:ext cx="12091670" cy="609600"/>
            <a:chOff x="93469" y="-6350"/>
            <a:chExt cx="12091670" cy="609600"/>
          </a:xfrm>
        </p:grpSpPr>
        <p:sp>
          <p:nvSpPr>
            <p:cNvPr id="8" name="object 8"/>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a:p>
          </p:txBody>
        </p:sp>
        <p:sp>
          <p:nvSpPr>
            <p:cNvPr id="9" name="object 9"/>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93469" y="60058"/>
              <a:ext cx="966698" cy="476135"/>
            </a:xfrm>
            <a:prstGeom prst="rect">
              <a:avLst/>
            </a:prstGeom>
          </p:spPr>
        </p:pic>
        <p:sp>
          <p:nvSpPr>
            <p:cNvPr id="11" name="object 11"/>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a:p>
          </p:txBody>
        </p:sp>
        <p:sp>
          <p:nvSpPr>
            <p:cNvPr id="12" name="object 12"/>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a:p>
          </p:txBody>
        </p:sp>
        <p:sp>
          <p:nvSpPr>
            <p:cNvPr id="13" name="object 13"/>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a:p>
          </p:txBody>
        </p:sp>
        <p:sp>
          <p:nvSpPr>
            <p:cNvPr id="14" name="object 14"/>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a:p>
          </p:txBody>
        </p:sp>
      </p:grpSp>
      <p:sp>
        <p:nvSpPr>
          <p:cNvPr id="15" name="object 15"/>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a:latin typeface="Cambria"/>
              <a:cs typeface="Cambria"/>
            </a:endParaRPr>
          </a:p>
        </p:txBody>
      </p:sp>
      <p:sp>
        <p:nvSpPr>
          <p:cNvPr id="61" name="object 61"/>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62" name="object 62"/>
          <p:cNvSpPr txBox="1"/>
          <p:nvPr/>
        </p:nvSpPr>
        <p:spPr>
          <a:xfrm>
            <a:off x="11094211" y="6464680"/>
            <a:ext cx="180975" cy="178435"/>
          </a:xfrm>
          <a:prstGeom prst="rect">
            <a:avLst/>
          </a:prstGeom>
        </p:spPr>
        <p:txBody>
          <a:bodyPr vert="horz" wrap="square" lIns="0" tIns="0" rIns="0" bIns="0" rtlCol="0">
            <a:spAutoFit/>
          </a:bodyPr>
          <a:lstStyle/>
          <a:p>
            <a:pPr marL="12700">
              <a:lnSpc>
                <a:spcPts val="1240"/>
              </a:lnSpc>
            </a:pPr>
            <a:r>
              <a:rPr sz="1200" spc="-25" dirty="0">
                <a:solidFill>
                  <a:srgbClr val="888888"/>
                </a:solidFill>
                <a:latin typeface="Calibri"/>
                <a:cs typeface="Calibri"/>
              </a:rPr>
              <a:t>21</a:t>
            </a:r>
            <a:endParaRPr sz="1200">
              <a:latin typeface="Calibri"/>
              <a:cs typeface="Calibri"/>
            </a:endParaRPr>
          </a:p>
        </p:txBody>
      </p:sp>
      <p:pic>
        <p:nvPicPr>
          <p:cNvPr id="64" name="Picture 63">
            <a:extLst>
              <a:ext uri="{FF2B5EF4-FFF2-40B4-BE49-F238E27FC236}">
                <a16:creationId xmlns:a16="http://schemas.microsoft.com/office/drawing/2014/main" id="{F156203D-2A1E-1494-8709-D59F4B0139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535266"/>
            <a:ext cx="10439400" cy="447115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22614" y="989801"/>
            <a:ext cx="7818780" cy="596348"/>
          </a:xfrm>
        </p:spPr>
        <p:txBody>
          <a:bodyPr>
            <a:normAutofit fontScale="90000"/>
          </a:bodyPr>
          <a:lstStyle/>
          <a:p>
            <a:r>
              <a:rPr lang="en-US" sz="3100" dirty="0">
                <a:solidFill>
                  <a:schemeClr val="tx1"/>
                </a:solidFill>
                <a:latin typeface="Times New Roman" pitchFamily="18" charset="0"/>
                <a:cs typeface="Times New Roman" pitchFamily="18" charset="0"/>
              </a:rPr>
              <a:t>Software Development</a:t>
            </a:r>
            <a:r>
              <a:rPr lang="en-US" sz="3100" dirty="0">
                <a:latin typeface="Times New Roman" pitchFamily="18" charset="0"/>
                <a:cs typeface="Times New Roman" pitchFamily="18" charset="0"/>
              </a:rPr>
              <a:t> </a:t>
            </a:r>
            <a:r>
              <a:rPr lang="en-US" sz="3100" dirty="0">
                <a:solidFill>
                  <a:schemeClr val="tx1"/>
                </a:solidFill>
                <a:latin typeface="Times New Roman" pitchFamily="18" charset="0"/>
                <a:cs typeface="Times New Roman" pitchFamily="18" charset="0"/>
              </a:rPr>
              <a:t>Process Model Used </a:t>
            </a:r>
            <a:r>
              <a:rPr lang="en-US" sz="3100" dirty="0">
                <a:latin typeface="Times New Roman" pitchFamily="18" charset="0"/>
                <a:cs typeface="Times New Roman" pitchFamily="18" charset="0"/>
              </a:rPr>
              <a:t>Process </a:t>
            </a:r>
            <a:r>
              <a:rPr lang="en-US" sz="2800" b="1" dirty="0">
                <a:latin typeface="Times New Roman" pitchFamily="18" charset="0"/>
                <a:cs typeface="Times New Roman" pitchFamily="18" charset="0"/>
              </a:rPr>
              <a:t>model used</a:t>
            </a:r>
          </a:p>
        </p:txBody>
      </p:sp>
      <p:sp>
        <p:nvSpPr>
          <p:cNvPr id="4" name="Rectangle 3">
            <a:extLst>
              <a:ext uri="{FF2B5EF4-FFF2-40B4-BE49-F238E27FC236}">
                <a16:creationId xmlns:a16="http://schemas.microsoft.com/office/drawing/2014/main" id="{951E325C-ACB6-4FD9-9704-F03537BCE14D}"/>
              </a:ext>
            </a:extLst>
          </p:cNvPr>
          <p:cNvSpPr/>
          <p:nvPr/>
        </p:nvSpPr>
        <p:spPr>
          <a:xfrm>
            <a:off x="0" y="0"/>
            <a:ext cx="7381461" cy="59634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Constantia" panose="02030602050306030303" pitchFamily="18" charset="0"/>
                <a:ea typeface="Cambria" panose="02040503050406030204" pitchFamily="18" charset="0"/>
              </a:rPr>
              <a:t>Bhujbal Knowledge City</a:t>
            </a:r>
            <a:endParaRPr lang="en-IN" sz="2800" b="1" dirty="0">
              <a:latin typeface="Constantia" panose="02030602050306030303" pitchFamily="18" charset="0"/>
              <a:ea typeface="Cambria" panose="02040503050406030204" pitchFamily="18" charset="0"/>
            </a:endParaRPr>
          </a:p>
        </p:txBody>
      </p:sp>
      <p:sp>
        <p:nvSpPr>
          <p:cNvPr id="5" name="Right Triangle 4">
            <a:extLst>
              <a:ext uri="{FF2B5EF4-FFF2-40B4-BE49-F238E27FC236}">
                <a16:creationId xmlns:a16="http://schemas.microsoft.com/office/drawing/2014/main" id="{89404FE0-0C97-4973-AC6A-134FA789619A}"/>
              </a:ext>
            </a:extLst>
          </p:cNvPr>
          <p:cNvSpPr/>
          <p:nvPr/>
        </p:nvSpPr>
        <p:spPr>
          <a:xfrm>
            <a:off x="7381461" y="0"/>
            <a:ext cx="980661" cy="596348"/>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a:extLst>
              <a:ext uri="{FF2B5EF4-FFF2-40B4-BE49-F238E27FC236}">
                <a16:creationId xmlns:a16="http://schemas.microsoft.com/office/drawing/2014/main" id="{5F5391B2-5D66-4E06-934B-20A107BF67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69" y="60103"/>
            <a:ext cx="966705" cy="476142"/>
          </a:xfrm>
          <a:prstGeom prst="rect">
            <a:avLst/>
          </a:prstGeom>
        </p:spPr>
      </p:pic>
      <p:sp>
        <p:nvSpPr>
          <p:cNvPr id="10" name="Right Triangle 9">
            <a:extLst>
              <a:ext uri="{FF2B5EF4-FFF2-40B4-BE49-F238E27FC236}">
                <a16:creationId xmlns:a16="http://schemas.microsoft.com/office/drawing/2014/main" id="{DAA8CFFB-AD4D-485C-9CCD-D52AF896BEF2}"/>
              </a:ext>
            </a:extLst>
          </p:cNvPr>
          <p:cNvSpPr/>
          <p:nvPr/>
        </p:nvSpPr>
        <p:spPr>
          <a:xfrm rot="10800000">
            <a:off x="7507357" y="-6624"/>
            <a:ext cx="980661" cy="596348"/>
          </a:xfrm>
          <a:prstGeom prst="r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FE4FE161-B494-4DF2-8CF5-734C79EDFC5C}"/>
              </a:ext>
            </a:extLst>
          </p:cNvPr>
          <p:cNvSpPr/>
          <p:nvPr/>
        </p:nvSpPr>
        <p:spPr>
          <a:xfrm>
            <a:off x="8488018" y="-6624"/>
            <a:ext cx="3690730" cy="596348"/>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mbria" panose="02040503050406030204" pitchFamily="18" charset="0"/>
                <a:ea typeface="Cambria" panose="02040503050406030204" pitchFamily="18" charset="0"/>
              </a:rPr>
              <a:t>Institute of Engineering</a:t>
            </a:r>
            <a:endParaRPr lang="en-IN" sz="2000" b="1" dirty="0">
              <a:solidFill>
                <a:schemeClr val="tx1"/>
              </a:solidFill>
              <a:latin typeface="Cambria" panose="02040503050406030204" pitchFamily="18" charset="0"/>
              <a:ea typeface="Cambria" panose="02040503050406030204" pitchFamily="18" charset="0"/>
            </a:endParaRPr>
          </a:p>
        </p:txBody>
      </p:sp>
      <p:sp>
        <p:nvSpPr>
          <p:cNvPr id="14" name="Title 1">
            <a:extLst>
              <a:ext uri="{FF2B5EF4-FFF2-40B4-BE49-F238E27FC236}">
                <a16:creationId xmlns:a16="http://schemas.microsoft.com/office/drawing/2014/main" id="{70BD8A59-C0C2-4D95-881A-C2404A3069C1}"/>
              </a:ext>
            </a:extLst>
          </p:cNvPr>
          <p:cNvSpPr txBox="1">
            <a:spLocks/>
          </p:cNvSpPr>
          <p:nvPr/>
        </p:nvSpPr>
        <p:spPr>
          <a:xfrm>
            <a:off x="214908" y="2362200"/>
            <a:ext cx="11834192" cy="535513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lnSpc>
                <a:spcPct val="160000"/>
              </a:lnSpc>
            </a:pPr>
            <a:endParaRPr lang="en-IN" sz="2000" kern="50" dirty="0">
              <a:effectLst/>
              <a:latin typeface="Cambria" panose="02040503050406030204" pitchFamily="18" charset="0"/>
              <a:ea typeface="Cambria" panose="02040503050406030204" pitchFamily="18" charset="0"/>
            </a:endParaRPr>
          </a:p>
        </p:txBody>
      </p:sp>
      <p:sp>
        <p:nvSpPr>
          <p:cNvPr id="12" name="Footer Placeholder 11">
            <a:extLst>
              <a:ext uri="{FF2B5EF4-FFF2-40B4-BE49-F238E27FC236}">
                <a16:creationId xmlns:a16="http://schemas.microsoft.com/office/drawing/2014/main" id="{4068982D-6AA5-410B-5ACB-346B17D100A4}"/>
              </a:ext>
            </a:extLst>
          </p:cNvPr>
          <p:cNvSpPr>
            <a:spLocks noGrp="1"/>
          </p:cNvSpPr>
          <p:nvPr>
            <p:ph type="ftr" sz="quarter" idx="11"/>
          </p:nvPr>
        </p:nvSpPr>
        <p:spPr/>
        <p:txBody>
          <a:bodyPr/>
          <a:lstStyle/>
          <a:p>
            <a:r>
              <a:rPr lang="en-US" dirty="0"/>
              <a:t>Department of Artificial Intelligence and Data Science</a:t>
            </a:r>
          </a:p>
        </p:txBody>
      </p:sp>
      <p:sp>
        <p:nvSpPr>
          <p:cNvPr id="13" name="Slide Number Placeholder 12">
            <a:extLst>
              <a:ext uri="{FF2B5EF4-FFF2-40B4-BE49-F238E27FC236}">
                <a16:creationId xmlns:a16="http://schemas.microsoft.com/office/drawing/2014/main" id="{E0D6D11B-28AC-0AE4-9670-634A0A0EAEC4}"/>
              </a:ext>
            </a:extLst>
          </p:cNvPr>
          <p:cNvSpPr>
            <a:spLocks noGrp="1"/>
          </p:cNvSpPr>
          <p:nvPr>
            <p:ph type="sldNum" sz="quarter" idx="12"/>
          </p:nvPr>
        </p:nvSpPr>
        <p:spPr/>
        <p:txBody>
          <a:bodyPr/>
          <a:lstStyle/>
          <a:p>
            <a:fld id="{9B618960-8005-486C-9A75-10CB2AAC16F9}" type="slidenum">
              <a:rPr lang="en-US" smtClean="0"/>
              <a:pPr/>
              <a:t>18</a:t>
            </a:fld>
            <a:endParaRPr lang="en-US" dirty="0"/>
          </a:p>
        </p:txBody>
      </p:sp>
      <p:sp>
        <p:nvSpPr>
          <p:cNvPr id="6" name="TextBox 5">
            <a:extLst>
              <a:ext uri="{FF2B5EF4-FFF2-40B4-BE49-F238E27FC236}">
                <a16:creationId xmlns:a16="http://schemas.microsoft.com/office/drawing/2014/main" id="{E17A3268-BDA9-C213-A3A6-0DB8D7EDD491}"/>
              </a:ext>
            </a:extLst>
          </p:cNvPr>
          <p:cNvSpPr txBox="1"/>
          <p:nvPr/>
        </p:nvSpPr>
        <p:spPr>
          <a:xfrm>
            <a:off x="515380" y="1620562"/>
            <a:ext cx="11161240" cy="1323439"/>
          </a:xfrm>
          <a:prstGeom prst="rect">
            <a:avLst/>
          </a:prstGeom>
          <a:noFill/>
        </p:spPr>
        <p:txBody>
          <a:bodyPr wrap="square">
            <a:spAutoFit/>
          </a:bodyPr>
          <a:lstStyle/>
          <a:p>
            <a:pPr>
              <a:buNone/>
            </a:pPr>
            <a:r>
              <a:rPr lang="en-IN" sz="2000" dirty="0">
                <a:latin typeface="Times New Roman" panose="02020603050405020304" pitchFamily="18" charset="0"/>
                <a:cs typeface="Times New Roman" panose="02020603050405020304" pitchFamily="18" charset="0"/>
              </a:rPr>
              <a:t>Process Model Used: </a:t>
            </a:r>
            <a:r>
              <a:rPr lang="en-US" sz="2000" b="1" dirty="0">
                <a:latin typeface="Times New Roman" panose="02020603050405020304" pitchFamily="18" charset="0"/>
                <a:cs typeface="Times New Roman" panose="02020603050405020304" pitchFamily="18" charset="0"/>
              </a:rPr>
              <a:t>Incremental Development Model</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Reason for Selection:</a:t>
            </a:r>
          </a:p>
          <a:p>
            <a:pPr>
              <a:buNone/>
            </a:pPr>
            <a:endParaRPr lang="en-US" sz="20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9BF2709D-5CB2-C140-9454-7A203574E6E4}"/>
              </a:ext>
            </a:extLst>
          </p:cNvPr>
          <p:cNvSpPr>
            <a:spLocks noChangeArrowheads="1"/>
          </p:cNvSpPr>
          <p:nvPr/>
        </p:nvSpPr>
        <p:spPr bwMode="auto">
          <a:xfrm>
            <a:off x="566188" y="2597566"/>
            <a:ext cx="8334333" cy="2120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is developed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module by module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(sensors, fault detection, cloud, dashboard)</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module is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designed, implemented, and tested separately</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to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 new features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like predictive maintenance later</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Suitable for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 + real-time systems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risk and allows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early working prototype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8985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1EB88-88EF-802E-D66C-356E25105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DCB92-BE15-12D5-3EAC-556D4D75FB4C}"/>
              </a:ext>
            </a:extLst>
          </p:cNvPr>
          <p:cNvSpPr>
            <a:spLocks noGrp="1"/>
          </p:cNvSpPr>
          <p:nvPr>
            <p:ph type="ctrTitle"/>
          </p:nvPr>
        </p:nvSpPr>
        <p:spPr>
          <a:xfrm>
            <a:off x="2186610" y="505483"/>
            <a:ext cx="7818780" cy="596348"/>
          </a:xfrm>
        </p:spPr>
        <p:txBody>
          <a:bodyPr>
            <a:normAutofit/>
          </a:bodyPr>
          <a:lstStyle/>
          <a:p>
            <a:r>
              <a:rPr lang="en-US" sz="3100" dirty="0">
                <a:solidFill>
                  <a:schemeClr val="tx1"/>
                </a:solidFill>
                <a:latin typeface="Times New Roman" pitchFamily="18" charset="0"/>
                <a:cs typeface="Times New Roman" pitchFamily="18" charset="0"/>
              </a:rPr>
              <a:t> </a:t>
            </a:r>
            <a:r>
              <a:rPr lang="en-US" sz="2400" dirty="0">
                <a:solidFill>
                  <a:schemeClr val="tx1"/>
                </a:solidFill>
                <a:latin typeface="Times New Roman" pitchFamily="18" charset="0"/>
                <a:cs typeface="Times New Roman" pitchFamily="18" charset="0"/>
              </a:rPr>
              <a:t>State Transition Diagram </a:t>
            </a:r>
            <a:r>
              <a:rPr lang="en-US" sz="2800" b="1" dirty="0">
                <a:latin typeface="Times New Roman" pitchFamily="18" charset="0"/>
                <a:cs typeface="Times New Roman" pitchFamily="18" charset="0"/>
              </a:rPr>
              <a:t>used</a:t>
            </a:r>
          </a:p>
        </p:txBody>
      </p:sp>
      <p:sp>
        <p:nvSpPr>
          <p:cNvPr id="4" name="Rectangle 3">
            <a:extLst>
              <a:ext uri="{FF2B5EF4-FFF2-40B4-BE49-F238E27FC236}">
                <a16:creationId xmlns:a16="http://schemas.microsoft.com/office/drawing/2014/main" id="{02A15AEE-F11A-38AD-082E-58F0EB22CDDF}"/>
              </a:ext>
            </a:extLst>
          </p:cNvPr>
          <p:cNvSpPr/>
          <p:nvPr/>
        </p:nvSpPr>
        <p:spPr>
          <a:xfrm>
            <a:off x="0" y="0"/>
            <a:ext cx="7381461" cy="59634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Constantia" panose="02030602050306030303" pitchFamily="18" charset="0"/>
                <a:ea typeface="Cambria" panose="02040503050406030204" pitchFamily="18" charset="0"/>
              </a:rPr>
              <a:t>Bhujbal Knowledge City</a:t>
            </a:r>
            <a:endParaRPr lang="en-IN" sz="2800" b="1" dirty="0">
              <a:latin typeface="Constantia" panose="02030602050306030303" pitchFamily="18" charset="0"/>
              <a:ea typeface="Cambria" panose="02040503050406030204" pitchFamily="18" charset="0"/>
            </a:endParaRPr>
          </a:p>
        </p:txBody>
      </p:sp>
      <p:sp>
        <p:nvSpPr>
          <p:cNvPr id="5" name="Right Triangle 4">
            <a:extLst>
              <a:ext uri="{FF2B5EF4-FFF2-40B4-BE49-F238E27FC236}">
                <a16:creationId xmlns:a16="http://schemas.microsoft.com/office/drawing/2014/main" id="{96D4D491-7E41-D177-0556-C095E0445024}"/>
              </a:ext>
            </a:extLst>
          </p:cNvPr>
          <p:cNvSpPr/>
          <p:nvPr/>
        </p:nvSpPr>
        <p:spPr>
          <a:xfrm>
            <a:off x="7381461" y="0"/>
            <a:ext cx="980661" cy="596348"/>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a:extLst>
              <a:ext uri="{FF2B5EF4-FFF2-40B4-BE49-F238E27FC236}">
                <a16:creationId xmlns:a16="http://schemas.microsoft.com/office/drawing/2014/main" id="{8BE0CF59-7150-EA38-5EDE-B68CD64699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69" y="60103"/>
            <a:ext cx="966705" cy="476142"/>
          </a:xfrm>
          <a:prstGeom prst="rect">
            <a:avLst/>
          </a:prstGeom>
        </p:spPr>
      </p:pic>
      <p:sp>
        <p:nvSpPr>
          <p:cNvPr id="10" name="Right Triangle 9">
            <a:extLst>
              <a:ext uri="{FF2B5EF4-FFF2-40B4-BE49-F238E27FC236}">
                <a16:creationId xmlns:a16="http://schemas.microsoft.com/office/drawing/2014/main" id="{A33437B4-D9B4-C6F3-1EDF-8BA430AAAC4A}"/>
              </a:ext>
            </a:extLst>
          </p:cNvPr>
          <p:cNvSpPr/>
          <p:nvPr/>
        </p:nvSpPr>
        <p:spPr>
          <a:xfrm rot="10800000">
            <a:off x="7507357" y="-6624"/>
            <a:ext cx="980661" cy="596348"/>
          </a:xfrm>
          <a:prstGeom prst="r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F1F6C559-D86B-E87B-5C39-7B4FA99E8714}"/>
              </a:ext>
            </a:extLst>
          </p:cNvPr>
          <p:cNvSpPr/>
          <p:nvPr/>
        </p:nvSpPr>
        <p:spPr>
          <a:xfrm>
            <a:off x="8488018" y="-6624"/>
            <a:ext cx="3690730" cy="596348"/>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mbria" panose="02040503050406030204" pitchFamily="18" charset="0"/>
                <a:ea typeface="Cambria" panose="02040503050406030204" pitchFamily="18" charset="0"/>
              </a:rPr>
              <a:t>Institute of Engineering</a:t>
            </a:r>
            <a:endParaRPr lang="en-IN" sz="2000" b="1" dirty="0">
              <a:solidFill>
                <a:schemeClr val="tx1"/>
              </a:solidFill>
              <a:latin typeface="Cambria" panose="02040503050406030204" pitchFamily="18" charset="0"/>
              <a:ea typeface="Cambria" panose="02040503050406030204" pitchFamily="18" charset="0"/>
            </a:endParaRPr>
          </a:p>
        </p:txBody>
      </p:sp>
      <p:sp>
        <p:nvSpPr>
          <p:cNvPr id="14" name="Title 1">
            <a:extLst>
              <a:ext uri="{FF2B5EF4-FFF2-40B4-BE49-F238E27FC236}">
                <a16:creationId xmlns:a16="http://schemas.microsoft.com/office/drawing/2014/main" id="{5F3FB7F2-9352-DEB1-A658-188629474962}"/>
              </a:ext>
            </a:extLst>
          </p:cNvPr>
          <p:cNvSpPr txBox="1">
            <a:spLocks/>
          </p:cNvSpPr>
          <p:nvPr/>
        </p:nvSpPr>
        <p:spPr>
          <a:xfrm>
            <a:off x="214908" y="2362200"/>
            <a:ext cx="11834192" cy="535513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lnSpc>
                <a:spcPct val="160000"/>
              </a:lnSpc>
            </a:pPr>
            <a:endParaRPr lang="en-IN" sz="2000" kern="50" dirty="0">
              <a:effectLst/>
              <a:latin typeface="Cambria" panose="02040503050406030204" pitchFamily="18" charset="0"/>
              <a:ea typeface="Cambria" panose="02040503050406030204" pitchFamily="18" charset="0"/>
            </a:endParaRPr>
          </a:p>
        </p:txBody>
      </p:sp>
      <p:sp>
        <p:nvSpPr>
          <p:cNvPr id="12" name="Footer Placeholder 11">
            <a:extLst>
              <a:ext uri="{FF2B5EF4-FFF2-40B4-BE49-F238E27FC236}">
                <a16:creationId xmlns:a16="http://schemas.microsoft.com/office/drawing/2014/main" id="{F3F5DF17-45FA-D60F-78A0-619AC9B489D3}"/>
              </a:ext>
            </a:extLst>
          </p:cNvPr>
          <p:cNvSpPr>
            <a:spLocks noGrp="1"/>
          </p:cNvSpPr>
          <p:nvPr>
            <p:ph type="ftr" sz="quarter" idx="11"/>
          </p:nvPr>
        </p:nvSpPr>
        <p:spPr/>
        <p:txBody>
          <a:bodyPr/>
          <a:lstStyle/>
          <a:p>
            <a:r>
              <a:rPr lang="en-US" dirty="0"/>
              <a:t>Department of Artificial Intelligence and Data Science</a:t>
            </a:r>
          </a:p>
        </p:txBody>
      </p:sp>
      <p:sp>
        <p:nvSpPr>
          <p:cNvPr id="13" name="Slide Number Placeholder 12">
            <a:extLst>
              <a:ext uri="{FF2B5EF4-FFF2-40B4-BE49-F238E27FC236}">
                <a16:creationId xmlns:a16="http://schemas.microsoft.com/office/drawing/2014/main" id="{31357830-7BF9-B750-F725-1CC7E2B45A04}"/>
              </a:ext>
            </a:extLst>
          </p:cNvPr>
          <p:cNvSpPr>
            <a:spLocks noGrp="1"/>
          </p:cNvSpPr>
          <p:nvPr>
            <p:ph type="sldNum" sz="quarter" idx="12"/>
          </p:nvPr>
        </p:nvSpPr>
        <p:spPr/>
        <p:txBody>
          <a:bodyPr/>
          <a:lstStyle/>
          <a:p>
            <a:fld id="{9B618960-8005-486C-9A75-10CB2AAC16F9}" type="slidenum">
              <a:rPr lang="en-US" smtClean="0"/>
              <a:pPr/>
              <a:t>19</a:t>
            </a:fld>
            <a:endParaRPr lang="en-US" dirty="0"/>
          </a:p>
        </p:txBody>
      </p:sp>
      <p:pic>
        <p:nvPicPr>
          <p:cNvPr id="9" name="Picture 8">
            <a:extLst>
              <a:ext uri="{FF2B5EF4-FFF2-40B4-BE49-F238E27FC236}">
                <a16:creationId xmlns:a16="http://schemas.microsoft.com/office/drawing/2014/main" id="{F53EE467-7FEA-1522-8C42-2D41894027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1108454"/>
            <a:ext cx="7338390" cy="5355139"/>
          </a:xfrm>
          <a:prstGeom prst="rect">
            <a:avLst/>
          </a:prstGeom>
        </p:spPr>
      </p:pic>
    </p:spTree>
    <p:extLst>
      <p:ext uri="{BB962C8B-B14F-4D97-AF65-F5344CB8AC3E}">
        <p14:creationId xmlns:p14="http://schemas.microsoft.com/office/powerpoint/2010/main" val="1738524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F02BA-21D0-DEBC-43BE-071D57FC40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D12D5A-B2B2-C64F-3365-B22329F571B4}"/>
              </a:ext>
            </a:extLst>
          </p:cNvPr>
          <p:cNvSpPr>
            <a:spLocks noGrp="1"/>
          </p:cNvSpPr>
          <p:nvPr>
            <p:ph type="ctrTitle"/>
          </p:nvPr>
        </p:nvSpPr>
        <p:spPr>
          <a:xfrm>
            <a:off x="2186610" y="505483"/>
            <a:ext cx="7818780" cy="596348"/>
          </a:xfrm>
        </p:spPr>
        <p:txBody>
          <a:bodyPr>
            <a:normAutofit/>
          </a:bodyPr>
          <a:lstStyle/>
          <a:p>
            <a:r>
              <a:rPr lang="en-US" sz="3100" dirty="0">
                <a:solidFill>
                  <a:schemeClr val="tx1"/>
                </a:solidFill>
                <a:latin typeface="Times New Roman" pitchFamily="18" charset="0"/>
                <a:cs typeface="Times New Roman" pitchFamily="18" charset="0"/>
              </a:rPr>
              <a:t> </a:t>
            </a:r>
            <a:r>
              <a:rPr lang="en-US" sz="2400" dirty="0">
                <a:solidFill>
                  <a:schemeClr val="tx1"/>
                </a:solidFill>
                <a:latin typeface="Times New Roman" pitchFamily="18" charset="0"/>
                <a:cs typeface="Times New Roman" pitchFamily="18" charset="0"/>
              </a:rPr>
              <a:t>State Transition Diagram </a:t>
            </a:r>
            <a:r>
              <a:rPr lang="en-US" sz="2800" b="1" dirty="0">
                <a:latin typeface="Times New Roman" pitchFamily="18" charset="0"/>
                <a:cs typeface="Times New Roman" pitchFamily="18" charset="0"/>
              </a:rPr>
              <a:t>used</a:t>
            </a:r>
          </a:p>
        </p:txBody>
      </p:sp>
      <p:sp>
        <p:nvSpPr>
          <p:cNvPr id="4" name="Rectangle 3">
            <a:extLst>
              <a:ext uri="{FF2B5EF4-FFF2-40B4-BE49-F238E27FC236}">
                <a16:creationId xmlns:a16="http://schemas.microsoft.com/office/drawing/2014/main" id="{8B92AAC2-7E24-AD2C-5707-7DDB8384D55F}"/>
              </a:ext>
            </a:extLst>
          </p:cNvPr>
          <p:cNvSpPr/>
          <p:nvPr/>
        </p:nvSpPr>
        <p:spPr>
          <a:xfrm>
            <a:off x="0" y="0"/>
            <a:ext cx="7381461" cy="59634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Constantia" panose="02030602050306030303" pitchFamily="18" charset="0"/>
                <a:ea typeface="Cambria" panose="02040503050406030204" pitchFamily="18" charset="0"/>
              </a:rPr>
              <a:t>Bhujbal Knowledge City</a:t>
            </a:r>
            <a:endParaRPr lang="en-IN" sz="2800" b="1" dirty="0">
              <a:latin typeface="Constantia" panose="02030602050306030303" pitchFamily="18" charset="0"/>
              <a:ea typeface="Cambria" panose="02040503050406030204" pitchFamily="18" charset="0"/>
            </a:endParaRPr>
          </a:p>
        </p:txBody>
      </p:sp>
      <p:sp>
        <p:nvSpPr>
          <p:cNvPr id="5" name="Right Triangle 4">
            <a:extLst>
              <a:ext uri="{FF2B5EF4-FFF2-40B4-BE49-F238E27FC236}">
                <a16:creationId xmlns:a16="http://schemas.microsoft.com/office/drawing/2014/main" id="{96CA0432-A7BA-0423-D4C3-C683D89517AC}"/>
              </a:ext>
            </a:extLst>
          </p:cNvPr>
          <p:cNvSpPr/>
          <p:nvPr/>
        </p:nvSpPr>
        <p:spPr>
          <a:xfrm>
            <a:off x="7381461" y="0"/>
            <a:ext cx="980661" cy="596348"/>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a:extLst>
              <a:ext uri="{FF2B5EF4-FFF2-40B4-BE49-F238E27FC236}">
                <a16:creationId xmlns:a16="http://schemas.microsoft.com/office/drawing/2014/main" id="{9E2C1C23-30E7-920D-5ADD-EAC8C29C01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69" y="60103"/>
            <a:ext cx="966705" cy="476142"/>
          </a:xfrm>
          <a:prstGeom prst="rect">
            <a:avLst/>
          </a:prstGeom>
        </p:spPr>
      </p:pic>
      <p:sp>
        <p:nvSpPr>
          <p:cNvPr id="10" name="Right Triangle 9">
            <a:extLst>
              <a:ext uri="{FF2B5EF4-FFF2-40B4-BE49-F238E27FC236}">
                <a16:creationId xmlns:a16="http://schemas.microsoft.com/office/drawing/2014/main" id="{FA85C0CF-EA9A-FA3F-14C1-D01D0B6EFFDE}"/>
              </a:ext>
            </a:extLst>
          </p:cNvPr>
          <p:cNvSpPr/>
          <p:nvPr/>
        </p:nvSpPr>
        <p:spPr>
          <a:xfrm rot="10800000">
            <a:off x="7507357" y="-6624"/>
            <a:ext cx="980661" cy="596348"/>
          </a:xfrm>
          <a:prstGeom prst="r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AEEE9951-219D-2ACD-54A5-5A9BF2ABBA64}"/>
              </a:ext>
            </a:extLst>
          </p:cNvPr>
          <p:cNvSpPr/>
          <p:nvPr/>
        </p:nvSpPr>
        <p:spPr>
          <a:xfrm>
            <a:off x="8488018" y="-6624"/>
            <a:ext cx="3690730" cy="596348"/>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mbria" panose="02040503050406030204" pitchFamily="18" charset="0"/>
                <a:ea typeface="Cambria" panose="02040503050406030204" pitchFamily="18" charset="0"/>
              </a:rPr>
              <a:t>Institute of Engineering</a:t>
            </a:r>
            <a:endParaRPr lang="en-IN" sz="2000" b="1" dirty="0">
              <a:solidFill>
                <a:schemeClr val="tx1"/>
              </a:solidFill>
              <a:latin typeface="Cambria" panose="02040503050406030204" pitchFamily="18" charset="0"/>
              <a:ea typeface="Cambria" panose="02040503050406030204" pitchFamily="18" charset="0"/>
            </a:endParaRPr>
          </a:p>
        </p:txBody>
      </p:sp>
      <p:sp>
        <p:nvSpPr>
          <p:cNvPr id="14" name="Title 1">
            <a:extLst>
              <a:ext uri="{FF2B5EF4-FFF2-40B4-BE49-F238E27FC236}">
                <a16:creationId xmlns:a16="http://schemas.microsoft.com/office/drawing/2014/main" id="{B5B2C811-47B4-B34D-6287-BAFCA0294257}"/>
              </a:ext>
            </a:extLst>
          </p:cNvPr>
          <p:cNvSpPr txBox="1">
            <a:spLocks/>
          </p:cNvSpPr>
          <p:nvPr/>
        </p:nvSpPr>
        <p:spPr>
          <a:xfrm>
            <a:off x="214908" y="2362200"/>
            <a:ext cx="11834192" cy="535513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lnSpc>
                <a:spcPct val="160000"/>
              </a:lnSpc>
            </a:pPr>
            <a:endParaRPr lang="en-IN" sz="2000" kern="50" dirty="0">
              <a:effectLst/>
              <a:latin typeface="Cambria" panose="02040503050406030204" pitchFamily="18" charset="0"/>
              <a:ea typeface="Cambria" panose="02040503050406030204" pitchFamily="18" charset="0"/>
            </a:endParaRPr>
          </a:p>
        </p:txBody>
      </p:sp>
      <p:sp>
        <p:nvSpPr>
          <p:cNvPr id="12" name="Footer Placeholder 11">
            <a:extLst>
              <a:ext uri="{FF2B5EF4-FFF2-40B4-BE49-F238E27FC236}">
                <a16:creationId xmlns:a16="http://schemas.microsoft.com/office/drawing/2014/main" id="{CB2F301F-7E8A-601A-A212-4DD20EAEDA10}"/>
              </a:ext>
            </a:extLst>
          </p:cNvPr>
          <p:cNvSpPr>
            <a:spLocks noGrp="1"/>
          </p:cNvSpPr>
          <p:nvPr>
            <p:ph type="ftr" sz="quarter" idx="11"/>
          </p:nvPr>
        </p:nvSpPr>
        <p:spPr/>
        <p:txBody>
          <a:bodyPr/>
          <a:lstStyle/>
          <a:p>
            <a:r>
              <a:rPr lang="en-US" dirty="0"/>
              <a:t>Department of Artificial Intelligence and Data Science</a:t>
            </a:r>
          </a:p>
        </p:txBody>
      </p:sp>
      <p:sp>
        <p:nvSpPr>
          <p:cNvPr id="13" name="Slide Number Placeholder 12">
            <a:extLst>
              <a:ext uri="{FF2B5EF4-FFF2-40B4-BE49-F238E27FC236}">
                <a16:creationId xmlns:a16="http://schemas.microsoft.com/office/drawing/2014/main" id="{FCEB08BF-8A52-7C61-BCB0-B876DCDB084F}"/>
              </a:ext>
            </a:extLst>
          </p:cNvPr>
          <p:cNvSpPr>
            <a:spLocks noGrp="1"/>
          </p:cNvSpPr>
          <p:nvPr>
            <p:ph type="sldNum" sz="quarter" idx="12"/>
          </p:nvPr>
        </p:nvSpPr>
        <p:spPr/>
        <p:txBody>
          <a:bodyPr/>
          <a:lstStyle/>
          <a:p>
            <a:fld id="{9B618960-8005-486C-9A75-10CB2AAC16F9}" type="slidenum">
              <a:rPr lang="en-US" smtClean="0"/>
              <a:pPr/>
              <a:t>20</a:t>
            </a:fld>
            <a:endParaRPr lang="en-US" dirty="0"/>
          </a:p>
        </p:txBody>
      </p:sp>
      <p:pic>
        <p:nvPicPr>
          <p:cNvPr id="8" name="Picture 7">
            <a:extLst>
              <a:ext uri="{FF2B5EF4-FFF2-40B4-BE49-F238E27FC236}">
                <a16:creationId xmlns:a16="http://schemas.microsoft.com/office/drawing/2014/main" id="{F0876C45-0A36-D48E-E0E2-C1B0F5E908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5600" y="1108455"/>
            <a:ext cx="6553200" cy="5358853"/>
          </a:xfrm>
          <a:prstGeom prst="rect">
            <a:avLst/>
          </a:prstGeom>
        </p:spPr>
      </p:pic>
    </p:spTree>
    <p:extLst>
      <p:ext uri="{BB962C8B-B14F-4D97-AF65-F5344CB8AC3E}">
        <p14:creationId xmlns:p14="http://schemas.microsoft.com/office/powerpoint/2010/main" val="2161004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21802" y="512296"/>
            <a:ext cx="6781816" cy="596348"/>
          </a:xfrm>
        </p:spPr>
        <p:txBody>
          <a:bodyPr>
            <a:normAutofit/>
          </a:bodyPr>
          <a:lstStyle/>
          <a:p>
            <a:pPr algn="just"/>
            <a:r>
              <a:rPr lang="en-US" sz="2800" b="1" dirty="0">
                <a:solidFill>
                  <a:schemeClr val="tx1"/>
                </a:solidFill>
                <a:latin typeface="Times New Roman" pitchFamily="18" charset="0"/>
                <a:cs typeface="Times New Roman" pitchFamily="18" charset="0"/>
              </a:rPr>
              <a:t>Project</a:t>
            </a:r>
            <a:r>
              <a:rPr lang="en-US" sz="2800" dirty="0">
                <a:solidFill>
                  <a:schemeClr val="tx1"/>
                </a:solidFill>
                <a:latin typeface="Times New Roman" pitchFamily="18" charset="0"/>
                <a:cs typeface="Times New Roman" pitchFamily="18" charset="0"/>
              </a:rPr>
              <a:t> Modules Design</a:t>
            </a:r>
            <a:r>
              <a:rPr lang="en-US" sz="2800" b="1" dirty="0">
                <a:latin typeface="Times New Roman" pitchFamily="18" charset="0"/>
                <a:cs typeface="Times New Roman" pitchFamily="18" charset="0"/>
              </a:rPr>
              <a:t>Modules Design</a:t>
            </a:r>
          </a:p>
        </p:txBody>
      </p:sp>
      <p:sp>
        <p:nvSpPr>
          <p:cNvPr id="4" name="Rectangle 3">
            <a:extLst>
              <a:ext uri="{FF2B5EF4-FFF2-40B4-BE49-F238E27FC236}">
                <a16:creationId xmlns:a16="http://schemas.microsoft.com/office/drawing/2014/main" id="{951E325C-ACB6-4FD9-9704-F03537BCE14D}"/>
              </a:ext>
            </a:extLst>
          </p:cNvPr>
          <p:cNvSpPr/>
          <p:nvPr/>
        </p:nvSpPr>
        <p:spPr>
          <a:xfrm>
            <a:off x="0" y="0"/>
            <a:ext cx="7381461" cy="59634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Constantia" panose="02030602050306030303" pitchFamily="18" charset="0"/>
                <a:ea typeface="Cambria" panose="02040503050406030204" pitchFamily="18" charset="0"/>
              </a:rPr>
              <a:t>Bhujbal Knowledge City</a:t>
            </a:r>
            <a:endParaRPr lang="en-IN" sz="2800" b="1" dirty="0">
              <a:latin typeface="Constantia" panose="02030602050306030303" pitchFamily="18" charset="0"/>
              <a:ea typeface="Cambria" panose="02040503050406030204" pitchFamily="18" charset="0"/>
            </a:endParaRPr>
          </a:p>
        </p:txBody>
      </p:sp>
      <p:sp>
        <p:nvSpPr>
          <p:cNvPr id="5" name="Right Triangle 4">
            <a:extLst>
              <a:ext uri="{FF2B5EF4-FFF2-40B4-BE49-F238E27FC236}">
                <a16:creationId xmlns:a16="http://schemas.microsoft.com/office/drawing/2014/main" id="{89404FE0-0C97-4973-AC6A-134FA789619A}"/>
              </a:ext>
            </a:extLst>
          </p:cNvPr>
          <p:cNvSpPr/>
          <p:nvPr/>
        </p:nvSpPr>
        <p:spPr>
          <a:xfrm>
            <a:off x="7381461" y="0"/>
            <a:ext cx="980661" cy="596348"/>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a:extLst>
              <a:ext uri="{FF2B5EF4-FFF2-40B4-BE49-F238E27FC236}">
                <a16:creationId xmlns:a16="http://schemas.microsoft.com/office/drawing/2014/main" id="{5F5391B2-5D66-4E06-934B-20A107BF67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69" y="60103"/>
            <a:ext cx="966705" cy="476142"/>
          </a:xfrm>
          <a:prstGeom prst="rect">
            <a:avLst/>
          </a:prstGeom>
        </p:spPr>
      </p:pic>
      <p:sp>
        <p:nvSpPr>
          <p:cNvPr id="10" name="Right Triangle 9">
            <a:extLst>
              <a:ext uri="{FF2B5EF4-FFF2-40B4-BE49-F238E27FC236}">
                <a16:creationId xmlns:a16="http://schemas.microsoft.com/office/drawing/2014/main" id="{DAA8CFFB-AD4D-485C-9CCD-D52AF896BEF2}"/>
              </a:ext>
            </a:extLst>
          </p:cNvPr>
          <p:cNvSpPr/>
          <p:nvPr/>
        </p:nvSpPr>
        <p:spPr>
          <a:xfrm rot="10800000">
            <a:off x="7507357" y="-6624"/>
            <a:ext cx="980661" cy="596348"/>
          </a:xfrm>
          <a:prstGeom prst="r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FE4FE161-B494-4DF2-8CF5-734C79EDFC5C}"/>
              </a:ext>
            </a:extLst>
          </p:cNvPr>
          <p:cNvSpPr/>
          <p:nvPr/>
        </p:nvSpPr>
        <p:spPr>
          <a:xfrm>
            <a:off x="8488018" y="-6624"/>
            <a:ext cx="3690730" cy="596348"/>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mbria" panose="02040503050406030204" pitchFamily="18" charset="0"/>
                <a:ea typeface="Cambria" panose="02040503050406030204" pitchFamily="18" charset="0"/>
              </a:rPr>
              <a:t>Institute of Engineering</a:t>
            </a:r>
            <a:endParaRPr lang="en-IN" sz="2000" b="1" dirty="0">
              <a:solidFill>
                <a:schemeClr val="tx1"/>
              </a:solidFill>
              <a:latin typeface="Cambria" panose="02040503050406030204" pitchFamily="18" charset="0"/>
              <a:ea typeface="Cambria" panose="02040503050406030204" pitchFamily="18" charset="0"/>
            </a:endParaRPr>
          </a:p>
        </p:txBody>
      </p:sp>
      <p:sp>
        <p:nvSpPr>
          <p:cNvPr id="14" name="Title 1">
            <a:extLst>
              <a:ext uri="{FF2B5EF4-FFF2-40B4-BE49-F238E27FC236}">
                <a16:creationId xmlns:a16="http://schemas.microsoft.com/office/drawing/2014/main" id="{70BD8A59-C0C2-4D95-881A-C2404A3069C1}"/>
              </a:ext>
            </a:extLst>
          </p:cNvPr>
          <p:cNvSpPr txBox="1">
            <a:spLocks/>
          </p:cNvSpPr>
          <p:nvPr/>
        </p:nvSpPr>
        <p:spPr>
          <a:xfrm>
            <a:off x="198782" y="1323956"/>
            <a:ext cx="11834192" cy="535513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lnSpc>
                <a:spcPct val="160000"/>
              </a:lnSpc>
            </a:pPr>
            <a:endParaRPr lang="en-IN" sz="2000" kern="50" dirty="0">
              <a:effectLst/>
              <a:latin typeface="Cambria" panose="02040503050406030204" pitchFamily="18" charset="0"/>
              <a:ea typeface="Cambria" panose="02040503050406030204" pitchFamily="18" charset="0"/>
            </a:endParaRPr>
          </a:p>
        </p:txBody>
      </p:sp>
      <p:sp>
        <p:nvSpPr>
          <p:cNvPr id="12" name="Footer Placeholder 11">
            <a:extLst>
              <a:ext uri="{FF2B5EF4-FFF2-40B4-BE49-F238E27FC236}">
                <a16:creationId xmlns:a16="http://schemas.microsoft.com/office/drawing/2014/main" id="{8C055FF2-4623-986E-DB13-81308A4C9A71}"/>
              </a:ext>
            </a:extLst>
          </p:cNvPr>
          <p:cNvSpPr>
            <a:spLocks noGrp="1"/>
          </p:cNvSpPr>
          <p:nvPr>
            <p:ph type="ftr" sz="quarter" idx="11"/>
          </p:nvPr>
        </p:nvSpPr>
        <p:spPr>
          <a:xfrm>
            <a:off x="4724218" y="6659979"/>
            <a:ext cx="3822065" cy="178434"/>
          </a:xfrm>
        </p:spPr>
        <p:txBody>
          <a:bodyPr/>
          <a:lstStyle/>
          <a:p>
            <a:r>
              <a:rPr lang="en-US" dirty="0"/>
              <a:t>Department of Artificial Intelligence and Data Science</a:t>
            </a:r>
          </a:p>
        </p:txBody>
      </p:sp>
      <p:sp>
        <p:nvSpPr>
          <p:cNvPr id="13" name="Slide Number Placeholder 12">
            <a:extLst>
              <a:ext uri="{FF2B5EF4-FFF2-40B4-BE49-F238E27FC236}">
                <a16:creationId xmlns:a16="http://schemas.microsoft.com/office/drawing/2014/main" id="{A6597F81-7DED-0875-81B7-754EE2F57A0A}"/>
              </a:ext>
            </a:extLst>
          </p:cNvPr>
          <p:cNvSpPr>
            <a:spLocks noGrp="1"/>
          </p:cNvSpPr>
          <p:nvPr>
            <p:ph type="sldNum" sz="quarter" idx="12"/>
          </p:nvPr>
        </p:nvSpPr>
        <p:spPr/>
        <p:txBody>
          <a:bodyPr/>
          <a:lstStyle/>
          <a:p>
            <a:fld id="{9B618960-8005-486C-9A75-10CB2AAC16F9}" type="slidenum">
              <a:rPr lang="en-US" smtClean="0"/>
              <a:pPr/>
              <a:t>21</a:t>
            </a:fld>
            <a:endParaRPr lang="en-US" dirty="0"/>
          </a:p>
        </p:txBody>
      </p:sp>
      <p:sp>
        <p:nvSpPr>
          <p:cNvPr id="6" name="TextBox 5">
            <a:extLst>
              <a:ext uri="{FF2B5EF4-FFF2-40B4-BE49-F238E27FC236}">
                <a16:creationId xmlns:a16="http://schemas.microsoft.com/office/drawing/2014/main" id="{AFEC7201-DF4B-3C74-3287-817CC689B6B5}"/>
              </a:ext>
            </a:extLst>
          </p:cNvPr>
          <p:cNvSpPr txBox="1"/>
          <p:nvPr/>
        </p:nvSpPr>
        <p:spPr>
          <a:xfrm>
            <a:off x="304800" y="1066800"/>
            <a:ext cx="5370174" cy="5693866"/>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Frontend (Streamlit Interface)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Admin login interface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Centralized monitoring dashboard</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Total lights, lights ON, faulty lights, system status display</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Individual street light status cards (ON/OFF, motion detection)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Day/Night mode indicator</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Public login interface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Public services panel (Contact, Support, Raise Complaint, Logout)</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Real-time status updates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Responsive and user-friendly dark theme UI</a:t>
            </a: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64AD051-7747-B187-BBC1-6C8A28E8E2F3}"/>
              </a:ext>
            </a:extLst>
          </p:cNvPr>
          <p:cNvPicPr>
            <a:picLocks noChangeAspect="1"/>
          </p:cNvPicPr>
          <p:nvPr/>
        </p:nvPicPr>
        <p:blipFill>
          <a:blip r:embed="rId3"/>
          <a:stretch>
            <a:fillRect/>
          </a:stretch>
        </p:blipFill>
        <p:spPr>
          <a:xfrm>
            <a:off x="5648923" y="2133600"/>
            <a:ext cx="6509381" cy="3276600"/>
          </a:xfrm>
          <a:prstGeom prst="rect">
            <a:avLst/>
          </a:prstGeom>
        </p:spPr>
      </p:pic>
    </p:spTree>
    <p:extLst>
      <p:ext uri="{BB962C8B-B14F-4D97-AF65-F5344CB8AC3E}">
        <p14:creationId xmlns:p14="http://schemas.microsoft.com/office/powerpoint/2010/main" val="3016492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27AE6F-59D8-E147-7EA7-F1F567070B66}"/>
              </a:ext>
            </a:extLst>
          </p:cNvP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lvl="0">
              <a:defRPr lang="en-US"/>
            </a:defPPr>
            <a:lvl1pPr marL="0" lvl="0" algn="ctr" defTabSz="914400" rtl="0" eaLnBrk="1" latinLnBrk="0" hangingPunct="1">
              <a:defRPr sz="1200" kern="1200">
                <a:solidFill>
                  <a:schemeClr val="tx1">
                    <a:tint val="75000"/>
                  </a:schemeClr>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r>
              <a:rPr lang="en-US" dirty="0"/>
              <a:t>Department of Artificial Intelligence and Data Science</a:t>
            </a:r>
          </a:p>
        </p:txBody>
      </p:sp>
      <p:sp>
        <p:nvSpPr>
          <p:cNvPr id="4" name="Slide Number Placeholder 3">
            <a:extLst>
              <a:ext uri="{FF2B5EF4-FFF2-40B4-BE49-F238E27FC236}">
                <a16:creationId xmlns:a16="http://schemas.microsoft.com/office/drawing/2014/main" id="{353D6C8F-C658-325C-68FF-F254E0575E61}"/>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lvl="0">
              <a:defRPr lang="en-US"/>
            </a:defPPr>
            <a:lvl1pPr marL="0" lvl="0" algn="r" defTabSz="914400" rtl="0" eaLnBrk="1" latinLnBrk="0" hangingPunct="1">
              <a:defRPr sz="1200" kern="1200">
                <a:solidFill>
                  <a:schemeClr val="tx1">
                    <a:tint val="75000"/>
                  </a:schemeClr>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fld id="{9B618960-8005-486C-9A75-10CB2AAC16F9}" type="slidenum">
              <a:rPr lang="en-US" smtClean="0"/>
              <a:pPr/>
              <a:t>22</a:t>
            </a:fld>
            <a:endParaRPr lang="en-US" dirty="0"/>
          </a:p>
        </p:txBody>
      </p:sp>
      <p:pic>
        <p:nvPicPr>
          <p:cNvPr id="6" name="Picture 5">
            <a:extLst>
              <a:ext uri="{FF2B5EF4-FFF2-40B4-BE49-F238E27FC236}">
                <a16:creationId xmlns:a16="http://schemas.microsoft.com/office/drawing/2014/main" id="{81A05713-7F6E-D2DC-1DC7-2BC41EFEF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344" y="116631"/>
            <a:ext cx="864096" cy="504057"/>
          </a:xfrm>
          <a:prstGeom prst="rect">
            <a:avLst/>
          </a:prstGeom>
        </p:spPr>
      </p:pic>
      <p:sp>
        <p:nvSpPr>
          <p:cNvPr id="17" name="Rectangle 16">
            <a:extLst>
              <a:ext uri="{FF2B5EF4-FFF2-40B4-BE49-F238E27FC236}">
                <a16:creationId xmlns:a16="http://schemas.microsoft.com/office/drawing/2014/main" id="{FE4FE161-B494-4DF2-8CF5-734C79EDFC5C}"/>
              </a:ext>
            </a:extLst>
          </p:cNvPr>
          <p:cNvSpPr/>
          <p:nvPr/>
        </p:nvSpPr>
        <p:spPr>
          <a:xfrm>
            <a:off x="8488018" y="-6624"/>
            <a:ext cx="3690730" cy="596348"/>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mbria" panose="02040503050406030204" pitchFamily="18" charset="0"/>
                <a:ea typeface="Cambria" panose="02040503050406030204" pitchFamily="18" charset="0"/>
              </a:rPr>
              <a:t>Institute of Engineering</a:t>
            </a:r>
            <a:endParaRPr lang="en-IN" sz="2000" b="1" dirty="0">
              <a:solidFill>
                <a:schemeClr val="tx1"/>
              </a:solidFill>
              <a:latin typeface="Cambria" panose="02040503050406030204" pitchFamily="18" charset="0"/>
              <a:ea typeface="Cambria" panose="02040503050406030204" pitchFamily="18" charset="0"/>
            </a:endParaRPr>
          </a:p>
        </p:txBody>
      </p:sp>
      <p:sp>
        <p:nvSpPr>
          <p:cNvPr id="18" name="Right Triangle 17">
            <a:extLst>
              <a:ext uri="{FF2B5EF4-FFF2-40B4-BE49-F238E27FC236}">
                <a16:creationId xmlns:a16="http://schemas.microsoft.com/office/drawing/2014/main" id="{DAA8CFFB-AD4D-485C-9CCD-D52AF896BEF2}"/>
              </a:ext>
            </a:extLst>
          </p:cNvPr>
          <p:cNvSpPr/>
          <p:nvPr/>
        </p:nvSpPr>
        <p:spPr>
          <a:xfrm rot="10800000">
            <a:off x="7507357" y="-6624"/>
            <a:ext cx="980661" cy="596348"/>
          </a:xfrm>
          <a:prstGeom prst="r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Right Triangle 18">
            <a:extLst>
              <a:ext uri="{FF2B5EF4-FFF2-40B4-BE49-F238E27FC236}">
                <a16:creationId xmlns:a16="http://schemas.microsoft.com/office/drawing/2014/main" id="{89404FE0-0C97-4973-AC6A-134FA789619A}"/>
              </a:ext>
            </a:extLst>
          </p:cNvPr>
          <p:cNvSpPr/>
          <p:nvPr/>
        </p:nvSpPr>
        <p:spPr>
          <a:xfrm>
            <a:off x="7381461" y="0"/>
            <a:ext cx="980661" cy="596348"/>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Rectangle 19">
            <a:extLst>
              <a:ext uri="{FF2B5EF4-FFF2-40B4-BE49-F238E27FC236}">
                <a16:creationId xmlns:a16="http://schemas.microsoft.com/office/drawing/2014/main" id="{951E325C-ACB6-4FD9-9704-F03537BCE14D}"/>
              </a:ext>
            </a:extLst>
          </p:cNvPr>
          <p:cNvSpPr/>
          <p:nvPr/>
        </p:nvSpPr>
        <p:spPr>
          <a:xfrm>
            <a:off x="0" y="0"/>
            <a:ext cx="7381461" cy="59634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Constantia" panose="02030602050306030303" pitchFamily="18" charset="0"/>
                <a:ea typeface="Cambria" panose="02040503050406030204" pitchFamily="18" charset="0"/>
              </a:rPr>
              <a:t>Bhujbal Knowledge City</a:t>
            </a:r>
            <a:endParaRPr lang="en-IN" sz="2800" b="1" dirty="0">
              <a:latin typeface="Constantia" panose="02030602050306030303" pitchFamily="18" charset="0"/>
              <a:ea typeface="Cambria" panose="02040503050406030204" pitchFamily="18" charset="0"/>
            </a:endParaRPr>
          </a:p>
        </p:txBody>
      </p:sp>
      <p:pic>
        <p:nvPicPr>
          <p:cNvPr id="22" name="Picture 21">
            <a:extLst>
              <a:ext uri="{FF2B5EF4-FFF2-40B4-BE49-F238E27FC236}">
                <a16:creationId xmlns:a16="http://schemas.microsoft.com/office/drawing/2014/main" id="{5F5391B2-5D66-4E06-934B-20A107BF67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69" y="60103"/>
            <a:ext cx="966705" cy="476142"/>
          </a:xfrm>
          <a:prstGeom prst="rect">
            <a:avLst/>
          </a:prstGeom>
        </p:spPr>
      </p:pic>
      <p:pic>
        <p:nvPicPr>
          <p:cNvPr id="2" name="Picture 1">
            <a:extLst>
              <a:ext uri="{FF2B5EF4-FFF2-40B4-BE49-F238E27FC236}">
                <a16:creationId xmlns:a16="http://schemas.microsoft.com/office/drawing/2014/main" id="{0B65F1BA-4A0D-84D8-7668-A31E3672BCFD}"/>
              </a:ext>
            </a:extLst>
          </p:cNvPr>
          <p:cNvPicPr>
            <a:picLocks noChangeAspect="1"/>
          </p:cNvPicPr>
          <p:nvPr/>
        </p:nvPicPr>
        <p:blipFill>
          <a:blip r:embed="rId3"/>
          <a:stretch>
            <a:fillRect/>
          </a:stretch>
        </p:blipFill>
        <p:spPr>
          <a:xfrm>
            <a:off x="1582246" y="634497"/>
            <a:ext cx="9659847" cy="3147751"/>
          </a:xfrm>
          <a:prstGeom prst="rect">
            <a:avLst/>
          </a:prstGeom>
        </p:spPr>
      </p:pic>
      <p:pic>
        <p:nvPicPr>
          <p:cNvPr id="7" name="Picture 6">
            <a:extLst>
              <a:ext uri="{FF2B5EF4-FFF2-40B4-BE49-F238E27FC236}">
                <a16:creationId xmlns:a16="http://schemas.microsoft.com/office/drawing/2014/main" id="{37C41DA6-AFA1-C062-E096-8B44AFF44F0A}"/>
              </a:ext>
            </a:extLst>
          </p:cNvPr>
          <p:cNvPicPr>
            <a:picLocks noChangeAspect="1"/>
          </p:cNvPicPr>
          <p:nvPr/>
        </p:nvPicPr>
        <p:blipFill>
          <a:blip r:embed="rId4"/>
          <a:stretch>
            <a:fillRect/>
          </a:stretch>
        </p:blipFill>
        <p:spPr>
          <a:xfrm>
            <a:off x="191344" y="3837069"/>
            <a:ext cx="5904656" cy="2453722"/>
          </a:xfrm>
          <a:prstGeom prst="rect">
            <a:avLst/>
          </a:prstGeom>
        </p:spPr>
      </p:pic>
      <p:pic>
        <p:nvPicPr>
          <p:cNvPr id="8" name="Picture 7">
            <a:extLst>
              <a:ext uri="{FF2B5EF4-FFF2-40B4-BE49-F238E27FC236}">
                <a16:creationId xmlns:a16="http://schemas.microsoft.com/office/drawing/2014/main" id="{866BA32E-6533-2F41-4BB0-D1709AE1B502}"/>
              </a:ext>
            </a:extLst>
          </p:cNvPr>
          <p:cNvPicPr>
            <a:picLocks noChangeAspect="1"/>
          </p:cNvPicPr>
          <p:nvPr/>
        </p:nvPicPr>
        <p:blipFill>
          <a:blip r:embed="rId5"/>
          <a:stretch>
            <a:fillRect/>
          </a:stretch>
        </p:blipFill>
        <p:spPr>
          <a:xfrm>
            <a:off x="5943600" y="3809659"/>
            <a:ext cx="6432596" cy="2508542"/>
          </a:xfrm>
          <a:prstGeom prst="rect">
            <a:avLst/>
          </a:prstGeom>
        </p:spPr>
      </p:pic>
    </p:spTree>
    <p:extLst>
      <p:ext uri="{BB962C8B-B14F-4D97-AF65-F5344CB8AC3E}">
        <p14:creationId xmlns:p14="http://schemas.microsoft.com/office/powerpoint/2010/main" val="457931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27AE6F-59D8-E147-7EA7-F1F567070B66}"/>
              </a:ext>
            </a:extLst>
          </p:cNvP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lvl="0">
              <a:defRPr lang="en-US"/>
            </a:defPPr>
            <a:lvl1pPr marL="0" lvl="0" algn="ctr" defTabSz="914400" rtl="0" eaLnBrk="1" latinLnBrk="0" hangingPunct="1">
              <a:defRPr sz="1200" kern="1200">
                <a:solidFill>
                  <a:schemeClr val="tx1">
                    <a:tint val="75000"/>
                  </a:schemeClr>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r>
              <a:rPr lang="en-US" dirty="0"/>
              <a:t>Department of Artificial Intelligence and Data Science</a:t>
            </a:r>
          </a:p>
        </p:txBody>
      </p:sp>
      <p:sp>
        <p:nvSpPr>
          <p:cNvPr id="4" name="Slide Number Placeholder 3">
            <a:extLst>
              <a:ext uri="{FF2B5EF4-FFF2-40B4-BE49-F238E27FC236}">
                <a16:creationId xmlns:a16="http://schemas.microsoft.com/office/drawing/2014/main" id="{353D6C8F-C658-325C-68FF-F254E0575E61}"/>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lvl="0">
              <a:defRPr lang="en-US"/>
            </a:defPPr>
            <a:lvl1pPr marL="0" lvl="0" algn="r" defTabSz="914400" rtl="0" eaLnBrk="1" latinLnBrk="0" hangingPunct="1">
              <a:defRPr sz="1200" kern="1200">
                <a:solidFill>
                  <a:schemeClr val="tx1">
                    <a:tint val="75000"/>
                  </a:schemeClr>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fld id="{9B618960-8005-486C-9A75-10CB2AAC16F9}" type="slidenum">
              <a:rPr lang="en-US" smtClean="0"/>
              <a:pPr/>
              <a:t>23</a:t>
            </a:fld>
            <a:endParaRPr lang="en-US" dirty="0"/>
          </a:p>
        </p:txBody>
      </p:sp>
      <p:pic>
        <p:nvPicPr>
          <p:cNvPr id="6" name="Picture 5">
            <a:extLst>
              <a:ext uri="{FF2B5EF4-FFF2-40B4-BE49-F238E27FC236}">
                <a16:creationId xmlns:a16="http://schemas.microsoft.com/office/drawing/2014/main" id="{81A05713-7F6E-D2DC-1DC7-2BC41EFEFC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344" y="116631"/>
            <a:ext cx="864096" cy="504057"/>
          </a:xfrm>
          <a:prstGeom prst="rect">
            <a:avLst/>
          </a:prstGeom>
        </p:spPr>
      </p:pic>
      <p:sp>
        <p:nvSpPr>
          <p:cNvPr id="17" name="Rectangle 16">
            <a:extLst>
              <a:ext uri="{FF2B5EF4-FFF2-40B4-BE49-F238E27FC236}">
                <a16:creationId xmlns:a16="http://schemas.microsoft.com/office/drawing/2014/main" id="{FE4FE161-B494-4DF2-8CF5-734C79EDFC5C}"/>
              </a:ext>
            </a:extLst>
          </p:cNvPr>
          <p:cNvSpPr/>
          <p:nvPr/>
        </p:nvSpPr>
        <p:spPr>
          <a:xfrm>
            <a:off x="8488018" y="-6624"/>
            <a:ext cx="3690730" cy="596348"/>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mbria" panose="02040503050406030204" pitchFamily="18" charset="0"/>
                <a:ea typeface="Cambria" panose="02040503050406030204" pitchFamily="18" charset="0"/>
              </a:rPr>
              <a:t>Institute of Engineering</a:t>
            </a:r>
            <a:endParaRPr lang="en-IN" sz="2000" b="1" dirty="0">
              <a:solidFill>
                <a:schemeClr val="tx1"/>
              </a:solidFill>
              <a:latin typeface="Cambria" panose="02040503050406030204" pitchFamily="18" charset="0"/>
              <a:ea typeface="Cambria" panose="02040503050406030204" pitchFamily="18" charset="0"/>
            </a:endParaRPr>
          </a:p>
        </p:txBody>
      </p:sp>
      <p:sp>
        <p:nvSpPr>
          <p:cNvPr id="18" name="Right Triangle 17">
            <a:extLst>
              <a:ext uri="{FF2B5EF4-FFF2-40B4-BE49-F238E27FC236}">
                <a16:creationId xmlns:a16="http://schemas.microsoft.com/office/drawing/2014/main" id="{DAA8CFFB-AD4D-485C-9CCD-D52AF896BEF2}"/>
              </a:ext>
            </a:extLst>
          </p:cNvPr>
          <p:cNvSpPr/>
          <p:nvPr/>
        </p:nvSpPr>
        <p:spPr>
          <a:xfrm rot="10800000">
            <a:off x="7507357" y="-6624"/>
            <a:ext cx="980661" cy="596348"/>
          </a:xfrm>
          <a:prstGeom prst="r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Right Triangle 18">
            <a:extLst>
              <a:ext uri="{FF2B5EF4-FFF2-40B4-BE49-F238E27FC236}">
                <a16:creationId xmlns:a16="http://schemas.microsoft.com/office/drawing/2014/main" id="{89404FE0-0C97-4973-AC6A-134FA789619A}"/>
              </a:ext>
            </a:extLst>
          </p:cNvPr>
          <p:cNvSpPr/>
          <p:nvPr/>
        </p:nvSpPr>
        <p:spPr>
          <a:xfrm>
            <a:off x="7381461" y="0"/>
            <a:ext cx="980661" cy="596348"/>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Rectangle 19">
            <a:extLst>
              <a:ext uri="{FF2B5EF4-FFF2-40B4-BE49-F238E27FC236}">
                <a16:creationId xmlns:a16="http://schemas.microsoft.com/office/drawing/2014/main" id="{951E325C-ACB6-4FD9-9704-F03537BCE14D}"/>
              </a:ext>
            </a:extLst>
          </p:cNvPr>
          <p:cNvSpPr/>
          <p:nvPr/>
        </p:nvSpPr>
        <p:spPr>
          <a:xfrm>
            <a:off x="0" y="0"/>
            <a:ext cx="7381461" cy="59634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Constantia" panose="02030602050306030303" pitchFamily="18" charset="0"/>
                <a:ea typeface="Cambria" panose="02040503050406030204" pitchFamily="18" charset="0"/>
              </a:rPr>
              <a:t>Bhujbal Knowledge City</a:t>
            </a:r>
            <a:endParaRPr lang="en-IN" sz="2800" b="1" dirty="0">
              <a:latin typeface="Constantia" panose="02030602050306030303" pitchFamily="18" charset="0"/>
              <a:ea typeface="Cambria" panose="02040503050406030204" pitchFamily="18" charset="0"/>
            </a:endParaRPr>
          </a:p>
        </p:txBody>
      </p:sp>
      <p:pic>
        <p:nvPicPr>
          <p:cNvPr id="22" name="Picture 21">
            <a:extLst>
              <a:ext uri="{FF2B5EF4-FFF2-40B4-BE49-F238E27FC236}">
                <a16:creationId xmlns:a16="http://schemas.microsoft.com/office/drawing/2014/main" id="{5F5391B2-5D66-4E06-934B-20A107BF67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469" y="60103"/>
            <a:ext cx="966705" cy="476142"/>
          </a:xfrm>
          <a:prstGeom prst="rect">
            <a:avLst/>
          </a:prstGeom>
        </p:spPr>
      </p:pic>
      <p:sp>
        <p:nvSpPr>
          <p:cNvPr id="13" name="Rectangle 12"/>
          <p:cNvSpPr/>
          <p:nvPr/>
        </p:nvSpPr>
        <p:spPr>
          <a:xfrm>
            <a:off x="523836" y="928670"/>
            <a:ext cx="6096000" cy="369332"/>
          </a:xfrm>
          <a:prstGeom prst="rect">
            <a:avLst/>
          </a:prstGeom>
        </p:spPr>
        <p:txBody>
          <a:bodyPr>
            <a:spAutoFit/>
          </a:bodyPr>
          <a:lstStyle/>
          <a:p>
            <a:pPr>
              <a:buNone/>
            </a:pPr>
            <a:r>
              <a:rPr lang="en-IN" b="1" dirty="0">
                <a:latin typeface="Times New Roman" panose="02020603050405020304" pitchFamily="18" charset="0"/>
                <a:cs typeface="Times New Roman" panose="02020603050405020304" pitchFamily="18" charset="0"/>
              </a:rPr>
              <a:t>Backend Implementation </a:t>
            </a:r>
          </a:p>
        </p:txBody>
      </p:sp>
      <p:pic>
        <p:nvPicPr>
          <p:cNvPr id="10" name="Picture 9">
            <a:extLst>
              <a:ext uri="{FF2B5EF4-FFF2-40B4-BE49-F238E27FC236}">
                <a16:creationId xmlns:a16="http://schemas.microsoft.com/office/drawing/2014/main" id="{0EF36B41-2C0B-9FB5-A805-A325A9514FB3}"/>
              </a:ext>
            </a:extLst>
          </p:cNvPr>
          <p:cNvPicPr>
            <a:picLocks noChangeAspect="1"/>
          </p:cNvPicPr>
          <p:nvPr/>
        </p:nvPicPr>
        <p:blipFill>
          <a:blip r:embed="rId4"/>
          <a:stretch>
            <a:fillRect/>
          </a:stretch>
        </p:blipFill>
        <p:spPr>
          <a:xfrm>
            <a:off x="5305659" y="1298002"/>
            <a:ext cx="6873090" cy="5051724"/>
          </a:xfrm>
          <a:prstGeom prst="rect">
            <a:avLst/>
          </a:prstGeom>
        </p:spPr>
      </p:pic>
      <p:sp>
        <p:nvSpPr>
          <p:cNvPr id="11" name="Rectangle 1">
            <a:extLst>
              <a:ext uri="{FF2B5EF4-FFF2-40B4-BE49-F238E27FC236}">
                <a16:creationId xmlns:a16="http://schemas.microsoft.com/office/drawing/2014/main" id="{2078A4A0-EA62-1C40-734B-AED55922298D}"/>
              </a:ext>
            </a:extLst>
          </p:cNvPr>
          <p:cNvSpPr>
            <a:spLocks noChangeArrowheads="1"/>
          </p:cNvSpPr>
          <p:nvPr/>
        </p:nvSpPr>
        <p:spPr bwMode="auto">
          <a:xfrm>
            <a:off x="13251" y="2074749"/>
            <a:ext cx="4955203" cy="2951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ESP8266 Wi-Fi based microcontroller</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Wi-Fi connectivity for server communication</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Fetches street light status from backend server</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Displays ON / OFF / FAULT status on LCD</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Sends toggle command to server on button press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Local alert generation for fault conditions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Serial monitoring for debugging and logs</a:t>
            </a:r>
          </a:p>
        </p:txBody>
      </p:sp>
    </p:spTree>
    <p:extLst>
      <p:ext uri="{BB962C8B-B14F-4D97-AF65-F5344CB8AC3E}">
        <p14:creationId xmlns:p14="http://schemas.microsoft.com/office/powerpoint/2010/main" val="31050118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27AE6F-59D8-E147-7EA7-F1F567070B66}"/>
              </a:ext>
            </a:extLst>
          </p:cNvP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lvl="0">
              <a:defRPr lang="en-US"/>
            </a:defPPr>
            <a:lvl1pPr marL="0" lvl="0" algn="ctr" defTabSz="914400" rtl="0" eaLnBrk="1" latinLnBrk="0" hangingPunct="1">
              <a:defRPr sz="1200" kern="1200">
                <a:solidFill>
                  <a:schemeClr val="tx1">
                    <a:tint val="75000"/>
                  </a:schemeClr>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r>
              <a:rPr lang="en-US" dirty="0"/>
              <a:t>Department of Artificial Intelligence and Data Science</a:t>
            </a:r>
          </a:p>
        </p:txBody>
      </p:sp>
      <p:sp>
        <p:nvSpPr>
          <p:cNvPr id="4" name="Slide Number Placeholder 3">
            <a:extLst>
              <a:ext uri="{FF2B5EF4-FFF2-40B4-BE49-F238E27FC236}">
                <a16:creationId xmlns:a16="http://schemas.microsoft.com/office/drawing/2014/main" id="{353D6C8F-C658-325C-68FF-F254E0575E61}"/>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lvl="0">
              <a:defRPr lang="en-US"/>
            </a:defPPr>
            <a:lvl1pPr marL="0" lvl="0" algn="r" defTabSz="914400" rtl="0" eaLnBrk="1" latinLnBrk="0" hangingPunct="1">
              <a:defRPr sz="1200" kern="1200">
                <a:solidFill>
                  <a:schemeClr val="tx1">
                    <a:tint val="75000"/>
                  </a:schemeClr>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fld id="{9B618960-8005-486C-9A75-10CB2AAC16F9}" type="slidenum">
              <a:rPr lang="en-US" smtClean="0"/>
              <a:pPr/>
              <a:t>24</a:t>
            </a:fld>
            <a:endParaRPr lang="en-US" dirty="0"/>
          </a:p>
        </p:txBody>
      </p:sp>
      <p:pic>
        <p:nvPicPr>
          <p:cNvPr id="6" name="Picture 5">
            <a:extLst>
              <a:ext uri="{FF2B5EF4-FFF2-40B4-BE49-F238E27FC236}">
                <a16:creationId xmlns:a16="http://schemas.microsoft.com/office/drawing/2014/main" id="{81A05713-7F6E-D2DC-1DC7-2BC41EFEF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344" y="116631"/>
            <a:ext cx="864096" cy="504057"/>
          </a:xfrm>
          <a:prstGeom prst="rect">
            <a:avLst/>
          </a:prstGeom>
        </p:spPr>
      </p:pic>
      <p:sp>
        <p:nvSpPr>
          <p:cNvPr id="17" name="Rectangle 16">
            <a:extLst>
              <a:ext uri="{FF2B5EF4-FFF2-40B4-BE49-F238E27FC236}">
                <a16:creationId xmlns:a16="http://schemas.microsoft.com/office/drawing/2014/main" id="{FE4FE161-B494-4DF2-8CF5-734C79EDFC5C}"/>
              </a:ext>
            </a:extLst>
          </p:cNvPr>
          <p:cNvSpPr/>
          <p:nvPr/>
        </p:nvSpPr>
        <p:spPr>
          <a:xfrm>
            <a:off x="8488018" y="-6624"/>
            <a:ext cx="3690730" cy="596348"/>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mbria" panose="02040503050406030204" pitchFamily="18" charset="0"/>
                <a:ea typeface="Cambria" panose="02040503050406030204" pitchFamily="18" charset="0"/>
              </a:rPr>
              <a:t>Institute of Engineering</a:t>
            </a:r>
            <a:endParaRPr lang="en-IN" sz="2000" b="1" dirty="0">
              <a:solidFill>
                <a:schemeClr val="tx1"/>
              </a:solidFill>
              <a:latin typeface="Cambria" panose="02040503050406030204" pitchFamily="18" charset="0"/>
              <a:ea typeface="Cambria" panose="02040503050406030204" pitchFamily="18" charset="0"/>
            </a:endParaRPr>
          </a:p>
        </p:txBody>
      </p:sp>
      <p:sp>
        <p:nvSpPr>
          <p:cNvPr id="18" name="Right Triangle 17">
            <a:extLst>
              <a:ext uri="{FF2B5EF4-FFF2-40B4-BE49-F238E27FC236}">
                <a16:creationId xmlns:a16="http://schemas.microsoft.com/office/drawing/2014/main" id="{DAA8CFFB-AD4D-485C-9CCD-D52AF896BEF2}"/>
              </a:ext>
            </a:extLst>
          </p:cNvPr>
          <p:cNvSpPr/>
          <p:nvPr/>
        </p:nvSpPr>
        <p:spPr>
          <a:xfrm rot="10800000">
            <a:off x="7507357" y="-6624"/>
            <a:ext cx="980661" cy="596348"/>
          </a:xfrm>
          <a:prstGeom prst="r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Right Triangle 18">
            <a:extLst>
              <a:ext uri="{FF2B5EF4-FFF2-40B4-BE49-F238E27FC236}">
                <a16:creationId xmlns:a16="http://schemas.microsoft.com/office/drawing/2014/main" id="{89404FE0-0C97-4973-AC6A-134FA789619A}"/>
              </a:ext>
            </a:extLst>
          </p:cNvPr>
          <p:cNvSpPr/>
          <p:nvPr/>
        </p:nvSpPr>
        <p:spPr>
          <a:xfrm>
            <a:off x="7381461" y="0"/>
            <a:ext cx="980661" cy="596348"/>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Rectangle 19">
            <a:extLst>
              <a:ext uri="{FF2B5EF4-FFF2-40B4-BE49-F238E27FC236}">
                <a16:creationId xmlns:a16="http://schemas.microsoft.com/office/drawing/2014/main" id="{951E325C-ACB6-4FD9-9704-F03537BCE14D}"/>
              </a:ext>
            </a:extLst>
          </p:cNvPr>
          <p:cNvSpPr/>
          <p:nvPr/>
        </p:nvSpPr>
        <p:spPr>
          <a:xfrm>
            <a:off x="0" y="0"/>
            <a:ext cx="7381461" cy="59634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Constantia" panose="02030602050306030303" pitchFamily="18" charset="0"/>
                <a:ea typeface="Cambria" panose="02040503050406030204" pitchFamily="18" charset="0"/>
              </a:rPr>
              <a:t>Bhujbal Knowledge City</a:t>
            </a:r>
            <a:endParaRPr lang="en-IN" sz="2800" b="1" dirty="0">
              <a:latin typeface="Constantia" panose="02030602050306030303" pitchFamily="18" charset="0"/>
              <a:ea typeface="Cambria" panose="02040503050406030204" pitchFamily="18" charset="0"/>
            </a:endParaRPr>
          </a:p>
        </p:txBody>
      </p:sp>
      <p:pic>
        <p:nvPicPr>
          <p:cNvPr id="22" name="Picture 21">
            <a:extLst>
              <a:ext uri="{FF2B5EF4-FFF2-40B4-BE49-F238E27FC236}">
                <a16:creationId xmlns:a16="http://schemas.microsoft.com/office/drawing/2014/main" id="{5F5391B2-5D66-4E06-934B-20A107BF67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69" y="60103"/>
            <a:ext cx="966705" cy="476142"/>
          </a:xfrm>
          <a:prstGeom prst="rect">
            <a:avLst/>
          </a:prstGeom>
        </p:spPr>
      </p:pic>
      <p:pic>
        <p:nvPicPr>
          <p:cNvPr id="5" name="Picture 4">
            <a:extLst>
              <a:ext uri="{FF2B5EF4-FFF2-40B4-BE49-F238E27FC236}">
                <a16:creationId xmlns:a16="http://schemas.microsoft.com/office/drawing/2014/main" id="{15C0338C-2AC1-7B59-0A97-B919AAF2B51B}"/>
              </a:ext>
            </a:extLst>
          </p:cNvPr>
          <p:cNvPicPr>
            <a:picLocks noChangeAspect="1"/>
          </p:cNvPicPr>
          <p:nvPr/>
        </p:nvPicPr>
        <p:blipFill>
          <a:blip r:embed="rId3">
            <a:extLst>
              <a:ext uri="{28A0092B-C50C-407E-A947-70E740481C1C}">
                <a14:useLocalDpi xmlns:a14="http://schemas.microsoft.com/office/drawing/2010/main" val="0"/>
              </a:ext>
            </a:extLst>
          </a:blip>
          <a:srcRect l="5625" t="15556" r="53383" b="10001"/>
          <a:stretch>
            <a:fillRect/>
          </a:stretch>
        </p:blipFill>
        <p:spPr>
          <a:xfrm>
            <a:off x="120755" y="639023"/>
            <a:ext cx="5441845" cy="5172495"/>
          </a:xfrm>
          <a:prstGeom prst="rect">
            <a:avLst/>
          </a:prstGeom>
        </p:spPr>
      </p:pic>
      <p:pic>
        <p:nvPicPr>
          <p:cNvPr id="8" name="Picture 7">
            <a:extLst>
              <a:ext uri="{FF2B5EF4-FFF2-40B4-BE49-F238E27FC236}">
                <a16:creationId xmlns:a16="http://schemas.microsoft.com/office/drawing/2014/main" id="{39B2199A-517D-72D5-68B7-4D1FC596A31E}"/>
              </a:ext>
            </a:extLst>
          </p:cNvPr>
          <p:cNvPicPr>
            <a:picLocks noChangeAspect="1"/>
          </p:cNvPicPr>
          <p:nvPr/>
        </p:nvPicPr>
        <p:blipFill>
          <a:blip r:embed="rId4">
            <a:extLst>
              <a:ext uri="{28A0092B-C50C-407E-A947-70E740481C1C}">
                <a14:useLocalDpi xmlns:a14="http://schemas.microsoft.com/office/drawing/2010/main" val="0"/>
              </a:ext>
            </a:extLst>
          </a:blip>
          <a:srcRect l="5342" t="17416" r="44276" b="11111"/>
          <a:stretch>
            <a:fillRect/>
          </a:stretch>
        </p:blipFill>
        <p:spPr>
          <a:xfrm>
            <a:off x="5562600" y="649591"/>
            <a:ext cx="6490252" cy="5765914"/>
          </a:xfrm>
          <a:prstGeom prst="rect">
            <a:avLst/>
          </a:prstGeom>
        </p:spPr>
      </p:pic>
    </p:spTree>
    <p:extLst>
      <p:ext uri="{BB962C8B-B14F-4D97-AF65-F5344CB8AC3E}">
        <p14:creationId xmlns:p14="http://schemas.microsoft.com/office/powerpoint/2010/main" val="4248473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57800" y="709117"/>
            <a:ext cx="1751076" cy="452120"/>
          </a:xfrm>
          <a:prstGeom prst="rect">
            <a:avLst/>
          </a:prstGeom>
        </p:spPr>
        <p:txBody>
          <a:bodyPr vert="horz" wrap="square" lIns="0" tIns="12065" rIns="0" bIns="0" rtlCol="0">
            <a:spAutoFit/>
          </a:bodyPr>
          <a:lstStyle/>
          <a:p>
            <a:pPr marL="12700">
              <a:lnSpc>
                <a:spcPct val="100000"/>
              </a:lnSpc>
              <a:spcBef>
                <a:spcPts val="95"/>
              </a:spcBef>
            </a:pPr>
            <a:r>
              <a:rPr lang="en-US" sz="2800" b="1" spc="-10" dirty="0">
                <a:latin typeface="Times New Roman" panose="02020603050405020304" pitchFamily="18" charset="0"/>
                <a:cs typeface="Times New Roman" panose="02020603050405020304" pitchFamily="18" charset="0"/>
              </a:rPr>
              <a:t>Test Case</a:t>
            </a:r>
            <a:endParaRPr sz="2800" b="1"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6902" y="-6311"/>
            <a:ext cx="7394575" cy="609600"/>
            <a:chOff x="6902" y="-6311"/>
            <a:chExt cx="7394575" cy="609600"/>
          </a:xfrm>
        </p:grpSpPr>
        <p:sp>
          <p:nvSpPr>
            <p:cNvPr id="4" name="object 4"/>
            <p:cNvSpPr/>
            <p:nvPr/>
          </p:nvSpPr>
          <p:spPr>
            <a:xfrm>
              <a:off x="13252"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a:p>
          </p:txBody>
        </p:sp>
        <p:sp>
          <p:nvSpPr>
            <p:cNvPr id="5" name="object 5"/>
            <p:cNvSpPr/>
            <p:nvPr/>
          </p:nvSpPr>
          <p:spPr>
            <a:xfrm>
              <a:off x="13252" y="38"/>
              <a:ext cx="7381875" cy="596900"/>
            </a:xfrm>
            <a:custGeom>
              <a:avLst/>
              <a:gdLst/>
              <a:ahLst/>
              <a:cxnLst/>
              <a:rect l="l" t="t" r="r" b="b"/>
              <a:pathLst>
                <a:path w="7381875" h="596900">
                  <a:moveTo>
                    <a:pt x="0" y="596353"/>
                  </a:moveTo>
                  <a:lnTo>
                    <a:pt x="7381494" y="596353"/>
                  </a:lnTo>
                  <a:lnTo>
                    <a:pt x="7381494" y="0"/>
                  </a:lnTo>
                  <a:lnTo>
                    <a:pt x="0" y="0"/>
                  </a:lnTo>
                  <a:lnTo>
                    <a:pt x="0" y="596353"/>
                  </a:lnTo>
                  <a:close/>
                </a:path>
              </a:pathLst>
            </a:custGeom>
            <a:ln w="12700">
              <a:solidFill>
                <a:srgbClr val="FF0000"/>
              </a:solidFill>
            </a:ln>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Bhujbal</a:t>
            </a:r>
            <a:r>
              <a:rPr spc="-80" dirty="0"/>
              <a:t> </a:t>
            </a:r>
            <a:r>
              <a:rPr spc="-30" dirty="0"/>
              <a:t>Knowledge</a:t>
            </a:r>
            <a:r>
              <a:rPr spc="-114" dirty="0"/>
              <a:t> </a:t>
            </a:r>
            <a:r>
              <a:rPr spc="-20" dirty="0"/>
              <a:t>City</a:t>
            </a:r>
          </a:p>
        </p:txBody>
      </p:sp>
      <p:grpSp>
        <p:nvGrpSpPr>
          <p:cNvPr id="7" name="object 7"/>
          <p:cNvGrpSpPr/>
          <p:nvPr/>
        </p:nvGrpSpPr>
        <p:grpSpPr>
          <a:xfrm>
            <a:off x="93469" y="-6350"/>
            <a:ext cx="12091670" cy="609600"/>
            <a:chOff x="93469" y="-6350"/>
            <a:chExt cx="12091670" cy="609600"/>
          </a:xfrm>
        </p:grpSpPr>
        <p:sp>
          <p:nvSpPr>
            <p:cNvPr id="8" name="object 8"/>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a:p>
          </p:txBody>
        </p:sp>
        <p:sp>
          <p:nvSpPr>
            <p:cNvPr id="9" name="object 9"/>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93469" y="60058"/>
              <a:ext cx="966698" cy="476135"/>
            </a:xfrm>
            <a:prstGeom prst="rect">
              <a:avLst/>
            </a:prstGeom>
          </p:spPr>
        </p:pic>
        <p:sp>
          <p:nvSpPr>
            <p:cNvPr id="11" name="object 11"/>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a:p>
          </p:txBody>
        </p:sp>
        <p:sp>
          <p:nvSpPr>
            <p:cNvPr id="12" name="object 12"/>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a:p>
          </p:txBody>
        </p:sp>
        <p:sp>
          <p:nvSpPr>
            <p:cNvPr id="13" name="object 13"/>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a:p>
          </p:txBody>
        </p:sp>
        <p:sp>
          <p:nvSpPr>
            <p:cNvPr id="14" name="object 14"/>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a:p>
          </p:txBody>
        </p:sp>
      </p:grpSp>
      <p:sp>
        <p:nvSpPr>
          <p:cNvPr id="15" name="object 15"/>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a:latin typeface="Cambria"/>
              <a:cs typeface="Cambria"/>
            </a:endParaRP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25</a:t>
            </a:fld>
            <a:endParaRPr spc="-25" dirty="0"/>
          </a:p>
        </p:txBody>
      </p:sp>
      <p:sp>
        <p:nvSpPr>
          <p:cNvPr id="19" name="TextBox 18">
            <a:extLst>
              <a:ext uri="{FF2B5EF4-FFF2-40B4-BE49-F238E27FC236}">
                <a16:creationId xmlns:a16="http://schemas.microsoft.com/office/drawing/2014/main" id="{C696B83E-D752-2BD1-B6D2-8F8A1F6D8B6E}"/>
              </a:ext>
            </a:extLst>
          </p:cNvPr>
          <p:cNvSpPr txBox="1"/>
          <p:nvPr/>
        </p:nvSpPr>
        <p:spPr>
          <a:xfrm>
            <a:off x="762000" y="1447800"/>
            <a:ext cx="107442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Test Case 1 : when there is no activity on road Street Lights are off.  </a:t>
            </a:r>
            <a:endParaRPr lang="en-IN" dirty="0">
              <a:latin typeface="Times New Roman" panose="02020603050405020304" pitchFamily="18" charset="0"/>
              <a:cs typeface="Times New Roman" panose="02020603050405020304" pitchFamily="18" charset="0"/>
            </a:endParaRPr>
          </a:p>
        </p:txBody>
      </p:sp>
      <p:pic>
        <p:nvPicPr>
          <p:cNvPr id="27" name="Picture 26">
            <a:extLst>
              <a:ext uri="{FF2B5EF4-FFF2-40B4-BE49-F238E27FC236}">
                <a16:creationId xmlns:a16="http://schemas.microsoft.com/office/drawing/2014/main" id="{4D5FE649-2D57-887D-024D-07EF6137C8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832898"/>
            <a:ext cx="6509782" cy="3661753"/>
          </a:xfrm>
          <a:prstGeom prst="rect">
            <a:avLst/>
          </a:prstGeom>
        </p:spPr>
      </p:pic>
      <p:pic>
        <p:nvPicPr>
          <p:cNvPr id="29" name="Picture 28">
            <a:extLst>
              <a:ext uri="{FF2B5EF4-FFF2-40B4-BE49-F238E27FC236}">
                <a16:creationId xmlns:a16="http://schemas.microsoft.com/office/drawing/2014/main" id="{4721A748-AF0B-DA90-0F61-586D0E9A470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16343" y="1653487"/>
            <a:ext cx="3576871" cy="475430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5A8FA-40FE-54EA-78F5-2E38ED02CA7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D56D687-BE34-0BAA-7183-AE0E9901FC58}"/>
              </a:ext>
            </a:extLst>
          </p:cNvPr>
          <p:cNvSpPr txBox="1"/>
          <p:nvPr/>
        </p:nvSpPr>
        <p:spPr>
          <a:xfrm>
            <a:off x="5257800" y="709117"/>
            <a:ext cx="1751076" cy="452120"/>
          </a:xfrm>
          <a:prstGeom prst="rect">
            <a:avLst/>
          </a:prstGeom>
        </p:spPr>
        <p:txBody>
          <a:bodyPr vert="horz" wrap="square" lIns="0" tIns="12065" rIns="0" bIns="0" rtlCol="0">
            <a:spAutoFit/>
          </a:bodyPr>
          <a:lstStyle/>
          <a:p>
            <a:pPr marL="12700">
              <a:lnSpc>
                <a:spcPct val="100000"/>
              </a:lnSpc>
              <a:spcBef>
                <a:spcPts val="95"/>
              </a:spcBef>
            </a:pPr>
            <a:r>
              <a:rPr lang="en-US" sz="2800" b="1" spc="-10" dirty="0">
                <a:latin typeface="Times New Roman" panose="02020603050405020304" pitchFamily="18" charset="0"/>
                <a:cs typeface="Times New Roman" panose="02020603050405020304" pitchFamily="18" charset="0"/>
              </a:rPr>
              <a:t>Test Case</a:t>
            </a:r>
            <a:endParaRPr sz="2800" b="1" dirty="0">
              <a:latin typeface="Times New Roman" panose="02020603050405020304" pitchFamily="18" charset="0"/>
              <a:cs typeface="Times New Roman" panose="02020603050405020304" pitchFamily="18" charset="0"/>
            </a:endParaRPr>
          </a:p>
        </p:txBody>
      </p:sp>
      <p:grpSp>
        <p:nvGrpSpPr>
          <p:cNvPr id="3" name="object 3">
            <a:extLst>
              <a:ext uri="{FF2B5EF4-FFF2-40B4-BE49-F238E27FC236}">
                <a16:creationId xmlns:a16="http://schemas.microsoft.com/office/drawing/2014/main" id="{AAD4DD91-528F-828F-800E-A4F59F65B65D}"/>
              </a:ext>
            </a:extLst>
          </p:cNvPr>
          <p:cNvGrpSpPr/>
          <p:nvPr/>
        </p:nvGrpSpPr>
        <p:grpSpPr>
          <a:xfrm>
            <a:off x="6902" y="-6311"/>
            <a:ext cx="7394575" cy="609600"/>
            <a:chOff x="6902" y="-6311"/>
            <a:chExt cx="7394575" cy="609600"/>
          </a:xfrm>
        </p:grpSpPr>
        <p:sp>
          <p:nvSpPr>
            <p:cNvPr id="4" name="object 4">
              <a:extLst>
                <a:ext uri="{FF2B5EF4-FFF2-40B4-BE49-F238E27FC236}">
                  <a16:creationId xmlns:a16="http://schemas.microsoft.com/office/drawing/2014/main" id="{32B8EFFC-4F36-0CEB-CCEB-29C3A1508675}"/>
                </a:ext>
              </a:extLst>
            </p:cNvPr>
            <p:cNvSpPr/>
            <p:nvPr/>
          </p:nvSpPr>
          <p:spPr>
            <a:xfrm>
              <a:off x="13252"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a:p>
          </p:txBody>
        </p:sp>
        <p:sp>
          <p:nvSpPr>
            <p:cNvPr id="5" name="object 5">
              <a:extLst>
                <a:ext uri="{FF2B5EF4-FFF2-40B4-BE49-F238E27FC236}">
                  <a16:creationId xmlns:a16="http://schemas.microsoft.com/office/drawing/2014/main" id="{3227859D-009C-0A4A-1B7C-1774C6FAAE59}"/>
                </a:ext>
              </a:extLst>
            </p:cNvPr>
            <p:cNvSpPr/>
            <p:nvPr/>
          </p:nvSpPr>
          <p:spPr>
            <a:xfrm>
              <a:off x="13252" y="38"/>
              <a:ext cx="7381875" cy="596900"/>
            </a:xfrm>
            <a:custGeom>
              <a:avLst/>
              <a:gdLst/>
              <a:ahLst/>
              <a:cxnLst/>
              <a:rect l="l" t="t" r="r" b="b"/>
              <a:pathLst>
                <a:path w="7381875" h="596900">
                  <a:moveTo>
                    <a:pt x="0" y="596353"/>
                  </a:moveTo>
                  <a:lnTo>
                    <a:pt x="7381494" y="596353"/>
                  </a:lnTo>
                  <a:lnTo>
                    <a:pt x="7381494" y="0"/>
                  </a:lnTo>
                  <a:lnTo>
                    <a:pt x="0" y="0"/>
                  </a:lnTo>
                  <a:lnTo>
                    <a:pt x="0" y="596353"/>
                  </a:lnTo>
                  <a:close/>
                </a:path>
              </a:pathLst>
            </a:custGeom>
            <a:ln w="12700">
              <a:solidFill>
                <a:srgbClr val="FF0000"/>
              </a:solidFill>
            </a:ln>
          </p:spPr>
          <p:txBody>
            <a:bodyPr wrap="square" lIns="0" tIns="0" rIns="0" bIns="0" rtlCol="0"/>
            <a:lstStyle/>
            <a:p>
              <a:endParaRPr/>
            </a:p>
          </p:txBody>
        </p:sp>
      </p:grpSp>
      <p:sp>
        <p:nvSpPr>
          <p:cNvPr id="6" name="object 6">
            <a:extLst>
              <a:ext uri="{FF2B5EF4-FFF2-40B4-BE49-F238E27FC236}">
                <a16:creationId xmlns:a16="http://schemas.microsoft.com/office/drawing/2014/main" id="{5F257E16-2003-D1A1-E545-FE530FA51AF7}"/>
              </a:ext>
            </a:extLst>
          </p:cNvPr>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Bhujbal</a:t>
            </a:r>
            <a:r>
              <a:rPr spc="-80" dirty="0"/>
              <a:t> </a:t>
            </a:r>
            <a:r>
              <a:rPr spc="-30" dirty="0"/>
              <a:t>Knowledge</a:t>
            </a:r>
            <a:r>
              <a:rPr spc="-114" dirty="0"/>
              <a:t> </a:t>
            </a:r>
            <a:r>
              <a:rPr spc="-20" dirty="0"/>
              <a:t>City</a:t>
            </a:r>
          </a:p>
        </p:txBody>
      </p:sp>
      <p:grpSp>
        <p:nvGrpSpPr>
          <p:cNvPr id="7" name="object 7">
            <a:extLst>
              <a:ext uri="{FF2B5EF4-FFF2-40B4-BE49-F238E27FC236}">
                <a16:creationId xmlns:a16="http://schemas.microsoft.com/office/drawing/2014/main" id="{60FAE988-A348-05A3-3BF1-990EAB667E1A}"/>
              </a:ext>
            </a:extLst>
          </p:cNvPr>
          <p:cNvGrpSpPr/>
          <p:nvPr/>
        </p:nvGrpSpPr>
        <p:grpSpPr>
          <a:xfrm>
            <a:off x="93469" y="-6350"/>
            <a:ext cx="12091670" cy="609600"/>
            <a:chOff x="93469" y="-6350"/>
            <a:chExt cx="12091670" cy="609600"/>
          </a:xfrm>
        </p:grpSpPr>
        <p:sp>
          <p:nvSpPr>
            <p:cNvPr id="8" name="object 8">
              <a:extLst>
                <a:ext uri="{FF2B5EF4-FFF2-40B4-BE49-F238E27FC236}">
                  <a16:creationId xmlns:a16="http://schemas.microsoft.com/office/drawing/2014/main" id="{455D3CD1-FA58-DE05-63AD-53EB9E0ED9FD}"/>
                </a:ext>
              </a:extLst>
            </p:cNvPr>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a:p>
          </p:txBody>
        </p:sp>
        <p:sp>
          <p:nvSpPr>
            <p:cNvPr id="9" name="object 9">
              <a:extLst>
                <a:ext uri="{FF2B5EF4-FFF2-40B4-BE49-F238E27FC236}">
                  <a16:creationId xmlns:a16="http://schemas.microsoft.com/office/drawing/2014/main" id="{9E18414A-8B69-D1D3-E77B-C1948B6FBBA2}"/>
                </a:ext>
              </a:extLst>
            </p:cNvPr>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a:p>
          </p:txBody>
        </p:sp>
        <p:pic>
          <p:nvPicPr>
            <p:cNvPr id="10" name="object 10">
              <a:extLst>
                <a:ext uri="{FF2B5EF4-FFF2-40B4-BE49-F238E27FC236}">
                  <a16:creationId xmlns:a16="http://schemas.microsoft.com/office/drawing/2014/main" id="{B37F0D28-D8E5-6EF0-430A-20206E0761D3}"/>
                </a:ext>
              </a:extLst>
            </p:cNvPr>
            <p:cNvPicPr/>
            <p:nvPr/>
          </p:nvPicPr>
          <p:blipFill>
            <a:blip r:embed="rId2" cstate="print"/>
            <a:stretch>
              <a:fillRect/>
            </a:stretch>
          </p:blipFill>
          <p:spPr>
            <a:xfrm>
              <a:off x="93469" y="60058"/>
              <a:ext cx="966698" cy="476135"/>
            </a:xfrm>
            <a:prstGeom prst="rect">
              <a:avLst/>
            </a:prstGeom>
          </p:spPr>
        </p:pic>
        <p:sp>
          <p:nvSpPr>
            <p:cNvPr id="11" name="object 11">
              <a:extLst>
                <a:ext uri="{FF2B5EF4-FFF2-40B4-BE49-F238E27FC236}">
                  <a16:creationId xmlns:a16="http://schemas.microsoft.com/office/drawing/2014/main" id="{1C2AE663-DE58-2EF7-48F1-4C0DAC0E8C5D}"/>
                </a:ext>
              </a:extLst>
            </p:cNvPr>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a:p>
          </p:txBody>
        </p:sp>
        <p:sp>
          <p:nvSpPr>
            <p:cNvPr id="12" name="object 12">
              <a:extLst>
                <a:ext uri="{FF2B5EF4-FFF2-40B4-BE49-F238E27FC236}">
                  <a16:creationId xmlns:a16="http://schemas.microsoft.com/office/drawing/2014/main" id="{02187554-772E-F7F7-A326-AE692F22EF79}"/>
                </a:ext>
              </a:extLst>
            </p:cNvPr>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a:p>
          </p:txBody>
        </p:sp>
        <p:sp>
          <p:nvSpPr>
            <p:cNvPr id="13" name="object 13">
              <a:extLst>
                <a:ext uri="{FF2B5EF4-FFF2-40B4-BE49-F238E27FC236}">
                  <a16:creationId xmlns:a16="http://schemas.microsoft.com/office/drawing/2014/main" id="{8206837D-21AB-4CA7-E8E4-6EFCC61F9325}"/>
                </a:ext>
              </a:extLst>
            </p:cNvPr>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a:p>
          </p:txBody>
        </p:sp>
        <p:sp>
          <p:nvSpPr>
            <p:cNvPr id="14" name="object 14">
              <a:extLst>
                <a:ext uri="{FF2B5EF4-FFF2-40B4-BE49-F238E27FC236}">
                  <a16:creationId xmlns:a16="http://schemas.microsoft.com/office/drawing/2014/main" id="{FF46C84F-7A57-915E-7065-3BB2923BA59E}"/>
                </a:ext>
              </a:extLst>
            </p:cNvPr>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a:p>
          </p:txBody>
        </p:sp>
      </p:grpSp>
      <p:sp>
        <p:nvSpPr>
          <p:cNvPr id="15" name="object 15">
            <a:extLst>
              <a:ext uri="{FF2B5EF4-FFF2-40B4-BE49-F238E27FC236}">
                <a16:creationId xmlns:a16="http://schemas.microsoft.com/office/drawing/2014/main" id="{EBA8D358-4442-19CF-37A2-7A0D3FAD0936}"/>
              </a:ext>
            </a:extLst>
          </p:cNvPr>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a:latin typeface="Cambria"/>
              <a:cs typeface="Cambria"/>
            </a:endParaRPr>
          </a:p>
        </p:txBody>
      </p:sp>
      <p:sp>
        <p:nvSpPr>
          <p:cNvPr id="17" name="object 17">
            <a:extLst>
              <a:ext uri="{FF2B5EF4-FFF2-40B4-BE49-F238E27FC236}">
                <a16:creationId xmlns:a16="http://schemas.microsoft.com/office/drawing/2014/main" id="{95CD7E4B-ABA3-859A-9314-083900E0C3F3}"/>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18" name="object 18">
            <a:extLst>
              <a:ext uri="{FF2B5EF4-FFF2-40B4-BE49-F238E27FC236}">
                <a16:creationId xmlns:a16="http://schemas.microsoft.com/office/drawing/2014/main" id="{6A2B2AC2-24D1-7043-9636-76D7B95D3B9B}"/>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26</a:t>
            </a:fld>
            <a:endParaRPr spc="-25" dirty="0"/>
          </a:p>
        </p:txBody>
      </p:sp>
      <p:sp>
        <p:nvSpPr>
          <p:cNvPr id="19" name="TextBox 18">
            <a:extLst>
              <a:ext uri="{FF2B5EF4-FFF2-40B4-BE49-F238E27FC236}">
                <a16:creationId xmlns:a16="http://schemas.microsoft.com/office/drawing/2014/main" id="{04A4E7DC-0BED-3D3D-850D-5BD5D7ACCE68}"/>
              </a:ext>
            </a:extLst>
          </p:cNvPr>
          <p:cNvSpPr txBox="1"/>
          <p:nvPr/>
        </p:nvSpPr>
        <p:spPr>
          <a:xfrm>
            <a:off x="762000" y="1447800"/>
            <a:ext cx="107442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Test Case 2 : When there is activity detected on road at night Street Lights are ON .  </a:t>
            </a:r>
            <a:endParaRPr lang="en-IN" dirty="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5917DE90-3827-DFFC-635C-E2F6E1E03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27" y="2012099"/>
            <a:ext cx="6977349" cy="3619500"/>
          </a:xfrm>
          <a:prstGeom prst="rect">
            <a:avLst/>
          </a:prstGeom>
        </p:spPr>
      </p:pic>
      <p:pic>
        <p:nvPicPr>
          <p:cNvPr id="22" name="Picture 21">
            <a:extLst>
              <a:ext uri="{FF2B5EF4-FFF2-40B4-BE49-F238E27FC236}">
                <a16:creationId xmlns:a16="http://schemas.microsoft.com/office/drawing/2014/main" id="{476100F5-4B43-5B64-9704-9C224964A2D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24374" y="1825701"/>
            <a:ext cx="3429000" cy="4572000"/>
          </a:xfrm>
          <a:prstGeom prst="rect">
            <a:avLst/>
          </a:prstGeom>
        </p:spPr>
      </p:pic>
    </p:spTree>
    <p:extLst>
      <p:ext uri="{BB962C8B-B14F-4D97-AF65-F5344CB8AC3E}">
        <p14:creationId xmlns:p14="http://schemas.microsoft.com/office/powerpoint/2010/main" val="3898825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121081" y="634596"/>
            <a:ext cx="2260413" cy="443070"/>
          </a:xfrm>
          <a:prstGeom prst="rect">
            <a:avLst/>
          </a:prstGeom>
        </p:spPr>
        <p:txBody>
          <a:bodyPr vert="horz" wrap="square" lIns="0" tIns="12065" rIns="0" bIns="0" rtlCol="0">
            <a:spAutoFit/>
          </a:bodyPr>
          <a:lstStyle/>
          <a:p>
            <a:pPr marL="12700">
              <a:lnSpc>
                <a:spcPct val="100000"/>
              </a:lnSpc>
              <a:spcBef>
                <a:spcPts val="95"/>
              </a:spcBef>
            </a:pPr>
            <a:r>
              <a:rPr lang="en-US" sz="2800" b="1" spc="-10" dirty="0">
                <a:latin typeface="Times New Roman" panose="02020603050405020304" pitchFamily="18" charset="0"/>
                <a:cs typeface="Times New Roman" panose="02020603050405020304" pitchFamily="18" charset="0"/>
              </a:rPr>
              <a:t>Future Scope</a:t>
            </a:r>
            <a:endParaRPr sz="2800" b="1"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6902" y="-6311"/>
            <a:ext cx="7394575" cy="609600"/>
            <a:chOff x="6902" y="-6311"/>
            <a:chExt cx="7394575" cy="609600"/>
          </a:xfrm>
        </p:grpSpPr>
        <p:sp>
          <p:nvSpPr>
            <p:cNvPr id="4" name="object 4"/>
            <p:cNvSpPr/>
            <p:nvPr/>
          </p:nvSpPr>
          <p:spPr>
            <a:xfrm>
              <a:off x="13252"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dirty="0"/>
            </a:p>
          </p:txBody>
        </p:sp>
        <p:sp>
          <p:nvSpPr>
            <p:cNvPr id="5" name="object 5"/>
            <p:cNvSpPr/>
            <p:nvPr/>
          </p:nvSpPr>
          <p:spPr>
            <a:xfrm>
              <a:off x="13252" y="38"/>
              <a:ext cx="7381875" cy="596900"/>
            </a:xfrm>
            <a:custGeom>
              <a:avLst/>
              <a:gdLst/>
              <a:ahLst/>
              <a:cxnLst/>
              <a:rect l="l" t="t" r="r" b="b"/>
              <a:pathLst>
                <a:path w="7381875" h="596900">
                  <a:moveTo>
                    <a:pt x="0" y="596353"/>
                  </a:moveTo>
                  <a:lnTo>
                    <a:pt x="7381494" y="596353"/>
                  </a:lnTo>
                  <a:lnTo>
                    <a:pt x="7381494" y="0"/>
                  </a:lnTo>
                  <a:lnTo>
                    <a:pt x="0" y="0"/>
                  </a:lnTo>
                  <a:lnTo>
                    <a:pt x="0" y="596353"/>
                  </a:lnTo>
                  <a:close/>
                </a:path>
              </a:pathLst>
            </a:custGeom>
            <a:ln w="12700">
              <a:solidFill>
                <a:srgbClr val="FF0000"/>
              </a:solidFill>
            </a:ln>
          </p:spPr>
          <p:txBody>
            <a:bodyPr wrap="square" lIns="0" tIns="0" rIns="0" bIns="0" rtlCol="0"/>
            <a:lstStyle/>
            <a:p>
              <a:endParaRPr dirty="0"/>
            </a:p>
          </p:txBody>
        </p:sp>
      </p:grpSp>
      <p:sp>
        <p:nvSpPr>
          <p:cNvPr id="6" name="object 6"/>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Bhujbal</a:t>
            </a:r>
            <a:r>
              <a:rPr spc="-80" dirty="0"/>
              <a:t> </a:t>
            </a:r>
            <a:r>
              <a:rPr spc="-30" dirty="0"/>
              <a:t>Knowledge</a:t>
            </a:r>
            <a:r>
              <a:rPr spc="-114" dirty="0"/>
              <a:t> </a:t>
            </a:r>
            <a:r>
              <a:rPr spc="-20" dirty="0"/>
              <a:t>City</a:t>
            </a:r>
          </a:p>
        </p:txBody>
      </p:sp>
      <p:grpSp>
        <p:nvGrpSpPr>
          <p:cNvPr id="7" name="object 7"/>
          <p:cNvGrpSpPr/>
          <p:nvPr/>
        </p:nvGrpSpPr>
        <p:grpSpPr>
          <a:xfrm>
            <a:off x="93469" y="-6350"/>
            <a:ext cx="12091670" cy="609600"/>
            <a:chOff x="93469" y="-6350"/>
            <a:chExt cx="12091670" cy="609600"/>
          </a:xfrm>
        </p:grpSpPr>
        <p:sp>
          <p:nvSpPr>
            <p:cNvPr id="8" name="object 8"/>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dirty="0"/>
            </a:p>
          </p:txBody>
        </p:sp>
        <p:sp>
          <p:nvSpPr>
            <p:cNvPr id="9" name="object 9"/>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dirty="0"/>
            </a:p>
          </p:txBody>
        </p:sp>
        <p:pic>
          <p:nvPicPr>
            <p:cNvPr id="10" name="object 10"/>
            <p:cNvPicPr/>
            <p:nvPr/>
          </p:nvPicPr>
          <p:blipFill>
            <a:blip r:embed="rId2" cstate="print"/>
            <a:stretch>
              <a:fillRect/>
            </a:stretch>
          </p:blipFill>
          <p:spPr>
            <a:xfrm>
              <a:off x="93469" y="60058"/>
              <a:ext cx="966698" cy="476135"/>
            </a:xfrm>
            <a:prstGeom prst="rect">
              <a:avLst/>
            </a:prstGeom>
          </p:spPr>
        </p:pic>
        <p:sp>
          <p:nvSpPr>
            <p:cNvPr id="11" name="object 11"/>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dirty="0"/>
            </a:p>
          </p:txBody>
        </p:sp>
        <p:sp>
          <p:nvSpPr>
            <p:cNvPr id="12" name="object 12"/>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dirty="0"/>
            </a:p>
          </p:txBody>
        </p:sp>
        <p:sp>
          <p:nvSpPr>
            <p:cNvPr id="13" name="object 13"/>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dirty="0"/>
            </a:p>
          </p:txBody>
        </p:sp>
        <p:sp>
          <p:nvSpPr>
            <p:cNvPr id="14" name="object 14"/>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dirty="0"/>
            </a:p>
          </p:txBody>
        </p:sp>
      </p:grpSp>
      <p:sp>
        <p:nvSpPr>
          <p:cNvPr id="15" name="object 15"/>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dirty="0">
              <a:latin typeface="Cambria"/>
              <a:cs typeface="Cambria"/>
            </a:endParaRP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27</a:t>
            </a:fld>
            <a:endParaRPr spc="-25" dirty="0"/>
          </a:p>
        </p:txBody>
      </p:sp>
      <p:sp>
        <p:nvSpPr>
          <p:cNvPr id="19" name="TextBox 18">
            <a:extLst>
              <a:ext uri="{FF2B5EF4-FFF2-40B4-BE49-F238E27FC236}">
                <a16:creationId xmlns:a16="http://schemas.microsoft.com/office/drawing/2014/main" id="{BF237C91-1C1A-F121-E7F9-DA4545AF38CC}"/>
              </a:ext>
            </a:extLst>
          </p:cNvPr>
          <p:cNvSpPr txBox="1"/>
          <p:nvPr/>
        </p:nvSpPr>
        <p:spPr>
          <a:xfrm>
            <a:off x="383413" y="1623523"/>
            <a:ext cx="11425174" cy="4197559"/>
          </a:xfrm>
          <a:prstGeom prst="rect">
            <a:avLst/>
          </a:prstGeom>
          <a:noFill/>
        </p:spPr>
        <p:txBody>
          <a:bodyPr wrap="square" rtlCol="0">
            <a:spAutoFit/>
          </a:bodyPr>
          <a:lstStyle/>
          <a:p>
            <a:pPr marL="342900" indent="-342900">
              <a:lnSpc>
                <a:spcPct val="150000"/>
              </a:lnSpc>
              <a:buFont typeface="+mj-lt"/>
              <a:buAutoNum type="alphaUcPeriod"/>
            </a:pPr>
            <a:r>
              <a:rPr lang="en-US" b="1" dirty="0">
                <a:latin typeface="Times New Roman" panose="02020603050405020304" pitchFamily="18" charset="0"/>
                <a:cs typeface="Times New Roman" panose="02020603050405020304" pitchFamily="18" charset="0"/>
              </a:rPr>
              <a:t>Integration of Machine Learning for Predictive Maintenance </a:t>
            </a:r>
          </a:p>
          <a:p>
            <a:pPr>
              <a:lnSpc>
                <a:spcPct val="150000"/>
              </a:lnSpc>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 future iterations, historical sensor data (temperature, current, vibration, and brightness) can be used to train predictive models. This will allow the system to forecast potential light or circuit failures before they occur, minimizing downtime and maintenance costs</a:t>
            </a:r>
            <a:r>
              <a:rPr lang="en-US" dirty="0"/>
              <a:t>.</a:t>
            </a:r>
          </a:p>
          <a:p>
            <a:pPr>
              <a:lnSpc>
                <a:spcPct val="150000"/>
              </a:lnSpc>
            </a:pPr>
            <a:r>
              <a:rPr lang="en-US" b="1" dirty="0">
                <a:latin typeface="Times New Roman" panose="02020603050405020304" pitchFamily="18" charset="0"/>
                <a:cs typeface="Times New Roman" panose="02020603050405020304" pitchFamily="18" charset="0"/>
              </a:rPr>
              <a:t>B. </a:t>
            </a:r>
            <a:r>
              <a:rPr lang="en-IN" b="1" dirty="0">
                <a:latin typeface="Times New Roman" panose="02020603050405020304" pitchFamily="18" charset="0"/>
                <a:cs typeface="Times New Roman" panose="02020603050405020304" pitchFamily="18" charset="0"/>
              </a:rPr>
              <a:t>Edge AI for Local Decision-Making </a:t>
            </a:r>
          </a:p>
          <a:p>
            <a:pPr>
              <a:lnSpc>
                <a:spcPct val="150000"/>
              </a:lnSpc>
            </a:pPr>
            <a:r>
              <a:rPr lang="en-IN" dirty="0">
                <a:latin typeface="Times New Roman" panose="02020603050405020304" pitchFamily="18" charset="0"/>
                <a:cs typeface="Times New Roman" panose="02020603050405020304" pitchFamily="18" charset="0"/>
              </a:rPr>
              <a:t>              Implementing lightweight AI models directly on ESP32 microcontrollers can enable real-time, on-device fault classification and adaptive brightness control without constant cloud dependency. </a:t>
            </a:r>
            <a:endParaRPr lang="en-US"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C. Scalability and Cloud Analytics </a:t>
            </a:r>
          </a:p>
          <a:p>
            <a:pPr>
              <a:lnSpc>
                <a:spcPct val="150000"/>
              </a:lnSpc>
            </a:pPr>
            <a:r>
              <a:rPr lang="en-US" dirty="0">
                <a:latin typeface="Times New Roman" panose="02020603050405020304" pitchFamily="18" charset="0"/>
                <a:cs typeface="Times New Roman" panose="02020603050405020304" pitchFamily="18" charset="0"/>
              </a:rPr>
              <a:t>           Future development could focus on building a large-scale cloud platform for multi-city deployment, allowing central monitoring, energy analytics, and AI-based optimization. </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181346" y="709117"/>
            <a:ext cx="1827530" cy="452120"/>
          </a:xfrm>
          <a:prstGeom prst="rect">
            <a:avLst/>
          </a:prstGeom>
        </p:spPr>
        <p:txBody>
          <a:bodyPr vert="horz" wrap="square" lIns="0" tIns="12065" rIns="0" bIns="0" rtlCol="0">
            <a:spAutoFit/>
          </a:bodyPr>
          <a:lstStyle/>
          <a:p>
            <a:pPr marL="12700">
              <a:lnSpc>
                <a:spcPct val="100000"/>
              </a:lnSpc>
              <a:spcBef>
                <a:spcPts val="95"/>
              </a:spcBef>
            </a:pPr>
            <a:r>
              <a:rPr lang="en-US" sz="2800" b="1" spc="-10" dirty="0">
                <a:latin typeface="Cambria"/>
                <a:cs typeface="Cambria"/>
              </a:rPr>
              <a:t>Conclusion</a:t>
            </a:r>
            <a:endParaRPr sz="2800" dirty="0">
              <a:latin typeface="Cambria"/>
              <a:cs typeface="Cambria"/>
            </a:endParaRPr>
          </a:p>
        </p:txBody>
      </p:sp>
      <p:grpSp>
        <p:nvGrpSpPr>
          <p:cNvPr id="3" name="object 3"/>
          <p:cNvGrpSpPr/>
          <p:nvPr/>
        </p:nvGrpSpPr>
        <p:grpSpPr>
          <a:xfrm>
            <a:off x="6902" y="-6311"/>
            <a:ext cx="7394575" cy="609600"/>
            <a:chOff x="6902" y="-6311"/>
            <a:chExt cx="7394575" cy="609600"/>
          </a:xfrm>
        </p:grpSpPr>
        <p:sp>
          <p:nvSpPr>
            <p:cNvPr id="4" name="object 4"/>
            <p:cNvSpPr/>
            <p:nvPr/>
          </p:nvSpPr>
          <p:spPr>
            <a:xfrm>
              <a:off x="13252"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dirty="0"/>
            </a:p>
          </p:txBody>
        </p:sp>
        <p:sp>
          <p:nvSpPr>
            <p:cNvPr id="5" name="object 5"/>
            <p:cNvSpPr/>
            <p:nvPr/>
          </p:nvSpPr>
          <p:spPr>
            <a:xfrm>
              <a:off x="13252" y="38"/>
              <a:ext cx="7381875" cy="596900"/>
            </a:xfrm>
            <a:custGeom>
              <a:avLst/>
              <a:gdLst/>
              <a:ahLst/>
              <a:cxnLst/>
              <a:rect l="l" t="t" r="r" b="b"/>
              <a:pathLst>
                <a:path w="7381875" h="596900">
                  <a:moveTo>
                    <a:pt x="0" y="596353"/>
                  </a:moveTo>
                  <a:lnTo>
                    <a:pt x="7381494" y="596353"/>
                  </a:lnTo>
                  <a:lnTo>
                    <a:pt x="7381494" y="0"/>
                  </a:lnTo>
                  <a:lnTo>
                    <a:pt x="0" y="0"/>
                  </a:lnTo>
                  <a:lnTo>
                    <a:pt x="0" y="596353"/>
                  </a:lnTo>
                  <a:close/>
                </a:path>
              </a:pathLst>
            </a:custGeom>
            <a:ln w="12700">
              <a:solidFill>
                <a:srgbClr val="FF0000"/>
              </a:solidFill>
            </a:ln>
          </p:spPr>
          <p:txBody>
            <a:bodyPr wrap="square" lIns="0" tIns="0" rIns="0" bIns="0" rtlCol="0"/>
            <a:lstStyle/>
            <a:p>
              <a:endParaRPr dirty="0"/>
            </a:p>
          </p:txBody>
        </p:sp>
      </p:grpSp>
      <p:sp>
        <p:nvSpPr>
          <p:cNvPr id="6" name="object 6"/>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Bhujbal</a:t>
            </a:r>
            <a:r>
              <a:rPr spc="-80" dirty="0"/>
              <a:t> </a:t>
            </a:r>
            <a:r>
              <a:rPr spc="-30" dirty="0"/>
              <a:t>Knowledge</a:t>
            </a:r>
            <a:r>
              <a:rPr spc="-114" dirty="0"/>
              <a:t> </a:t>
            </a:r>
            <a:r>
              <a:rPr spc="-20" dirty="0"/>
              <a:t>City</a:t>
            </a:r>
          </a:p>
        </p:txBody>
      </p:sp>
      <p:grpSp>
        <p:nvGrpSpPr>
          <p:cNvPr id="7" name="object 7"/>
          <p:cNvGrpSpPr/>
          <p:nvPr/>
        </p:nvGrpSpPr>
        <p:grpSpPr>
          <a:xfrm>
            <a:off x="93469" y="-6350"/>
            <a:ext cx="12091670" cy="609600"/>
            <a:chOff x="93469" y="-6350"/>
            <a:chExt cx="12091670" cy="609600"/>
          </a:xfrm>
        </p:grpSpPr>
        <p:sp>
          <p:nvSpPr>
            <p:cNvPr id="8" name="object 8"/>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dirty="0"/>
            </a:p>
          </p:txBody>
        </p:sp>
        <p:sp>
          <p:nvSpPr>
            <p:cNvPr id="9" name="object 9"/>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dirty="0"/>
            </a:p>
          </p:txBody>
        </p:sp>
        <p:pic>
          <p:nvPicPr>
            <p:cNvPr id="10" name="object 10"/>
            <p:cNvPicPr/>
            <p:nvPr/>
          </p:nvPicPr>
          <p:blipFill>
            <a:blip r:embed="rId2" cstate="print"/>
            <a:stretch>
              <a:fillRect/>
            </a:stretch>
          </p:blipFill>
          <p:spPr>
            <a:xfrm>
              <a:off x="93469" y="60058"/>
              <a:ext cx="966698" cy="476135"/>
            </a:xfrm>
            <a:prstGeom prst="rect">
              <a:avLst/>
            </a:prstGeom>
          </p:spPr>
        </p:pic>
        <p:sp>
          <p:nvSpPr>
            <p:cNvPr id="11" name="object 11"/>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dirty="0"/>
            </a:p>
          </p:txBody>
        </p:sp>
        <p:sp>
          <p:nvSpPr>
            <p:cNvPr id="12" name="object 12"/>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dirty="0"/>
            </a:p>
          </p:txBody>
        </p:sp>
        <p:sp>
          <p:nvSpPr>
            <p:cNvPr id="13" name="object 13"/>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dirty="0"/>
            </a:p>
          </p:txBody>
        </p:sp>
        <p:sp>
          <p:nvSpPr>
            <p:cNvPr id="14" name="object 14"/>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dirty="0"/>
            </a:p>
          </p:txBody>
        </p:sp>
      </p:grpSp>
      <p:sp>
        <p:nvSpPr>
          <p:cNvPr id="15" name="object 15"/>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dirty="0">
              <a:latin typeface="Cambria"/>
              <a:cs typeface="Cambria"/>
            </a:endParaRP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28</a:t>
            </a:fld>
            <a:endParaRPr spc="-25" dirty="0"/>
          </a:p>
        </p:txBody>
      </p:sp>
      <p:sp>
        <p:nvSpPr>
          <p:cNvPr id="19" name="TextBox 18">
            <a:extLst>
              <a:ext uri="{FF2B5EF4-FFF2-40B4-BE49-F238E27FC236}">
                <a16:creationId xmlns:a16="http://schemas.microsoft.com/office/drawing/2014/main" id="{07BBC3EC-3B60-AFC8-44B1-80E385F8AD06}"/>
              </a:ext>
            </a:extLst>
          </p:cNvPr>
          <p:cNvSpPr txBox="1"/>
          <p:nvPr/>
        </p:nvSpPr>
        <p:spPr>
          <a:xfrm>
            <a:off x="762000" y="1295400"/>
            <a:ext cx="10551286" cy="4197559"/>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The proposed Smart Street Light Monitoring and Fault Detection System successfully demonstrates the integration of IoT technology to enhance the efficiency, reliability, and automation of conventional streetlight systems. By utilizing sensors such as LDR, PIR, vibration, temperature, and current sensors, combined with an ESP32 microcontroller and cloud-based monitoring, the system ensures intelligent illumination control and real-time fault </a:t>
            </a:r>
            <a:r>
              <a:rPr lang="en-US" err="1">
                <a:latin typeface="Times New Roman" panose="02020603050405020304" pitchFamily="18" charset="0"/>
                <a:cs typeface="Times New Roman" panose="02020603050405020304" pitchFamily="18" charset="0"/>
              </a:rPr>
              <a:t>detection</a:t>
            </a:r>
            <a:r>
              <a:rPr lang="en-US">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developed prototype minimizes energy wastage by dynamically adjusting the brightness of streetlights based on environmental light levels and human or vehicle movement. Additionally, the inclusion of fault detection and alert mechanisms through platforms like Firebase and Telegram bot enables faster maintenance response and reduces manual inspection </a:t>
            </a:r>
            <a:r>
              <a:rPr lang="en-US" dirty="0" err="1">
                <a:latin typeface="Times New Roman" panose="02020603050405020304" pitchFamily="18" charset="0"/>
                <a:cs typeface="Times New Roman" panose="02020603050405020304" pitchFamily="18" charset="0"/>
              </a:rPr>
              <a:t>requirements.This</a:t>
            </a:r>
            <a:r>
              <a:rPr lang="en-US" dirty="0">
                <a:latin typeface="Times New Roman" panose="02020603050405020304" pitchFamily="18" charset="0"/>
                <a:cs typeface="Times New Roman" panose="02020603050405020304" pitchFamily="18" charset="0"/>
              </a:rPr>
              <a:t> system not only supports the goal of sustainable urban development but also demonstrates the potential for smart infrastructure deployment in smart cities.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81346" y="709117"/>
            <a:ext cx="1827530" cy="452120"/>
          </a:xfrm>
          <a:prstGeom prst="rect">
            <a:avLst/>
          </a:prstGeom>
        </p:spPr>
        <p:txBody>
          <a:bodyPr vert="horz" wrap="square" lIns="0" tIns="12065" rIns="0" bIns="0" rtlCol="0">
            <a:spAutoFit/>
          </a:bodyPr>
          <a:lstStyle/>
          <a:p>
            <a:pPr marL="12700">
              <a:lnSpc>
                <a:spcPct val="100000"/>
              </a:lnSpc>
              <a:spcBef>
                <a:spcPts val="95"/>
              </a:spcBef>
            </a:pPr>
            <a:r>
              <a:rPr sz="2800" spc="-10" dirty="0">
                <a:latin typeface="Times New Roman" panose="02020603050405020304" pitchFamily="18" charset="0"/>
                <a:cs typeface="Times New Roman" panose="02020603050405020304" pitchFamily="18" charset="0"/>
              </a:rPr>
              <a:t>References</a:t>
            </a:r>
            <a:endParaRPr sz="2800"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6902" y="-6311"/>
            <a:ext cx="7394575" cy="609600"/>
            <a:chOff x="6902" y="-6311"/>
            <a:chExt cx="7394575" cy="609600"/>
          </a:xfrm>
        </p:grpSpPr>
        <p:sp>
          <p:nvSpPr>
            <p:cNvPr id="4" name="object 4"/>
            <p:cNvSpPr/>
            <p:nvPr/>
          </p:nvSpPr>
          <p:spPr>
            <a:xfrm>
              <a:off x="13252"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a:p>
          </p:txBody>
        </p:sp>
        <p:sp>
          <p:nvSpPr>
            <p:cNvPr id="5" name="object 5"/>
            <p:cNvSpPr/>
            <p:nvPr/>
          </p:nvSpPr>
          <p:spPr>
            <a:xfrm>
              <a:off x="13252" y="38"/>
              <a:ext cx="7381875" cy="596900"/>
            </a:xfrm>
            <a:custGeom>
              <a:avLst/>
              <a:gdLst/>
              <a:ahLst/>
              <a:cxnLst/>
              <a:rect l="l" t="t" r="r" b="b"/>
              <a:pathLst>
                <a:path w="7381875" h="596900">
                  <a:moveTo>
                    <a:pt x="0" y="596353"/>
                  </a:moveTo>
                  <a:lnTo>
                    <a:pt x="7381494" y="596353"/>
                  </a:lnTo>
                  <a:lnTo>
                    <a:pt x="7381494" y="0"/>
                  </a:lnTo>
                  <a:lnTo>
                    <a:pt x="0" y="0"/>
                  </a:lnTo>
                  <a:lnTo>
                    <a:pt x="0" y="596353"/>
                  </a:lnTo>
                  <a:close/>
                </a:path>
              </a:pathLst>
            </a:custGeom>
            <a:ln w="12700">
              <a:solidFill>
                <a:srgbClr val="FF0000"/>
              </a:solidFill>
            </a:ln>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Bhujbal</a:t>
            </a:r>
            <a:r>
              <a:rPr spc="-80" dirty="0"/>
              <a:t> </a:t>
            </a:r>
            <a:r>
              <a:rPr spc="-30" dirty="0"/>
              <a:t>Knowledge</a:t>
            </a:r>
            <a:r>
              <a:rPr spc="-114" dirty="0"/>
              <a:t> </a:t>
            </a:r>
            <a:r>
              <a:rPr spc="-20" dirty="0"/>
              <a:t>City</a:t>
            </a:r>
          </a:p>
        </p:txBody>
      </p:sp>
      <p:grpSp>
        <p:nvGrpSpPr>
          <p:cNvPr id="7" name="object 7"/>
          <p:cNvGrpSpPr/>
          <p:nvPr/>
        </p:nvGrpSpPr>
        <p:grpSpPr>
          <a:xfrm>
            <a:off x="93469" y="-6350"/>
            <a:ext cx="12091670" cy="609600"/>
            <a:chOff x="93469" y="-6350"/>
            <a:chExt cx="12091670" cy="609600"/>
          </a:xfrm>
        </p:grpSpPr>
        <p:sp>
          <p:nvSpPr>
            <p:cNvPr id="8" name="object 8"/>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a:p>
          </p:txBody>
        </p:sp>
        <p:sp>
          <p:nvSpPr>
            <p:cNvPr id="9" name="object 9"/>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93469" y="60058"/>
              <a:ext cx="966698" cy="476135"/>
            </a:xfrm>
            <a:prstGeom prst="rect">
              <a:avLst/>
            </a:prstGeom>
          </p:spPr>
        </p:pic>
        <p:sp>
          <p:nvSpPr>
            <p:cNvPr id="11" name="object 11"/>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a:p>
          </p:txBody>
        </p:sp>
        <p:sp>
          <p:nvSpPr>
            <p:cNvPr id="12" name="object 12"/>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a:p>
          </p:txBody>
        </p:sp>
        <p:sp>
          <p:nvSpPr>
            <p:cNvPr id="13" name="object 13"/>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a:p>
          </p:txBody>
        </p:sp>
        <p:sp>
          <p:nvSpPr>
            <p:cNvPr id="14" name="object 14"/>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a:p>
          </p:txBody>
        </p:sp>
      </p:grpSp>
      <p:sp>
        <p:nvSpPr>
          <p:cNvPr id="15" name="object 15"/>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a:latin typeface="Cambria"/>
              <a:cs typeface="Cambria"/>
            </a:endParaRP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29</a:t>
            </a:fld>
            <a:endParaRPr spc="-25" dirty="0"/>
          </a:p>
        </p:txBody>
      </p:sp>
      <p:sp>
        <p:nvSpPr>
          <p:cNvPr id="16" name="object 16"/>
          <p:cNvSpPr txBox="1"/>
          <p:nvPr/>
        </p:nvSpPr>
        <p:spPr>
          <a:xfrm>
            <a:off x="206655" y="1313002"/>
            <a:ext cx="11533531" cy="4580356"/>
          </a:xfrm>
          <a:prstGeom prst="rect">
            <a:avLst/>
          </a:prstGeom>
        </p:spPr>
        <p:txBody>
          <a:bodyPr vert="horz" wrap="square" lIns="0" tIns="13335" rIns="0" bIns="0" rtlCol="0">
            <a:spAutoFit/>
          </a:bodyPr>
          <a:lstStyle/>
          <a:p>
            <a:pPr>
              <a:lnSpc>
                <a:spcPct val="150000"/>
              </a:lnSpc>
              <a:spcBef>
                <a:spcPts val="1610"/>
              </a:spcBef>
            </a:pPr>
            <a:endParaRPr sz="2000"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1. L. J. Varghese, P. SR, R. M., and R. P. E., “Energy-Efficient Smart Street Lighting with Fault Detection and Real-Time Monitoring,” in </a:t>
            </a:r>
            <a:r>
              <a:rPr lang="en-IN" i="1" dirty="0">
                <a:latin typeface="Times New Roman" panose="02020603050405020304" pitchFamily="18" charset="0"/>
                <a:cs typeface="Times New Roman" panose="02020603050405020304" pitchFamily="18" charset="0"/>
              </a:rPr>
              <a:t>Proc. 2025 Int. Conf. Inventive Computation Technologies (ICICT)</a:t>
            </a:r>
            <a:r>
              <a:rPr lang="en-IN" dirty="0">
                <a:latin typeface="Times New Roman" panose="02020603050405020304" pitchFamily="18" charset="0"/>
                <a:cs typeface="Times New Roman" panose="02020603050405020304" pitchFamily="18" charset="0"/>
              </a:rPr>
              <a:t>, pp. 1–7, 2025, </a:t>
            </a:r>
          </a:p>
          <a:p>
            <a:pPr>
              <a:lnSpc>
                <a:spcPct val="150000"/>
              </a:lnSpc>
            </a:pP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10.1109/ICICT64420.2025.11004986.</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2. S. Selvam, S. Manivannan, T. Saravanan, and R. G., “Street Light Fault Detection and Control System – Urban Glow,” </a:t>
            </a:r>
          </a:p>
          <a:p>
            <a:pPr>
              <a:lnSpc>
                <a:spcPct val="150000"/>
              </a:lnSpc>
            </a:pPr>
            <a:r>
              <a:rPr lang="en-IN" i="1" dirty="0">
                <a:latin typeface="Times New Roman" panose="02020603050405020304" pitchFamily="18" charset="0"/>
                <a:cs typeface="Times New Roman" panose="02020603050405020304" pitchFamily="18" charset="0"/>
              </a:rPr>
              <a:t>Int. J. Eng. Res. Electron. Commun. Eng. (IJERECE)</a:t>
            </a:r>
            <a:r>
              <a:rPr lang="en-IN" dirty="0">
                <a:latin typeface="Times New Roman" panose="02020603050405020304" pitchFamily="18" charset="0"/>
                <a:cs typeface="Times New Roman" panose="02020603050405020304" pitchFamily="18" charset="0"/>
              </a:rPr>
              <a:t>, vol. 11, Jul. 2024.</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3. S. K. </a:t>
            </a:r>
            <a:r>
              <a:rPr lang="en-IN" dirty="0" err="1">
                <a:latin typeface="Times New Roman" panose="02020603050405020304" pitchFamily="18" charset="0"/>
                <a:cs typeface="Times New Roman" panose="02020603050405020304" pitchFamily="18" charset="0"/>
              </a:rPr>
              <a:t>Saravanaraaj</a:t>
            </a:r>
            <a:r>
              <a:rPr lang="en-IN" dirty="0">
                <a:latin typeface="Times New Roman" panose="02020603050405020304" pitchFamily="18" charset="0"/>
                <a:cs typeface="Times New Roman" panose="02020603050405020304" pitchFamily="18" charset="0"/>
              </a:rPr>
              <a:t>, P. Kavitha, N. Vishal, Y. Sukhi, G. S. Sriram, and Y. Jeyashree, “PV Based Sensors for Smart Street Light Fault Detection and Tracking,” in </a:t>
            </a:r>
            <a:r>
              <a:rPr lang="en-IN" i="1" dirty="0">
                <a:latin typeface="Times New Roman" panose="02020603050405020304" pitchFamily="18" charset="0"/>
                <a:cs typeface="Times New Roman" panose="02020603050405020304" pitchFamily="18" charset="0"/>
              </a:rPr>
              <a:t>Proc. 2025 5th Int. Conf. Expert Clouds and Applications (ICOECA)</a:t>
            </a:r>
            <a:r>
              <a:rPr lang="en-IN" dirty="0">
                <a:latin typeface="Times New Roman" panose="02020603050405020304" pitchFamily="18" charset="0"/>
                <a:cs typeface="Times New Roman" panose="02020603050405020304" pitchFamily="18" charset="0"/>
              </a:rPr>
              <a:t>, 2025.</a:t>
            </a:r>
          </a:p>
          <a:p>
            <a:pPr marL="12700" marR="5715" algn="l">
              <a:lnSpc>
                <a:spcPct val="150000"/>
              </a:lnSpc>
              <a:tabLst>
                <a:tab pos="399415" algn="l"/>
              </a:tabLst>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81346" y="709117"/>
            <a:ext cx="1827530" cy="452120"/>
          </a:xfrm>
          <a:prstGeom prst="rect">
            <a:avLst/>
          </a:prstGeom>
        </p:spPr>
        <p:txBody>
          <a:bodyPr vert="horz" wrap="square" lIns="0" tIns="12065" rIns="0" bIns="0" rtlCol="0">
            <a:spAutoFit/>
          </a:bodyPr>
          <a:lstStyle/>
          <a:p>
            <a:pPr marL="12700">
              <a:lnSpc>
                <a:spcPct val="100000"/>
              </a:lnSpc>
              <a:spcBef>
                <a:spcPts val="95"/>
              </a:spcBef>
            </a:pPr>
            <a:r>
              <a:rPr sz="2800" b="1" spc="-10" dirty="0">
                <a:latin typeface="Cambria"/>
                <a:cs typeface="Cambria"/>
              </a:rPr>
              <a:t>References</a:t>
            </a:r>
            <a:endParaRPr sz="2800">
              <a:latin typeface="Cambria"/>
              <a:cs typeface="Cambria"/>
            </a:endParaRPr>
          </a:p>
        </p:txBody>
      </p:sp>
      <p:grpSp>
        <p:nvGrpSpPr>
          <p:cNvPr id="3" name="object 3"/>
          <p:cNvGrpSpPr/>
          <p:nvPr/>
        </p:nvGrpSpPr>
        <p:grpSpPr>
          <a:xfrm>
            <a:off x="6902" y="-6311"/>
            <a:ext cx="7394575" cy="609600"/>
            <a:chOff x="6902" y="-6311"/>
            <a:chExt cx="7394575" cy="609600"/>
          </a:xfrm>
        </p:grpSpPr>
        <p:sp>
          <p:nvSpPr>
            <p:cNvPr id="4" name="object 4"/>
            <p:cNvSpPr/>
            <p:nvPr/>
          </p:nvSpPr>
          <p:spPr>
            <a:xfrm>
              <a:off x="13252"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a:p>
          </p:txBody>
        </p:sp>
        <p:sp>
          <p:nvSpPr>
            <p:cNvPr id="5" name="object 5"/>
            <p:cNvSpPr/>
            <p:nvPr/>
          </p:nvSpPr>
          <p:spPr>
            <a:xfrm>
              <a:off x="13252" y="38"/>
              <a:ext cx="7381875" cy="596900"/>
            </a:xfrm>
            <a:custGeom>
              <a:avLst/>
              <a:gdLst/>
              <a:ahLst/>
              <a:cxnLst/>
              <a:rect l="l" t="t" r="r" b="b"/>
              <a:pathLst>
                <a:path w="7381875" h="596900">
                  <a:moveTo>
                    <a:pt x="0" y="596353"/>
                  </a:moveTo>
                  <a:lnTo>
                    <a:pt x="7381494" y="596353"/>
                  </a:lnTo>
                  <a:lnTo>
                    <a:pt x="7381494" y="0"/>
                  </a:lnTo>
                  <a:lnTo>
                    <a:pt x="0" y="0"/>
                  </a:lnTo>
                  <a:lnTo>
                    <a:pt x="0" y="596353"/>
                  </a:lnTo>
                  <a:close/>
                </a:path>
              </a:pathLst>
            </a:custGeom>
            <a:ln w="12700">
              <a:solidFill>
                <a:srgbClr val="FF0000"/>
              </a:solidFill>
            </a:ln>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Bhujbal</a:t>
            </a:r>
            <a:r>
              <a:rPr spc="-80" dirty="0"/>
              <a:t> </a:t>
            </a:r>
            <a:r>
              <a:rPr spc="-30" dirty="0"/>
              <a:t>Knowledge</a:t>
            </a:r>
            <a:r>
              <a:rPr spc="-114" dirty="0"/>
              <a:t> </a:t>
            </a:r>
            <a:r>
              <a:rPr spc="-20" dirty="0"/>
              <a:t>City</a:t>
            </a:r>
          </a:p>
        </p:txBody>
      </p:sp>
      <p:grpSp>
        <p:nvGrpSpPr>
          <p:cNvPr id="7" name="object 7"/>
          <p:cNvGrpSpPr/>
          <p:nvPr/>
        </p:nvGrpSpPr>
        <p:grpSpPr>
          <a:xfrm>
            <a:off x="93469" y="-6350"/>
            <a:ext cx="12091670" cy="609600"/>
            <a:chOff x="93469" y="-6350"/>
            <a:chExt cx="12091670" cy="609600"/>
          </a:xfrm>
        </p:grpSpPr>
        <p:sp>
          <p:nvSpPr>
            <p:cNvPr id="8" name="object 8"/>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a:p>
          </p:txBody>
        </p:sp>
        <p:sp>
          <p:nvSpPr>
            <p:cNvPr id="9" name="object 9"/>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93469" y="60058"/>
              <a:ext cx="966698" cy="476135"/>
            </a:xfrm>
            <a:prstGeom prst="rect">
              <a:avLst/>
            </a:prstGeom>
          </p:spPr>
        </p:pic>
        <p:sp>
          <p:nvSpPr>
            <p:cNvPr id="11" name="object 11"/>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a:p>
          </p:txBody>
        </p:sp>
        <p:sp>
          <p:nvSpPr>
            <p:cNvPr id="12" name="object 12"/>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a:p>
          </p:txBody>
        </p:sp>
        <p:sp>
          <p:nvSpPr>
            <p:cNvPr id="13" name="object 13"/>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a:p>
          </p:txBody>
        </p:sp>
        <p:sp>
          <p:nvSpPr>
            <p:cNvPr id="14" name="object 14"/>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a:p>
          </p:txBody>
        </p:sp>
      </p:grpSp>
      <p:sp>
        <p:nvSpPr>
          <p:cNvPr id="15" name="object 15"/>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a:latin typeface="Cambria"/>
              <a:cs typeface="Cambria"/>
            </a:endParaRP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30</a:t>
            </a:fld>
            <a:endParaRPr spc="-25" dirty="0"/>
          </a:p>
        </p:txBody>
      </p:sp>
      <p:sp>
        <p:nvSpPr>
          <p:cNvPr id="16" name="object 16"/>
          <p:cNvSpPr txBox="1"/>
          <p:nvPr/>
        </p:nvSpPr>
        <p:spPr>
          <a:xfrm>
            <a:off x="381000" y="1545059"/>
            <a:ext cx="11678920" cy="4603824"/>
          </a:xfrm>
          <a:prstGeom prst="rect">
            <a:avLst/>
          </a:prstGeom>
        </p:spPr>
        <p:txBody>
          <a:bodyPr vert="horz" wrap="square" lIns="0" tIns="12700" rIns="0" bIns="0" rtlCol="0">
            <a:spAutoFit/>
          </a:bodyPr>
          <a:lstStyle/>
          <a:p>
            <a:pPr marL="12700" marR="6350">
              <a:spcBef>
                <a:spcPts val="100"/>
              </a:spcBef>
              <a:tabLst>
                <a:tab pos="591185" algn="l"/>
                <a:tab pos="927100" algn="l"/>
                <a:tab pos="2164715" algn="l"/>
                <a:tab pos="2513330" algn="l"/>
                <a:tab pos="2862580" algn="l"/>
                <a:tab pos="3985895" algn="l"/>
                <a:tab pos="4295140" algn="l"/>
                <a:tab pos="5069205" algn="l"/>
                <a:tab pos="5717540" algn="l"/>
                <a:tab pos="6510020" algn="l"/>
                <a:tab pos="7275195" algn="l"/>
                <a:tab pos="7936230" algn="l"/>
                <a:tab pos="10724515" algn="l"/>
                <a:tab pos="11163300" algn="l"/>
              </a:tabLst>
            </a:pPr>
            <a:r>
              <a:rPr lang="en-IN" spc="-10" dirty="0">
                <a:latin typeface="Times New Roman" panose="02020603050405020304" pitchFamily="18" charset="0"/>
                <a:cs typeface="Times New Roman" panose="02020603050405020304" pitchFamily="18" charset="0"/>
              </a:rPr>
              <a:t>4. </a:t>
            </a:r>
            <a:r>
              <a:rPr sz="1800" spc="-10" dirty="0">
                <a:latin typeface="Times New Roman" panose="02020603050405020304" pitchFamily="18" charset="0"/>
                <a:cs typeface="Times New Roman" panose="02020603050405020304" pitchFamily="18" charset="0"/>
              </a:rPr>
              <a:t>S.</a:t>
            </a:r>
            <a:r>
              <a:rPr sz="1800"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C.</a:t>
            </a:r>
            <a:r>
              <a:rPr sz="180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Suseendran,</a:t>
            </a:r>
            <a:r>
              <a:rPr sz="1800"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N.</a:t>
            </a:r>
            <a:r>
              <a:rPr sz="1800"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K.</a:t>
            </a:r>
            <a:r>
              <a:rPr sz="1800" dirty="0">
                <a:latin typeface="Times New Roman" panose="02020603050405020304" pitchFamily="18" charset="0"/>
                <a:cs typeface="Times New Roman" panose="02020603050405020304" pitchFamily="18" charset="0"/>
              </a:rPr>
              <a:t>	B</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4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M.</a:t>
            </a:r>
            <a:r>
              <a:rPr sz="1800"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S.</a:t>
            </a:r>
            <a:r>
              <a:rPr sz="180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Bennet</a:t>
            </a:r>
            <a:r>
              <a:rPr sz="180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Praba</a:t>
            </a:r>
            <a:r>
              <a:rPr sz="180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(2018),</a:t>
            </a:r>
            <a:r>
              <a:rPr sz="180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"Smart</a:t>
            </a:r>
            <a:r>
              <a:rPr sz="180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Street</a:t>
            </a:r>
            <a:r>
              <a:rPr sz="1800" dirty="0">
                <a:latin typeface="Times New Roman" panose="02020603050405020304" pitchFamily="18" charset="0"/>
                <a:cs typeface="Times New Roman" panose="02020603050405020304" pitchFamily="18" charset="0"/>
              </a:rPr>
              <a:t>	Lighting</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System,"</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in</a:t>
            </a:r>
            <a:r>
              <a:rPr sz="1800" spc="25" dirty="0">
                <a:latin typeface="Times New Roman" panose="02020603050405020304" pitchFamily="18" charset="0"/>
                <a:cs typeface="Times New Roman" panose="02020603050405020304" pitchFamily="18" charset="0"/>
              </a:rPr>
              <a:t>  </a:t>
            </a:r>
            <a:r>
              <a:rPr sz="1800" i="1" spc="-10" dirty="0">
                <a:latin typeface="Times New Roman" panose="02020603050405020304" pitchFamily="18" charset="0"/>
                <a:cs typeface="Times New Roman" panose="02020603050405020304" pitchFamily="18" charset="0"/>
              </a:rPr>
              <a:t>Proc.</a:t>
            </a:r>
            <a:r>
              <a:rPr sz="1800" i="1" dirty="0">
                <a:latin typeface="Times New Roman" panose="02020603050405020304" pitchFamily="18" charset="0"/>
                <a:cs typeface="Times New Roman" panose="02020603050405020304" pitchFamily="18" charset="0"/>
              </a:rPr>
              <a:t>	</a:t>
            </a:r>
            <a:r>
              <a:rPr sz="1800" i="1" spc="-20" dirty="0">
                <a:latin typeface="Times New Roman" panose="02020603050405020304" pitchFamily="18" charset="0"/>
                <a:cs typeface="Times New Roman" panose="02020603050405020304" pitchFamily="18" charset="0"/>
              </a:rPr>
              <a:t>Int.</a:t>
            </a:r>
            <a:r>
              <a:rPr sz="1800" i="1" dirty="0">
                <a:latin typeface="Times New Roman" panose="02020603050405020304" pitchFamily="18" charset="0"/>
                <a:cs typeface="Times New Roman" panose="02020603050405020304" pitchFamily="18" charset="0"/>
              </a:rPr>
              <a:t>	</a:t>
            </a:r>
            <a:r>
              <a:rPr sz="1800" i="1" spc="-10" dirty="0">
                <a:latin typeface="Times New Roman" panose="02020603050405020304" pitchFamily="18" charset="0"/>
                <a:cs typeface="Times New Roman" panose="02020603050405020304" pitchFamily="18" charset="0"/>
              </a:rPr>
              <a:t>Conf. </a:t>
            </a:r>
            <a:r>
              <a:rPr sz="1800" i="1" dirty="0">
                <a:latin typeface="Times New Roman" panose="02020603050405020304" pitchFamily="18" charset="0"/>
                <a:cs typeface="Times New Roman" panose="02020603050405020304" pitchFamily="18" charset="0"/>
              </a:rPr>
              <a:t>Communication</a:t>
            </a:r>
            <a:r>
              <a:rPr sz="1800" i="1" spc="-35" dirty="0">
                <a:latin typeface="Times New Roman" panose="02020603050405020304" pitchFamily="18" charset="0"/>
                <a:cs typeface="Times New Roman" panose="02020603050405020304" pitchFamily="18" charset="0"/>
              </a:rPr>
              <a:t> </a:t>
            </a:r>
            <a:r>
              <a:rPr sz="1800" i="1" dirty="0">
                <a:latin typeface="Times New Roman" panose="02020603050405020304" pitchFamily="18" charset="0"/>
                <a:cs typeface="Times New Roman" panose="02020603050405020304" pitchFamily="18" charset="0"/>
              </a:rPr>
              <a:t>and</a:t>
            </a:r>
            <a:r>
              <a:rPr sz="1800" i="1" spc="-35" dirty="0">
                <a:latin typeface="Times New Roman" panose="02020603050405020304" pitchFamily="18" charset="0"/>
                <a:cs typeface="Times New Roman" panose="02020603050405020304" pitchFamily="18" charset="0"/>
              </a:rPr>
              <a:t> </a:t>
            </a:r>
            <a:r>
              <a:rPr sz="1800" i="1" spc="-10" dirty="0">
                <a:latin typeface="Times New Roman" panose="02020603050405020304" pitchFamily="18" charset="0"/>
                <a:cs typeface="Times New Roman" panose="02020603050405020304" pitchFamily="18" charset="0"/>
              </a:rPr>
              <a:t>Electronics</a:t>
            </a:r>
            <a:r>
              <a:rPr sz="1800" i="1" spc="-30" dirty="0">
                <a:latin typeface="Times New Roman" panose="02020603050405020304" pitchFamily="18" charset="0"/>
                <a:cs typeface="Times New Roman" panose="02020603050405020304" pitchFamily="18" charset="0"/>
              </a:rPr>
              <a:t> </a:t>
            </a:r>
            <a:r>
              <a:rPr sz="1800" i="1" dirty="0">
                <a:latin typeface="Times New Roman" panose="02020603050405020304" pitchFamily="18" charset="0"/>
                <a:cs typeface="Times New Roman" panose="02020603050405020304" pitchFamily="18" charset="0"/>
              </a:rPr>
              <a:t>Systems</a:t>
            </a:r>
            <a:r>
              <a:rPr sz="1800" i="1" spc="-40" dirty="0">
                <a:latin typeface="Times New Roman" panose="02020603050405020304" pitchFamily="18" charset="0"/>
                <a:cs typeface="Times New Roman" panose="02020603050405020304" pitchFamily="18" charset="0"/>
              </a:rPr>
              <a:t> </a:t>
            </a:r>
            <a:r>
              <a:rPr sz="1800" i="1" dirty="0">
                <a:latin typeface="Times New Roman" panose="02020603050405020304" pitchFamily="18" charset="0"/>
                <a:cs typeface="Times New Roman" panose="02020603050405020304" pitchFamily="18" charset="0"/>
              </a:rPr>
              <a:t>(ICCES)</a:t>
            </a:r>
            <a:r>
              <a:rPr sz="1800" dirty="0">
                <a:latin typeface="Times New Roman" panose="02020603050405020304" pitchFamily="18" charset="0"/>
                <a:cs typeface="Times New Roman" panose="02020603050405020304" pitchFamily="18" charset="0"/>
              </a:rPr>
              <a:t>,</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pp.</a:t>
            </a:r>
            <a:r>
              <a:rPr sz="1800" spc="-3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630-</a:t>
            </a:r>
            <a:r>
              <a:rPr sz="1800" dirty="0">
                <a:latin typeface="Times New Roman" panose="02020603050405020304" pitchFamily="18" charset="0"/>
                <a:cs typeface="Times New Roman" panose="02020603050405020304" pitchFamily="18" charset="0"/>
              </a:rPr>
              <a:t>634,</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doi:</a:t>
            </a:r>
            <a:r>
              <a:rPr sz="1800" spc="-3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10.1109/ICCES.2018.8782454.</a:t>
            </a:r>
            <a:endParaRPr lang="en-IN" sz="1800" spc="-10" dirty="0">
              <a:latin typeface="Times New Roman" panose="02020603050405020304" pitchFamily="18" charset="0"/>
              <a:cs typeface="Times New Roman" panose="02020603050405020304" pitchFamily="18" charset="0"/>
            </a:endParaRPr>
          </a:p>
          <a:p>
            <a:pPr marL="12700" marR="6350">
              <a:spcBef>
                <a:spcPts val="100"/>
              </a:spcBef>
              <a:tabLst>
                <a:tab pos="591185" algn="l"/>
                <a:tab pos="927100" algn="l"/>
                <a:tab pos="2164715" algn="l"/>
                <a:tab pos="2513330" algn="l"/>
                <a:tab pos="2862580" algn="l"/>
                <a:tab pos="3985895" algn="l"/>
                <a:tab pos="4295140" algn="l"/>
                <a:tab pos="5069205" algn="l"/>
                <a:tab pos="5717540" algn="l"/>
                <a:tab pos="6510020" algn="l"/>
                <a:tab pos="7275195" algn="l"/>
                <a:tab pos="7936230" algn="l"/>
                <a:tab pos="10724515" algn="l"/>
                <a:tab pos="11163300" algn="l"/>
              </a:tabLst>
            </a:pPr>
            <a:endParaRPr sz="1800" dirty="0">
              <a:latin typeface="Times New Roman" panose="02020603050405020304" pitchFamily="18" charset="0"/>
              <a:cs typeface="Times New Roman" panose="02020603050405020304" pitchFamily="18" charset="0"/>
            </a:endParaRPr>
          </a:p>
          <a:p>
            <a:pPr marL="12700">
              <a:spcBef>
                <a:spcPts val="1080"/>
              </a:spcBef>
              <a:tabLst>
                <a:tab pos="368300" algn="l"/>
              </a:tabLst>
            </a:pPr>
            <a:r>
              <a:rPr lang="en-IN" sz="1800" dirty="0">
                <a:latin typeface="Times New Roman" panose="02020603050405020304" pitchFamily="18" charset="0"/>
                <a:cs typeface="Times New Roman" panose="02020603050405020304" pitchFamily="18" charset="0"/>
              </a:rPr>
              <a:t>5. </a:t>
            </a:r>
            <a:r>
              <a:rPr sz="1800" dirty="0">
                <a:latin typeface="Times New Roman" panose="02020603050405020304" pitchFamily="18" charset="0"/>
                <a:cs typeface="Times New Roman" panose="02020603050405020304" pitchFamily="18" charset="0"/>
              </a:rPr>
              <a:t>S.</a:t>
            </a:r>
            <a:r>
              <a:rPr sz="1800" spc="19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a:t>
            </a:r>
            <a:r>
              <a:rPr sz="1800" spc="2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Kumthekar,</a:t>
            </a:r>
            <a:r>
              <a:rPr sz="1800" spc="2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a:t>
            </a:r>
            <a:r>
              <a:rPr sz="1800" spc="19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a:t>
            </a:r>
            <a:r>
              <a:rPr sz="1800" spc="2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Khot,</a:t>
            </a:r>
            <a:r>
              <a:rPr sz="1800" spc="204"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a:t>
            </a:r>
            <a:r>
              <a:rPr sz="1800" spc="204"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K.</a:t>
            </a:r>
            <a:r>
              <a:rPr sz="1800" spc="2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Lande,</a:t>
            </a:r>
            <a:r>
              <a:rPr sz="1800" spc="2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a:t>
            </a:r>
            <a:r>
              <a:rPr sz="1800" spc="19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a:t>
            </a:r>
            <a:r>
              <a:rPr sz="1800" spc="2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Pawar,</a:t>
            </a:r>
            <a:r>
              <a:rPr sz="1800" spc="204"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2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a:t>
            </a:r>
            <a:r>
              <a:rPr sz="1800" spc="2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a:t>
            </a:r>
            <a:r>
              <a:rPr sz="1800" spc="2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Dalvi</a:t>
            </a:r>
            <a:r>
              <a:rPr sz="1800" spc="19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,(Apr.</a:t>
            </a:r>
            <a:r>
              <a:rPr sz="1800" spc="2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2024),</a:t>
            </a:r>
            <a:r>
              <a:rPr sz="1800" spc="204"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“IoT</a:t>
            </a:r>
            <a:r>
              <a:rPr sz="1800" spc="17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Based</a:t>
            </a:r>
            <a:r>
              <a:rPr sz="1800" spc="2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Street</a:t>
            </a:r>
            <a:r>
              <a:rPr sz="1800" spc="19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Light</a:t>
            </a:r>
            <a:r>
              <a:rPr sz="1800" spc="20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Fault</a:t>
            </a:r>
            <a:endParaRPr sz="1800" dirty="0">
              <a:latin typeface="Times New Roman" panose="02020603050405020304" pitchFamily="18" charset="0"/>
              <a:cs typeface="Times New Roman" panose="02020603050405020304" pitchFamily="18" charset="0"/>
            </a:endParaRPr>
          </a:p>
          <a:p>
            <a:pPr marL="12700">
              <a:spcBef>
                <a:spcPts val="1080"/>
              </a:spcBef>
            </a:pPr>
            <a:r>
              <a:rPr sz="1800" dirty="0">
                <a:latin typeface="Times New Roman" panose="02020603050405020304" pitchFamily="18" charset="0"/>
                <a:cs typeface="Times New Roman" panose="02020603050405020304" pitchFamily="18" charset="0"/>
              </a:rPr>
              <a:t>Detection</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Location</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Tracking,”</a:t>
            </a:r>
            <a:r>
              <a:rPr sz="1800" spc="-30" dirty="0">
                <a:latin typeface="Times New Roman" panose="02020603050405020304" pitchFamily="18" charset="0"/>
                <a:cs typeface="Times New Roman" panose="02020603050405020304" pitchFamily="18" charset="0"/>
              </a:rPr>
              <a:t> </a:t>
            </a:r>
            <a:r>
              <a:rPr sz="1800" i="1" dirty="0">
                <a:latin typeface="Times New Roman" panose="02020603050405020304" pitchFamily="18" charset="0"/>
                <a:cs typeface="Times New Roman" panose="02020603050405020304" pitchFamily="18" charset="0"/>
              </a:rPr>
              <a:t>Int.</a:t>
            </a:r>
            <a:r>
              <a:rPr sz="1800" i="1" spc="-15" dirty="0">
                <a:latin typeface="Times New Roman" panose="02020603050405020304" pitchFamily="18" charset="0"/>
                <a:cs typeface="Times New Roman" panose="02020603050405020304" pitchFamily="18" charset="0"/>
              </a:rPr>
              <a:t> </a:t>
            </a:r>
            <a:r>
              <a:rPr sz="1800" i="1" dirty="0">
                <a:latin typeface="Times New Roman" panose="02020603050405020304" pitchFamily="18" charset="0"/>
                <a:cs typeface="Times New Roman" panose="02020603050405020304" pitchFamily="18" charset="0"/>
              </a:rPr>
              <a:t>J.</a:t>
            </a:r>
            <a:r>
              <a:rPr sz="1800" i="1" spc="-15" dirty="0">
                <a:latin typeface="Times New Roman" panose="02020603050405020304" pitchFamily="18" charset="0"/>
                <a:cs typeface="Times New Roman" panose="02020603050405020304" pitchFamily="18" charset="0"/>
              </a:rPr>
              <a:t> </a:t>
            </a:r>
            <a:r>
              <a:rPr sz="1800" i="1" dirty="0">
                <a:latin typeface="Times New Roman" panose="02020603050405020304" pitchFamily="18" charset="0"/>
                <a:cs typeface="Times New Roman" panose="02020603050405020304" pitchFamily="18" charset="0"/>
              </a:rPr>
              <a:t>Res.</a:t>
            </a:r>
            <a:r>
              <a:rPr sz="1800" i="1" spc="-55" dirty="0">
                <a:latin typeface="Times New Roman" panose="02020603050405020304" pitchFamily="18" charset="0"/>
                <a:cs typeface="Times New Roman" panose="02020603050405020304" pitchFamily="18" charset="0"/>
              </a:rPr>
              <a:t> </a:t>
            </a:r>
            <a:r>
              <a:rPr sz="1800" i="1" dirty="0">
                <a:latin typeface="Times New Roman" panose="02020603050405020304" pitchFamily="18" charset="0"/>
                <a:cs typeface="Times New Roman" panose="02020603050405020304" pitchFamily="18" charset="0"/>
              </a:rPr>
              <a:t>Appl.</a:t>
            </a:r>
            <a:r>
              <a:rPr sz="1800" i="1" spc="-15" dirty="0">
                <a:latin typeface="Times New Roman" panose="02020603050405020304" pitchFamily="18" charset="0"/>
                <a:cs typeface="Times New Roman" panose="02020603050405020304" pitchFamily="18" charset="0"/>
              </a:rPr>
              <a:t> </a:t>
            </a:r>
            <a:r>
              <a:rPr sz="1800" i="1" dirty="0">
                <a:latin typeface="Times New Roman" panose="02020603050405020304" pitchFamily="18" charset="0"/>
                <a:cs typeface="Times New Roman" panose="02020603050405020304" pitchFamily="18" charset="0"/>
              </a:rPr>
              <a:t>Sci.</a:t>
            </a:r>
            <a:r>
              <a:rPr sz="1800" i="1" spc="-25" dirty="0">
                <a:latin typeface="Times New Roman" panose="02020603050405020304" pitchFamily="18" charset="0"/>
                <a:cs typeface="Times New Roman" panose="02020603050405020304" pitchFamily="18" charset="0"/>
              </a:rPr>
              <a:t> </a:t>
            </a:r>
            <a:r>
              <a:rPr sz="1800" i="1" dirty="0">
                <a:latin typeface="Times New Roman" panose="02020603050405020304" pitchFamily="18" charset="0"/>
                <a:cs typeface="Times New Roman" panose="02020603050405020304" pitchFamily="18" charset="0"/>
              </a:rPr>
              <a:t>Eng.</a:t>
            </a:r>
            <a:r>
              <a:rPr sz="1800" i="1" spc="-10" dirty="0">
                <a:latin typeface="Times New Roman" panose="02020603050405020304" pitchFamily="18" charset="0"/>
                <a:cs typeface="Times New Roman" panose="02020603050405020304" pitchFamily="18" charset="0"/>
              </a:rPr>
              <a:t> </a:t>
            </a:r>
            <a:r>
              <a:rPr sz="1800" i="1" spc="-20" dirty="0">
                <a:latin typeface="Times New Roman" panose="02020603050405020304" pitchFamily="18" charset="0"/>
                <a:cs typeface="Times New Roman" panose="02020603050405020304" pitchFamily="18" charset="0"/>
              </a:rPr>
              <a:t>Technol. </a:t>
            </a:r>
            <a:r>
              <a:rPr sz="1800" i="1" dirty="0">
                <a:latin typeface="Times New Roman" panose="02020603050405020304" pitchFamily="18" charset="0"/>
                <a:cs typeface="Times New Roman" panose="02020603050405020304" pitchFamily="18" charset="0"/>
              </a:rPr>
              <a:t>(IJRASET)</a:t>
            </a:r>
            <a:r>
              <a:rPr sz="1800" dirty="0">
                <a:latin typeface="Times New Roman" panose="02020603050405020304" pitchFamily="18" charset="0"/>
                <a:cs typeface="Times New Roman" panose="02020603050405020304" pitchFamily="18" charset="0"/>
              </a:rPr>
              <a:t>, vol.</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12,</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no.</a:t>
            </a:r>
            <a:r>
              <a:rPr sz="1800" spc="-1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IV</a:t>
            </a:r>
            <a:r>
              <a:rPr lang="en-IN" sz="1800" spc="-25" dirty="0">
                <a:latin typeface="Times New Roman" panose="02020603050405020304" pitchFamily="18" charset="0"/>
                <a:cs typeface="Times New Roman" panose="02020603050405020304" pitchFamily="18" charset="0"/>
              </a:rPr>
              <a:t>.</a:t>
            </a:r>
          </a:p>
          <a:p>
            <a:pPr marL="12700">
              <a:spcBef>
                <a:spcPts val="1080"/>
              </a:spcBef>
            </a:pPr>
            <a:endParaRPr sz="1800" dirty="0">
              <a:latin typeface="Times New Roman" panose="02020603050405020304" pitchFamily="18" charset="0"/>
              <a:cs typeface="Times New Roman" panose="02020603050405020304" pitchFamily="18" charset="0"/>
            </a:endParaRPr>
          </a:p>
          <a:p>
            <a:pPr marL="12700" marR="6350">
              <a:tabLst>
                <a:tab pos="337820" algn="l"/>
              </a:tabLst>
            </a:pPr>
            <a:r>
              <a:rPr lang="en-IN" sz="1800" dirty="0">
                <a:latin typeface="Times New Roman" panose="02020603050405020304" pitchFamily="18" charset="0"/>
                <a:cs typeface="Times New Roman" panose="02020603050405020304" pitchFamily="18" charset="0"/>
              </a:rPr>
              <a:t>6. </a:t>
            </a:r>
            <a:r>
              <a:rPr sz="1800" dirty="0">
                <a:latin typeface="Times New Roman" panose="02020603050405020304" pitchFamily="18" charset="0"/>
                <a:cs typeface="Times New Roman" panose="02020603050405020304" pitchFamily="18" charset="0"/>
              </a:rPr>
              <a:t>M.</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Kanthi</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Ravilla,</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“Smart</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Streetlight</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System</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using</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Mobile</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Applications</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,(Feb</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24</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2024):</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Secured</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Fault</a:t>
            </a:r>
            <a:r>
              <a:rPr sz="1800" spc="-10" dirty="0">
                <a:latin typeface="Times New Roman" panose="02020603050405020304" pitchFamily="18" charset="0"/>
                <a:cs typeface="Times New Roman" panose="02020603050405020304" pitchFamily="18" charset="0"/>
              </a:rPr>
              <a:t> Detection </a:t>
            </a:r>
            <a:r>
              <a:rPr sz="1800" dirty="0">
                <a:latin typeface="Times New Roman" panose="02020603050405020304" pitchFamily="18" charset="0"/>
                <a:cs typeface="Times New Roman" panose="02020603050405020304" pitchFamily="18" charset="0"/>
              </a:rPr>
              <a:t>and</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Diagnosis with</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Optimal,”</a:t>
            </a:r>
            <a:r>
              <a:rPr sz="1800" spc="-20" dirty="0">
                <a:latin typeface="Times New Roman" panose="02020603050405020304" pitchFamily="18" charset="0"/>
                <a:cs typeface="Times New Roman" panose="02020603050405020304" pitchFamily="18" charset="0"/>
              </a:rPr>
              <a:t> </a:t>
            </a:r>
            <a:r>
              <a:rPr sz="1800" i="1" spc="-25" dirty="0">
                <a:latin typeface="Times New Roman" panose="02020603050405020304" pitchFamily="18" charset="0"/>
                <a:cs typeface="Times New Roman" panose="02020603050405020304" pitchFamily="18" charset="0"/>
              </a:rPr>
              <a:t>Wireless </a:t>
            </a:r>
            <a:r>
              <a:rPr sz="1800" i="1" dirty="0">
                <a:latin typeface="Times New Roman" panose="02020603050405020304" pitchFamily="18" charset="0"/>
                <a:cs typeface="Times New Roman" panose="02020603050405020304" pitchFamily="18" charset="0"/>
              </a:rPr>
              <a:t>Networks</a:t>
            </a:r>
            <a:r>
              <a:rPr sz="1800" dirty="0">
                <a:latin typeface="Times New Roman" panose="02020603050405020304" pitchFamily="18" charset="0"/>
                <a:cs typeface="Times New Roman" panose="02020603050405020304" pitchFamily="18" charset="0"/>
              </a:rPr>
              <a:t>,</a:t>
            </a:r>
            <a:r>
              <a:rPr sz="1800" spc="-10" dirty="0">
                <a:latin typeface="Times New Roman" panose="02020603050405020304" pitchFamily="18" charset="0"/>
                <a:cs typeface="Times New Roman" panose="02020603050405020304" pitchFamily="18" charset="0"/>
              </a:rPr>
              <a:t> Springer,</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Online,</a:t>
            </a:r>
            <a:r>
              <a:rPr sz="1800" spc="4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doi:</a:t>
            </a:r>
            <a:r>
              <a:rPr sz="1800" spc="-2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10.1007/s11276-023-03210-</a:t>
            </a:r>
            <a:r>
              <a:rPr sz="1800" spc="-25" dirty="0">
                <a:latin typeface="Times New Roman" panose="02020603050405020304" pitchFamily="18" charset="0"/>
                <a:cs typeface="Times New Roman" panose="02020603050405020304" pitchFamily="18" charset="0"/>
              </a:rPr>
              <a:t>5.</a:t>
            </a:r>
            <a:endParaRPr lang="en-IN" sz="1800" spc="-25" dirty="0">
              <a:latin typeface="Times New Roman" panose="02020603050405020304" pitchFamily="18" charset="0"/>
              <a:cs typeface="Times New Roman" panose="02020603050405020304" pitchFamily="18" charset="0"/>
            </a:endParaRPr>
          </a:p>
          <a:p>
            <a:pPr marL="12700" marR="6350">
              <a:tabLst>
                <a:tab pos="337820" algn="l"/>
              </a:tabLst>
            </a:pPr>
            <a:endParaRPr lang="en-IN" sz="1800" spc="-25"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7. A. Almeida, B. Silva, and A. Pinto, “IoT-Enabled Smart Street Lighting System for Urban Energy Efficiency,”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Online, 2023,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10.1109/ACCESS.2023.3278912.</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8. R. Kumar and V. Reddy, “Smart Street Light Monitoring Using ESP32 and Cloud-Based Analytics,” </a:t>
            </a:r>
            <a:r>
              <a:rPr lang="en-US" i="1" dirty="0">
                <a:latin typeface="Times New Roman" panose="02020603050405020304" pitchFamily="18" charset="0"/>
                <a:cs typeface="Times New Roman" panose="02020603050405020304" pitchFamily="18" charset="0"/>
              </a:rPr>
              <a:t>Int. J. Eng. Adv. Technol. (IJEAT)</a:t>
            </a:r>
            <a:r>
              <a:rPr lang="en-US" dirty="0">
                <a:latin typeface="Times New Roman" panose="02020603050405020304" pitchFamily="18" charset="0"/>
                <a:cs typeface="Times New Roman" panose="02020603050405020304" pitchFamily="18" charset="0"/>
              </a:rPr>
              <a:t>, Online, 2022</a:t>
            </a:r>
            <a:r>
              <a:rPr lang="en-US" dirty="0"/>
              <a:t>.</a:t>
            </a:r>
            <a:endParaRPr lang="en-IN" dirty="0">
              <a:latin typeface="Times New Roman" panose="02020603050405020304" pitchFamily="18" charset="0"/>
              <a:cs typeface="Times New Roman" panose="02020603050405020304" pitchFamily="18" charset="0"/>
            </a:endParaRPr>
          </a:p>
          <a:p>
            <a:endParaRPr sz="1800" dirty="0">
              <a:latin typeface="Times New Roman"/>
              <a:cs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D6221-2091-3A44-97C1-D27CE2049EE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FC50AE5-E191-C001-A281-DA91A6C368BB}"/>
              </a:ext>
            </a:extLst>
          </p:cNvPr>
          <p:cNvSpPr txBox="1"/>
          <p:nvPr/>
        </p:nvSpPr>
        <p:spPr>
          <a:xfrm>
            <a:off x="5181346" y="709117"/>
            <a:ext cx="1827530" cy="452120"/>
          </a:xfrm>
          <a:prstGeom prst="rect">
            <a:avLst/>
          </a:prstGeom>
        </p:spPr>
        <p:txBody>
          <a:bodyPr vert="horz" wrap="square" lIns="0" tIns="12065" rIns="0" bIns="0" rtlCol="0">
            <a:spAutoFit/>
          </a:bodyPr>
          <a:lstStyle/>
          <a:p>
            <a:pPr marL="12700">
              <a:lnSpc>
                <a:spcPct val="100000"/>
              </a:lnSpc>
              <a:spcBef>
                <a:spcPts val="95"/>
              </a:spcBef>
            </a:pPr>
            <a:r>
              <a:rPr sz="2800" b="1" spc="-10" dirty="0">
                <a:latin typeface="Cambria"/>
                <a:cs typeface="Cambria"/>
              </a:rPr>
              <a:t>References</a:t>
            </a:r>
            <a:endParaRPr sz="2800">
              <a:latin typeface="Cambria"/>
              <a:cs typeface="Cambria"/>
            </a:endParaRPr>
          </a:p>
        </p:txBody>
      </p:sp>
      <p:grpSp>
        <p:nvGrpSpPr>
          <p:cNvPr id="3" name="object 3">
            <a:extLst>
              <a:ext uri="{FF2B5EF4-FFF2-40B4-BE49-F238E27FC236}">
                <a16:creationId xmlns:a16="http://schemas.microsoft.com/office/drawing/2014/main" id="{0A1632D3-DEC4-01E9-6853-22A5CB893E81}"/>
              </a:ext>
            </a:extLst>
          </p:cNvPr>
          <p:cNvGrpSpPr/>
          <p:nvPr/>
        </p:nvGrpSpPr>
        <p:grpSpPr>
          <a:xfrm>
            <a:off x="6902" y="-6311"/>
            <a:ext cx="7394575" cy="609600"/>
            <a:chOff x="6902" y="-6311"/>
            <a:chExt cx="7394575" cy="609600"/>
          </a:xfrm>
        </p:grpSpPr>
        <p:sp>
          <p:nvSpPr>
            <p:cNvPr id="4" name="object 4">
              <a:extLst>
                <a:ext uri="{FF2B5EF4-FFF2-40B4-BE49-F238E27FC236}">
                  <a16:creationId xmlns:a16="http://schemas.microsoft.com/office/drawing/2014/main" id="{473ACBA3-F381-C9EA-FADF-55E2766EC35A}"/>
                </a:ext>
              </a:extLst>
            </p:cNvPr>
            <p:cNvSpPr/>
            <p:nvPr/>
          </p:nvSpPr>
          <p:spPr>
            <a:xfrm>
              <a:off x="13252" y="38"/>
              <a:ext cx="7381875" cy="596900"/>
            </a:xfrm>
            <a:custGeom>
              <a:avLst/>
              <a:gdLst/>
              <a:ahLst/>
              <a:cxnLst/>
              <a:rect l="l" t="t" r="r" b="b"/>
              <a:pathLst>
                <a:path w="7381875" h="596900">
                  <a:moveTo>
                    <a:pt x="7381494" y="0"/>
                  </a:moveTo>
                  <a:lnTo>
                    <a:pt x="0" y="0"/>
                  </a:lnTo>
                  <a:lnTo>
                    <a:pt x="0" y="596353"/>
                  </a:lnTo>
                  <a:lnTo>
                    <a:pt x="7381494" y="596353"/>
                  </a:lnTo>
                  <a:lnTo>
                    <a:pt x="7381494" y="0"/>
                  </a:lnTo>
                  <a:close/>
                </a:path>
              </a:pathLst>
            </a:custGeom>
            <a:solidFill>
              <a:srgbClr val="FF0000"/>
            </a:solidFill>
          </p:spPr>
          <p:txBody>
            <a:bodyPr wrap="square" lIns="0" tIns="0" rIns="0" bIns="0" rtlCol="0"/>
            <a:lstStyle/>
            <a:p>
              <a:endParaRPr/>
            </a:p>
          </p:txBody>
        </p:sp>
        <p:sp>
          <p:nvSpPr>
            <p:cNvPr id="5" name="object 5">
              <a:extLst>
                <a:ext uri="{FF2B5EF4-FFF2-40B4-BE49-F238E27FC236}">
                  <a16:creationId xmlns:a16="http://schemas.microsoft.com/office/drawing/2014/main" id="{500FB9E1-EBE7-58B9-A42E-8B6C0A83FFB2}"/>
                </a:ext>
              </a:extLst>
            </p:cNvPr>
            <p:cNvSpPr/>
            <p:nvPr/>
          </p:nvSpPr>
          <p:spPr>
            <a:xfrm>
              <a:off x="13252" y="38"/>
              <a:ext cx="7381875" cy="596900"/>
            </a:xfrm>
            <a:custGeom>
              <a:avLst/>
              <a:gdLst/>
              <a:ahLst/>
              <a:cxnLst/>
              <a:rect l="l" t="t" r="r" b="b"/>
              <a:pathLst>
                <a:path w="7381875" h="596900">
                  <a:moveTo>
                    <a:pt x="0" y="596353"/>
                  </a:moveTo>
                  <a:lnTo>
                    <a:pt x="7381494" y="596353"/>
                  </a:lnTo>
                  <a:lnTo>
                    <a:pt x="7381494" y="0"/>
                  </a:lnTo>
                  <a:lnTo>
                    <a:pt x="0" y="0"/>
                  </a:lnTo>
                  <a:lnTo>
                    <a:pt x="0" y="596353"/>
                  </a:lnTo>
                  <a:close/>
                </a:path>
              </a:pathLst>
            </a:custGeom>
            <a:ln w="12700">
              <a:solidFill>
                <a:srgbClr val="FF0000"/>
              </a:solidFill>
            </a:ln>
          </p:spPr>
          <p:txBody>
            <a:bodyPr wrap="square" lIns="0" tIns="0" rIns="0" bIns="0" rtlCol="0"/>
            <a:lstStyle/>
            <a:p>
              <a:endParaRPr/>
            </a:p>
          </p:txBody>
        </p:sp>
      </p:grpSp>
      <p:sp>
        <p:nvSpPr>
          <p:cNvPr id="6" name="object 6">
            <a:extLst>
              <a:ext uri="{FF2B5EF4-FFF2-40B4-BE49-F238E27FC236}">
                <a16:creationId xmlns:a16="http://schemas.microsoft.com/office/drawing/2014/main" id="{6C384FBD-23BB-99C5-927C-EDB6D05995CF}"/>
              </a:ext>
            </a:extLst>
          </p:cNvPr>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Bhujbal</a:t>
            </a:r>
            <a:r>
              <a:rPr spc="-80" dirty="0"/>
              <a:t> </a:t>
            </a:r>
            <a:r>
              <a:rPr spc="-30" dirty="0"/>
              <a:t>Knowledge</a:t>
            </a:r>
            <a:r>
              <a:rPr spc="-114" dirty="0"/>
              <a:t> </a:t>
            </a:r>
            <a:r>
              <a:rPr spc="-20" dirty="0"/>
              <a:t>City</a:t>
            </a:r>
          </a:p>
        </p:txBody>
      </p:sp>
      <p:grpSp>
        <p:nvGrpSpPr>
          <p:cNvPr id="7" name="object 7">
            <a:extLst>
              <a:ext uri="{FF2B5EF4-FFF2-40B4-BE49-F238E27FC236}">
                <a16:creationId xmlns:a16="http://schemas.microsoft.com/office/drawing/2014/main" id="{3BEC6BA2-3DD5-A3CF-65C6-844A3C9D3C00}"/>
              </a:ext>
            </a:extLst>
          </p:cNvPr>
          <p:cNvGrpSpPr/>
          <p:nvPr/>
        </p:nvGrpSpPr>
        <p:grpSpPr>
          <a:xfrm>
            <a:off x="93469" y="-6350"/>
            <a:ext cx="12091670" cy="609600"/>
            <a:chOff x="93469" y="-6350"/>
            <a:chExt cx="12091670" cy="609600"/>
          </a:xfrm>
        </p:grpSpPr>
        <p:sp>
          <p:nvSpPr>
            <p:cNvPr id="8" name="object 8">
              <a:extLst>
                <a:ext uri="{FF2B5EF4-FFF2-40B4-BE49-F238E27FC236}">
                  <a16:creationId xmlns:a16="http://schemas.microsoft.com/office/drawing/2014/main" id="{0607E988-A8EA-277B-D1D3-74265FB39B8B}"/>
                </a:ext>
              </a:extLst>
            </p:cNvPr>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a:p>
          </p:txBody>
        </p:sp>
        <p:sp>
          <p:nvSpPr>
            <p:cNvPr id="9" name="object 9">
              <a:extLst>
                <a:ext uri="{FF2B5EF4-FFF2-40B4-BE49-F238E27FC236}">
                  <a16:creationId xmlns:a16="http://schemas.microsoft.com/office/drawing/2014/main" id="{F9A3509E-B9C7-586B-E3B8-73458E01599D}"/>
                </a:ext>
              </a:extLst>
            </p:cNvPr>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a:p>
          </p:txBody>
        </p:sp>
        <p:pic>
          <p:nvPicPr>
            <p:cNvPr id="10" name="object 10">
              <a:extLst>
                <a:ext uri="{FF2B5EF4-FFF2-40B4-BE49-F238E27FC236}">
                  <a16:creationId xmlns:a16="http://schemas.microsoft.com/office/drawing/2014/main" id="{5D84F4EA-D4DD-3D0D-55A0-8DFAA05E4C12}"/>
                </a:ext>
              </a:extLst>
            </p:cNvPr>
            <p:cNvPicPr/>
            <p:nvPr/>
          </p:nvPicPr>
          <p:blipFill>
            <a:blip r:embed="rId2" cstate="print"/>
            <a:stretch>
              <a:fillRect/>
            </a:stretch>
          </p:blipFill>
          <p:spPr>
            <a:xfrm>
              <a:off x="93469" y="60058"/>
              <a:ext cx="966698" cy="476135"/>
            </a:xfrm>
            <a:prstGeom prst="rect">
              <a:avLst/>
            </a:prstGeom>
          </p:spPr>
        </p:pic>
        <p:sp>
          <p:nvSpPr>
            <p:cNvPr id="11" name="object 11">
              <a:extLst>
                <a:ext uri="{FF2B5EF4-FFF2-40B4-BE49-F238E27FC236}">
                  <a16:creationId xmlns:a16="http://schemas.microsoft.com/office/drawing/2014/main" id="{02F7EA7F-583C-7B76-B8A1-39ABB06003CF}"/>
                </a:ext>
              </a:extLst>
            </p:cNvPr>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a:p>
          </p:txBody>
        </p:sp>
        <p:sp>
          <p:nvSpPr>
            <p:cNvPr id="12" name="object 12">
              <a:extLst>
                <a:ext uri="{FF2B5EF4-FFF2-40B4-BE49-F238E27FC236}">
                  <a16:creationId xmlns:a16="http://schemas.microsoft.com/office/drawing/2014/main" id="{A78E6644-1424-858B-DAE0-47A541AC525D}"/>
                </a:ext>
              </a:extLst>
            </p:cNvPr>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a:p>
          </p:txBody>
        </p:sp>
        <p:sp>
          <p:nvSpPr>
            <p:cNvPr id="13" name="object 13">
              <a:extLst>
                <a:ext uri="{FF2B5EF4-FFF2-40B4-BE49-F238E27FC236}">
                  <a16:creationId xmlns:a16="http://schemas.microsoft.com/office/drawing/2014/main" id="{61D681B4-C001-D72A-57C4-553030CB0A33}"/>
                </a:ext>
              </a:extLst>
            </p:cNvPr>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a:p>
          </p:txBody>
        </p:sp>
        <p:sp>
          <p:nvSpPr>
            <p:cNvPr id="14" name="object 14">
              <a:extLst>
                <a:ext uri="{FF2B5EF4-FFF2-40B4-BE49-F238E27FC236}">
                  <a16:creationId xmlns:a16="http://schemas.microsoft.com/office/drawing/2014/main" id="{A9DCECF3-FAF6-9D76-3C76-BBC9B9A4639C}"/>
                </a:ext>
              </a:extLst>
            </p:cNvPr>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a:p>
          </p:txBody>
        </p:sp>
      </p:grpSp>
      <p:sp>
        <p:nvSpPr>
          <p:cNvPr id="15" name="object 15">
            <a:extLst>
              <a:ext uri="{FF2B5EF4-FFF2-40B4-BE49-F238E27FC236}">
                <a16:creationId xmlns:a16="http://schemas.microsoft.com/office/drawing/2014/main" id="{61073220-C45F-F31B-ABEE-73EDC7831B69}"/>
              </a:ext>
            </a:extLst>
          </p:cNvPr>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a:latin typeface="Cambria"/>
              <a:cs typeface="Cambria"/>
            </a:endParaRPr>
          </a:p>
        </p:txBody>
      </p:sp>
      <p:sp>
        <p:nvSpPr>
          <p:cNvPr id="17" name="object 17">
            <a:extLst>
              <a:ext uri="{FF2B5EF4-FFF2-40B4-BE49-F238E27FC236}">
                <a16:creationId xmlns:a16="http://schemas.microsoft.com/office/drawing/2014/main" id="{A02A1919-3FA3-B731-D46C-E876B68B002F}"/>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18" name="object 18">
            <a:extLst>
              <a:ext uri="{FF2B5EF4-FFF2-40B4-BE49-F238E27FC236}">
                <a16:creationId xmlns:a16="http://schemas.microsoft.com/office/drawing/2014/main" id="{5C3EAA5E-FF7F-5327-1826-BCC3D07864AA}"/>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31</a:t>
            </a:fld>
            <a:endParaRPr spc="-25" dirty="0"/>
          </a:p>
        </p:txBody>
      </p:sp>
      <p:sp>
        <p:nvSpPr>
          <p:cNvPr id="16" name="object 16">
            <a:extLst>
              <a:ext uri="{FF2B5EF4-FFF2-40B4-BE49-F238E27FC236}">
                <a16:creationId xmlns:a16="http://schemas.microsoft.com/office/drawing/2014/main" id="{D7313EA0-43EF-1E11-1174-23D3CA162CF0}"/>
              </a:ext>
            </a:extLst>
          </p:cNvPr>
          <p:cNvSpPr txBox="1"/>
          <p:nvPr/>
        </p:nvSpPr>
        <p:spPr>
          <a:xfrm>
            <a:off x="500378" y="1270274"/>
            <a:ext cx="11678920" cy="5842625"/>
          </a:xfrm>
          <a:prstGeom prst="rect">
            <a:avLst/>
          </a:prstGeom>
        </p:spPr>
        <p:txBody>
          <a:bodyPr vert="horz" wrap="square" lIns="0" tIns="12700" rIns="0" bIns="0" rtlCol="0">
            <a:spAutoFit/>
          </a:bodyPr>
          <a:lstStyle/>
          <a:p>
            <a:r>
              <a:rPr lang="en-IN" dirty="0">
                <a:latin typeface="Times New Roman" panose="02020603050405020304" pitchFamily="18" charset="0"/>
                <a:cs typeface="Times New Roman" panose="02020603050405020304" pitchFamily="18" charset="0"/>
              </a:rPr>
              <a:t>9. M. A. Hossain et al., “A Cloud-Integrated IoT Framework for Automatic Fault Detection in Street Lighting,” </a:t>
            </a:r>
            <a:r>
              <a:rPr lang="en-IN" i="1" dirty="0">
                <a:latin typeface="Times New Roman" panose="02020603050405020304" pitchFamily="18" charset="0"/>
                <a:cs typeface="Times New Roman" panose="02020603050405020304" pitchFamily="18" charset="0"/>
              </a:rPr>
              <a:t>Sensors</a:t>
            </a:r>
            <a:r>
              <a:rPr lang="en-IN" dirty="0">
                <a:latin typeface="Times New Roman" panose="02020603050405020304" pitchFamily="18" charset="0"/>
                <a:cs typeface="Times New Roman" panose="02020603050405020304" pitchFamily="18" charset="0"/>
              </a:rPr>
              <a:t>, Online, 2023,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10.3390/s23042011.</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10. W. Zhang and L. Wang, “Energy-Efficient Street Lighting System Based on Wireless Sensor Networks,” </a:t>
            </a:r>
            <a:r>
              <a:rPr lang="en-IN" i="1" dirty="0">
                <a:latin typeface="Times New Roman" panose="02020603050405020304" pitchFamily="18" charset="0"/>
                <a:cs typeface="Times New Roman" panose="02020603050405020304" pitchFamily="18" charset="0"/>
              </a:rPr>
              <a:t>Wireless Networks</a:t>
            </a:r>
            <a:r>
              <a:rPr lang="en-IN" dirty="0">
                <a:latin typeface="Times New Roman" panose="02020603050405020304" pitchFamily="18" charset="0"/>
                <a:cs typeface="Times New Roman" panose="02020603050405020304" pitchFamily="18" charset="0"/>
              </a:rPr>
              <a:t>, Springer, Online, 2022,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10.1007/s12652-021-03375-3.</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11. Y. Chen, H. Li, and M. Zhao, “Fault Detection and Prediction in Smart Street Lighting Using Edge Computing,” </a:t>
            </a:r>
            <a:r>
              <a:rPr lang="en-IN" i="1" dirty="0">
                <a:latin typeface="Times New Roman" panose="02020603050405020304" pitchFamily="18" charset="0"/>
                <a:cs typeface="Times New Roman" panose="02020603050405020304" pitchFamily="18" charset="0"/>
              </a:rPr>
              <a:t>IEEE Internet of Things Journal</a:t>
            </a:r>
            <a:r>
              <a:rPr lang="en-IN" dirty="0">
                <a:latin typeface="Times New Roman" panose="02020603050405020304" pitchFamily="18" charset="0"/>
                <a:cs typeface="Times New Roman" panose="02020603050405020304" pitchFamily="18" charset="0"/>
              </a:rPr>
              <a:t>, Online, 2023,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10.1109/JIOT.2023.3245671.</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12</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G. Sagar and A. Rao, “Automatic Street Light Control and Fault Monitoring Using IoT,” </a:t>
            </a:r>
            <a:r>
              <a:rPr lang="en-IN" i="1" dirty="0">
                <a:latin typeface="Times New Roman" panose="02020603050405020304" pitchFamily="18" charset="0"/>
                <a:cs typeface="Times New Roman" panose="02020603050405020304" pitchFamily="18" charset="0"/>
              </a:rPr>
              <a:t>Int. J. Sci. Technol. Res. (IJSTR)</a:t>
            </a:r>
            <a:r>
              <a:rPr lang="en-IN" dirty="0">
                <a:latin typeface="Times New Roman" panose="02020603050405020304" pitchFamily="18" charset="0"/>
                <a:cs typeface="Times New Roman" panose="02020603050405020304" pitchFamily="18" charset="0"/>
              </a:rPr>
              <a:t>, Online, 2021.</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13. P. Sharma and H. Bedi, “Smart Lighting System with PIR and LDR Sensors Using IoT,” </a:t>
            </a:r>
            <a:r>
              <a:rPr lang="en-IN" i="1" dirty="0">
                <a:latin typeface="Times New Roman" panose="02020603050405020304" pitchFamily="18" charset="0"/>
                <a:cs typeface="Times New Roman" panose="02020603050405020304" pitchFamily="18" charset="0"/>
              </a:rPr>
              <a:t>Int. J. Electron. </a:t>
            </a:r>
            <a:r>
              <a:rPr lang="en-IN" i="1" dirty="0" err="1">
                <a:latin typeface="Times New Roman" panose="02020603050405020304" pitchFamily="18" charset="0"/>
                <a:cs typeface="Times New Roman" panose="02020603050405020304" pitchFamily="18" charset="0"/>
              </a:rPr>
              <a:t>Telecommun</a:t>
            </a:r>
            <a:r>
              <a:rPr lang="en-IN" i="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Online, 2023,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10.24425/ijet.2023.144347.</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14. R. Souza et al., “Design and Deployment of Smart Street Lighting Based on </a:t>
            </a:r>
            <a:r>
              <a:rPr lang="en-IN" dirty="0" err="1">
                <a:latin typeface="Times New Roman" panose="02020603050405020304" pitchFamily="18" charset="0"/>
                <a:cs typeface="Times New Roman" panose="02020603050405020304" pitchFamily="18" charset="0"/>
              </a:rPr>
              <a:t>LoRaWAN</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IEEE Sensors Journal</a:t>
            </a:r>
            <a:r>
              <a:rPr lang="en-IN" dirty="0">
                <a:latin typeface="Times New Roman" panose="02020603050405020304" pitchFamily="18" charset="0"/>
                <a:cs typeface="Times New Roman" panose="02020603050405020304" pitchFamily="18" charset="0"/>
              </a:rPr>
              <a:t>, Online, 2022,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10.1109/JSEN.2022.3159876.</a:t>
            </a:r>
          </a:p>
          <a:p>
            <a:endParaRPr lang="en-IN" dirty="0"/>
          </a:p>
          <a:p>
            <a:endParaRPr lang="en-IN" dirty="0"/>
          </a:p>
          <a:p>
            <a:pPr marL="12700" marR="6350">
              <a:spcBef>
                <a:spcPts val="100"/>
              </a:spcBef>
              <a:tabLst>
                <a:tab pos="591185" algn="l"/>
                <a:tab pos="927100" algn="l"/>
                <a:tab pos="2164715" algn="l"/>
                <a:tab pos="2513330" algn="l"/>
                <a:tab pos="2862580" algn="l"/>
                <a:tab pos="3985895" algn="l"/>
                <a:tab pos="4295140" algn="l"/>
                <a:tab pos="5069205" algn="l"/>
                <a:tab pos="5717540" algn="l"/>
                <a:tab pos="6510020" algn="l"/>
                <a:tab pos="7275195" algn="l"/>
                <a:tab pos="7936230" algn="l"/>
                <a:tab pos="10724515" algn="l"/>
                <a:tab pos="11163300" algn="l"/>
              </a:tabLst>
            </a:pPr>
            <a:endParaRPr lang="en-IN" dirty="0">
              <a:latin typeface="Times New Roman" panose="02020603050405020304" pitchFamily="18" charset="0"/>
              <a:cs typeface="Times New Roman" panose="02020603050405020304" pitchFamily="18" charset="0"/>
            </a:endParaRPr>
          </a:p>
          <a:p>
            <a:endParaRPr sz="1800" dirty="0">
              <a:latin typeface="Times New Roman"/>
              <a:cs typeface="Times New Roman"/>
            </a:endParaRPr>
          </a:p>
        </p:txBody>
      </p:sp>
    </p:spTree>
    <p:extLst>
      <p:ext uri="{BB962C8B-B14F-4D97-AF65-F5344CB8AC3E}">
        <p14:creationId xmlns:p14="http://schemas.microsoft.com/office/powerpoint/2010/main" val="32081890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Bhujbal</a:t>
            </a:r>
            <a:r>
              <a:rPr spc="-80" dirty="0"/>
              <a:t> </a:t>
            </a:r>
            <a:r>
              <a:rPr spc="-30" dirty="0"/>
              <a:t>Knowledge</a:t>
            </a:r>
            <a:r>
              <a:rPr spc="-114" dirty="0"/>
              <a:t> </a:t>
            </a:r>
            <a:r>
              <a:rPr spc="-20" dirty="0"/>
              <a:t>City</a:t>
            </a:r>
          </a:p>
        </p:txBody>
      </p:sp>
      <p:grpSp>
        <p:nvGrpSpPr>
          <p:cNvPr id="3" name="object 3"/>
          <p:cNvGrpSpPr/>
          <p:nvPr/>
        </p:nvGrpSpPr>
        <p:grpSpPr>
          <a:xfrm>
            <a:off x="93469" y="-6350"/>
            <a:ext cx="12091670" cy="609600"/>
            <a:chOff x="93469" y="-6350"/>
            <a:chExt cx="12091670" cy="609600"/>
          </a:xfrm>
        </p:grpSpPr>
        <p:sp>
          <p:nvSpPr>
            <p:cNvPr id="4" name="object 4"/>
            <p:cNvSpPr/>
            <p:nvPr/>
          </p:nvSpPr>
          <p:spPr>
            <a:xfrm>
              <a:off x="7381494" y="0"/>
              <a:ext cx="981075" cy="596900"/>
            </a:xfrm>
            <a:custGeom>
              <a:avLst/>
              <a:gdLst/>
              <a:ahLst/>
              <a:cxnLst/>
              <a:rect l="l" t="t" r="r" b="b"/>
              <a:pathLst>
                <a:path w="981075" h="596900">
                  <a:moveTo>
                    <a:pt x="0" y="0"/>
                  </a:moveTo>
                  <a:lnTo>
                    <a:pt x="0" y="596391"/>
                  </a:lnTo>
                  <a:lnTo>
                    <a:pt x="980566" y="596391"/>
                  </a:lnTo>
                  <a:lnTo>
                    <a:pt x="0" y="0"/>
                  </a:lnTo>
                  <a:close/>
                </a:path>
              </a:pathLst>
            </a:custGeom>
            <a:solidFill>
              <a:srgbClr val="FF0000"/>
            </a:solidFill>
          </p:spPr>
          <p:txBody>
            <a:bodyPr wrap="square" lIns="0" tIns="0" rIns="0" bIns="0" rtlCol="0"/>
            <a:lstStyle/>
            <a:p>
              <a:endParaRPr dirty="0"/>
            </a:p>
          </p:txBody>
        </p:sp>
        <p:sp>
          <p:nvSpPr>
            <p:cNvPr id="5" name="object 5"/>
            <p:cNvSpPr/>
            <p:nvPr/>
          </p:nvSpPr>
          <p:spPr>
            <a:xfrm>
              <a:off x="7381494" y="0"/>
              <a:ext cx="981075" cy="596900"/>
            </a:xfrm>
            <a:custGeom>
              <a:avLst/>
              <a:gdLst/>
              <a:ahLst/>
              <a:cxnLst/>
              <a:rect l="l" t="t" r="r" b="b"/>
              <a:pathLst>
                <a:path w="981075" h="596900">
                  <a:moveTo>
                    <a:pt x="0" y="596391"/>
                  </a:moveTo>
                  <a:lnTo>
                    <a:pt x="0" y="0"/>
                  </a:lnTo>
                  <a:lnTo>
                    <a:pt x="980566" y="596391"/>
                  </a:lnTo>
                  <a:lnTo>
                    <a:pt x="0" y="596391"/>
                  </a:lnTo>
                  <a:close/>
                </a:path>
              </a:pathLst>
            </a:custGeom>
            <a:ln w="12700">
              <a:solidFill>
                <a:srgbClr val="FF0000"/>
              </a:solidFill>
            </a:ln>
          </p:spPr>
          <p:txBody>
            <a:bodyPr wrap="square" lIns="0" tIns="0" rIns="0" bIns="0" rtlCol="0"/>
            <a:lstStyle/>
            <a:p>
              <a:endParaRPr dirty="0"/>
            </a:p>
          </p:txBody>
        </p:sp>
        <p:pic>
          <p:nvPicPr>
            <p:cNvPr id="6" name="object 6"/>
            <p:cNvPicPr/>
            <p:nvPr/>
          </p:nvPicPr>
          <p:blipFill>
            <a:blip r:embed="rId2" cstate="print"/>
            <a:stretch>
              <a:fillRect/>
            </a:stretch>
          </p:blipFill>
          <p:spPr>
            <a:xfrm>
              <a:off x="93469" y="60058"/>
              <a:ext cx="966698" cy="476135"/>
            </a:xfrm>
            <a:prstGeom prst="rect">
              <a:avLst/>
            </a:prstGeom>
          </p:spPr>
        </p:pic>
        <p:sp>
          <p:nvSpPr>
            <p:cNvPr id="7" name="object 7"/>
            <p:cNvSpPr/>
            <p:nvPr/>
          </p:nvSpPr>
          <p:spPr>
            <a:xfrm>
              <a:off x="7518213" y="0"/>
              <a:ext cx="970280" cy="589915"/>
            </a:xfrm>
            <a:custGeom>
              <a:avLst/>
              <a:gdLst/>
              <a:ahLst/>
              <a:cxnLst/>
              <a:rect l="l" t="t" r="r" b="b"/>
              <a:pathLst>
                <a:path w="970279" h="589915">
                  <a:moveTo>
                    <a:pt x="969832" y="0"/>
                  </a:moveTo>
                  <a:lnTo>
                    <a:pt x="0" y="0"/>
                  </a:lnTo>
                  <a:lnTo>
                    <a:pt x="969832" y="589661"/>
                  </a:lnTo>
                  <a:lnTo>
                    <a:pt x="969832" y="0"/>
                  </a:lnTo>
                  <a:close/>
                </a:path>
              </a:pathLst>
            </a:custGeom>
            <a:solidFill>
              <a:srgbClr val="A6A6A6"/>
            </a:solidFill>
          </p:spPr>
          <p:txBody>
            <a:bodyPr wrap="square" lIns="0" tIns="0" rIns="0" bIns="0" rtlCol="0"/>
            <a:lstStyle/>
            <a:p>
              <a:endParaRPr dirty="0"/>
            </a:p>
          </p:txBody>
        </p:sp>
        <p:sp>
          <p:nvSpPr>
            <p:cNvPr id="8" name="object 8"/>
            <p:cNvSpPr/>
            <p:nvPr/>
          </p:nvSpPr>
          <p:spPr>
            <a:xfrm>
              <a:off x="7518213" y="0"/>
              <a:ext cx="970280" cy="589915"/>
            </a:xfrm>
            <a:custGeom>
              <a:avLst/>
              <a:gdLst/>
              <a:ahLst/>
              <a:cxnLst/>
              <a:rect l="l" t="t" r="r" b="b"/>
              <a:pathLst>
                <a:path w="970279" h="589915">
                  <a:moveTo>
                    <a:pt x="969832" y="0"/>
                  </a:moveTo>
                  <a:lnTo>
                    <a:pt x="969832" y="589661"/>
                  </a:lnTo>
                  <a:lnTo>
                    <a:pt x="0" y="0"/>
                  </a:lnTo>
                </a:path>
              </a:pathLst>
            </a:custGeom>
            <a:ln w="12700">
              <a:solidFill>
                <a:srgbClr val="A6A6A6"/>
              </a:solidFill>
            </a:ln>
          </p:spPr>
          <p:txBody>
            <a:bodyPr wrap="square" lIns="0" tIns="0" rIns="0" bIns="0" rtlCol="0"/>
            <a:lstStyle/>
            <a:p>
              <a:endParaRPr dirty="0"/>
            </a:p>
          </p:txBody>
        </p:sp>
        <p:sp>
          <p:nvSpPr>
            <p:cNvPr id="9" name="object 9"/>
            <p:cNvSpPr/>
            <p:nvPr/>
          </p:nvSpPr>
          <p:spPr>
            <a:xfrm>
              <a:off x="8488044" y="0"/>
              <a:ext cx="3691254" cy="589915"/>
            </a:xfrm>
            <a:custGeom>
              <a:avLst/>
              <a:gdLst/>
              <a:ahLst/>
              <a:cxnLst/>
              <a:rect l="l" t="t" r="r" b="b"/>
              <a:pathLst>
                <a:path w="3691254" h="589915">
                  <a:moveTo>
                    <a:pt x="3690747" y="0"/>
                  </a:moveTo>
                  <a:lnTo>
                    <a:pt x="0" y="0"/>
                  </a:lnTo>
                  <a:lnTo>
                    <a:pt x="0" y="589661"/>
                  </a:lnTo>
                  <a:lnTo>
                    <a:pt x="3690747" y="589661"/>
                  </a:lnTo>
                  <a:lnTo>
                    <a:pt x="3690747" y="0"/>
                  </a:lnTo>
                  <a:close/>
                </a:path>
              </a:pathLst>
            </a:custGeom>
            <a:solidFill>
              <a:srgbClr val="A6A6A6"/>
            </a:solidFill>
          </p:spPr>
          <p:txBody>
            <a:bodyPr wrap="square" lIns="0" tIns="0" rIns="0" bIns="0" rtlCol="0"/>
            <a:lstStyle/>
            <a:p>
              <a:endParaRPr dirty="0"/>
            </a:p>
          </p:txBody>
        </p:sp>
        <p:sp>
          <p:nvSpPr>
            <p:cNvPr id="10" name="object 10"/>
            <p:cNvSpPr/>
            <p:nvPr/>
          </p:nvSpPr>
          <p:spPr>
            <a:xfrm>
              <a:off x="8488044" y="0"/>
              <a:ext cx="3691254" cy="589915"/>
            </a:xfrm>
            <a:custGeom>
              <a:avLst/>
              <a:gdLst/>
              <a:ahLst/>
              <a:cxnLst/>
              <a:rect l="l" t="t" r="r" b="b"/>
              <a:pathLst>
                <a:path w="3691254" h="589915">
                  <a:moveTo>
                    <a:pt x="0" y="0"/>
                  </a:moveTo>
                  <a:lnTo>
                    <a:pt x="0" y="589661"/>
                  </a:lnTo>
                  <a:lnTo>
                    <a:pt x="3690747" y="589661"/>
                  </a:lnTo>
                  <a:lnTo>
                    <a:pt x="3690747" y="0"/>
                  </a:lnTo>
                </a:path>
              </a:pathLst>
            </a:custGeom>
            <a:ln w="12699">
              <a:solidFill>
                <a:srgbClr val="A6A6A6"/>
              </a:solidFill>
            </a:ln>
          </p:spPr>
          <p:txBody>
            <a:bodyPr wrap="square" lIns="0" tIns="0" rIns="0" bIns="0" rtlCol="0"/>
            <a:lstStyle/>
            <a:p>
              <a:endParaRPr dirty="0"/>
            </a:p>
          </p:txBody>
        </p:sp>
      </p:grpSp>
      <p:sp>
        <p:nvSpPr>
          <p:cNvPr id="11" name="object 11"/>
          <p:cNvSpPr txBox="1"/>
          <p:nvPr/>
        </p:nvSpPr>
        <p:spPr>
          <a:xfrm>
            <a:off x="8941689" y="118999"/>
            <a:ext cx="278828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mbria"/>
                <a:cs typeface="Cambria"/>
              </a:rPr>
              <a:t>Institute</a:t>
            </a:r>
            <a:r>
              <a:rPr sz="2000" b="1" spc="-60" dirty="0">
                <a:latin typeface="Cambria"/>
                <a:cs typeface="Cambria"/>
              </a:rPr>
              <a:t> </a:t>
            </a:r>
            <a:r>
              <a:rPr sz="2000" b="1" dirty="0">
                <a:latin typeface="Cambria"/>
                <a:cs typeface="Cambria"/>
              </a:rPr>
              <a:t>of</a:t>
            </a:r>
            <a:r>
              <a:rPr sz="2000" b="1" spc="-15" dirty="0">
                <a:latin typeface="Cambria"/>
                <a:cs typeface="Cambria"/>
              </a:rPr>
              <a:t> </a:t>
            </a:r>
            <a:r>
              <a:rPr sz="2000" b="1" spc="-10" dirty="0">
                <a:latin typeface="Cambria"/>
                <a:cs typeface="Cambria"/>
              </a:rPr>
              <a:t>Engineering</a:t>
            </a:r>
            <a:endParaRPr sz="2000" dirty="0">
              <a:latin typeface="Cambria"/>
              <a:cs typeface="Cambria"/>
            </a:endParaRPr>
          </a:p>
        </p:txBody>
      </p:sp>
      <p:pic>
        <p:nvPicPr>
          <p:cNvPr id="12" name="object 12"/>
          <p:cNvPicPr/>
          <p:nvPr/>
        </p:nvPicPr>
        <p:blipFill>
          <a:blip r:embed="rId3" cstate="print"/>
          <a:stretch>
            <a:fillRect/>
          </a:stretch>
        </p:blipFill>
        <p:spPr>
          <a:xfrm>
            <a:off x="4429567" y="2777150"/>
            <a:ext cx="4154932" cy="1903208"/>
          </a:xfrm>
          <a:prstGeom prst="rect">
            <a:avLst/>
          </a:prstGeom>
        </p:spPr>
      </p:pic>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Department</a:t>
            </a:r>
            <a:r>
              <a:rPr spc="-45" dirty="0"/>
              <a:t> </a:t>
            </a:r>
            <a:r>
              <a:rPr dirty="0"/>
              <a:t>of</a:t>
            </a:r>
            <a:r>
              <a:rPr spc="-5" dirty="0"/>
              <a:t> </a:t>
            </a:r>
            <a:r>
              <a:rPr dirty="0"/>
              <a:t>Artificial</a:t>
            </a:r>
            <a:r>
              <a:rPr spc="-20" dirty="0"/>
              <a:t> </a:t>
            </a:r>
            <a:r>
              <a:rPr spc="-10" dirty="0"/>
              <a:t>Intelligence</a:t>
            </a:r>
            <a:r>
              <a:rPr spc="-25" dirty="0"/>
              <a:t> </a:t>
            </a:r>
            <a:r>
              <a:rPr dirty="0"/>
              <a:t>and</a:t>
            </a:r>
            <a:r>
              <a:rPr spc="-20" dirty="0"/>
              <a:t> </a:t>
            </a:r>
            <a:r>
              <a:rPr dirty="0"/>
              <a:t>Data</a:t>
            </a:r>
            <a:r>
              <a:rPr spc="-10" dirty="0"/>
              <a:t> Science</a:t>
            </a: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32</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313</TotalTime>
  <Words>2681</Words>
  <Application>Microsoft Office PowerPoint</Application>
  <PresentationFormat>Widescreen</PresentationFormat>
  <Paragraphs>354</Paragraphs>
  <Slides>32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Aptos</vt:lpstr>
      <vt:lpstr>Arial</vt:lpstr>
      <vt:lpstr>Arial MT</vt:lpstr>
      <vt:lpstr>Calibri</vt:lpstr>
      <vt:lpstr>Cambria</vt:lpstr>
      <vt:lpstr>Cambria Math</vt:lpstr>
      <vt:lpstr>Constantia</vt:lpstr>
      <vt:lpstr>Times New Roman</vt:lpstr>
      <vt:lpstr>Wingdings</vt:lpstr>
      <vt:lpstr>Office Theme</vt:lpstr>
      <vt:lpstr>Project Stage – II  (417527)</vt:lpstr>
      <vt:lpstr>Contents</vt:lpstr>
      <vt:lpstr>Bhujbal Knowledge City</vt:lpstr>
      <vt:lpstr>Bhujbal Knowledge City</vt:lpstr>
      <vt:lpstr>SSSystem Architecture</vt:lpstr>
      <vt:lpstr>PowerPoint Presentation</vt:lpstr>
      <vt:lpstr>Algorithm</vt:lpstr>
      <vt:lpstr>Algorithm</vt:lpstr>
      <vt:lpstr>Bhujbal Knowledge City</vt:lpstr>
      <vt:lpstr>Bhujbal Knowledge City</vt:lpstr>
      <vt:lpstr>Bhujbal Knowledge City</vt:lpstr>
      <vt:lpstr>Bhujbal Knowledge City</vt:lpstr>
      <vt:lpstr>Bhujbal Knowledge City</vt:lpstr>
      <vt:lpstr>Bhujbal Knowledge City</vt:lpstr>
      <vt:lpstr>Bhujbal Knowledge City</vt:lpstr>
      <vt:lpstr>Bhujbal Knowledge City</vt:lpstr>
      <vt:lpstr>Bhujbal Knowledge City</vt:lpstr>
      <vt:lpstr>Software Development Process Model Used Process model used</vt:lpstr>
      <vt:lpstr> State Transition Diagram used</vt:lpstr>
      <vt:lpstr> State Transition Diagram used</vt:lpstr>
      <vt:lpstr>Project Modules DesignModules Design</vt:lpstr>
      <vt:lpstr>PowerPoint Presentation</vt:lpstr>
      <vt:lpstr>PowerPoint Presentation</vt:lpstr>
      <vt:lpstr>PowerPoint Presentation</vt:lpstr>
      <vt:lpstr>Bhujbal Knowledge City</vt:lpstr>
      <vt:lpstr>Bhujbal Knowledge City</vt:lpstr>
      <vt:lpstr>Bhujbal Knowledge City</vt:lpstr>
      <vt:lpstr>Bhujbal Knowledge City</vt:lpstr>
      <vt:lpstr>Bhujbal Knowledge City</vt:lpstr>
      <vt:lpstr>Bhujbal Knowledge City</vt:lpstr>
      <vt:lpstr>Bhujbal Knowledge City</vt:lpstr>
      <vt:lpstr>Bhujbal Knowledge City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LOKESH BHADANE</dc:creator>
  <cp:lastModifiedBy>Parth Chaudhari</cp:lastModifiedBy>
  <cp:revision>11</cp:revision>
  <dcterms:created xsi:type="dcterms:W3CDTF">2025-10-27T02:39:25Z</dcterms:created>
  <dcterms:modified xsi:type="dcterms:W3CDTF">2026-06-29T03:46:57Z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2025-10-27T00:00:00Z</vt:filetime>
  </property>
  <property fmtid="{D5CDD505-2E9C-101B-9397-08002B2CF9AE}" pid="3" name="LastSaved">
    <vt:filetime>2025-10-27T00:00:00Z</vt:filetime>
  </property>
  <property fmtid="{D5CDD505-2E9C-101B-9397-08002B2CF9AE}" pid="4" name="Producer">
    <vt:lpwstr>3-Heights™ PDF Merge Split Shell 6.12.1.11 (http://www.pdf-tools.com)</vt:lpwstr>
  </property>
</Properties>
</file>